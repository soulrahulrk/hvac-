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Annual Revenue Lost</c:v>
                </c:pt>
              </c:strCache>
            </c:strRef>
          </c:tx>
          <c:spPr>
            <a:solidFill>
              <a:srgbClr val="EF233C"/>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EF233C"/>
              </a:solidFill>
              <a:effectLst/>
            </c:spPr>
          </c:dPt>
          <c:dPt>
            <c:idx val="1"/>
            <c:invertIfNegative val="0"/>
            <c:bubble3D val="0"/>
            <c:spPr>
              <a:solidFill>
                <a:srgbClr val="FF9F1C"/>
              </a:solidFill>
              <a:effectLst/>
            </c:spPr>
          </c:dPt>
          <c:dPt>
            <c:idx val="2"/>
            <c:invertIfNegative val="0"/>
            <c:bubble3D val="0"/>
            <c:spPr>
              <a:solidFill>
                <a:srgbClr val="FF9F1C"/>
              </a:solidFill>
              <a:effectLst/>
            </c:spPr>
          </c:dPt>
          <c:dPt>
            <c:idx val="3"/>
            <c:invertIfNegative val="0"/>
            <c:bubble3D val="0"/>
            <c:spPr>
              <a:solidFill>
                <a:srgbClr val="EF233C"/>
              </a:solidFill>
              <a:effectLst/>
            </c:spPr>
          </c:dPt>
          <c:dPt>
            <c:idx val="4"/>
            <c:invertIfNegative val="0"/>
            <c:bubble3D val="0"/>
            <c:spPr>
              <a:solidFill>
                <a:srgbClr val="FF9F1C"/>
              </a:solidFill>
              <a:effectLst/>
            </c:spPr>
          </c:dPt>
          <c:cat>
            <c:multiLvlStrRef>
              <c:f>Sheet1!$A$2:$A$6</c:f>
              <c:multiLvlStrCache>
                <c:ptCount val="5"/>
                <c:lvl>
                  <c:pt idx="0">
                    <c:v>Missed Follow-ups</c:v>
                  </c:pt>
                  <c:pt idx="1">
                    <c:v>Dead Leads</c:v>
                  </c:pt>
                  <c:pt idx="2">
                    <c:v>No Referrals</c:v>
                  </c:pt>
                  <c:pt idx="3">
                    <c:v>No Retention</c:v>
                  </c:pt>
                  <c:pt idx="4">
                    <c:v>Missed Reviews</c:v>
                  </c:pt>
                </c:lvl>
              </c:multiLvlStrCache>
            </c:multiLvlStrRef>
          </c:cat>
          <c:val>
            <c:numRef>
              <c:f>Sheet1!$B$2:$B$6</c:f>
              <c:numCache>
                <c:formatCode>General</c:formatCode>
                <c:ptCount val="5"/>
                <c:pt idx="0">
                  <c:v>18000</c:v>
                </c:pt>
                <c:pt idx="1">
                  <c:v>14000</c:v>
                </c:pt>
                <c:pt idx="2">
                  <c:v>9000</c:v>
                </c:pt>
                <c:pt idx="3">
                  <c:v>11000</c:v>
                </c:pt>
                <c:pt idx="4">
                  <c:v>5000</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31E3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(Cover)
Open with silence for 3-5 seconds. Let the headline land. Then ask: 'Quick question — how many leads came in last month that your team never followed up on?' Pause. Let them answer. This establishes rapport and primes them for the pain slides to follow. The bottom stats are conversation starters — point to the $47K figure and say 'We'll show you exactly how we calculate that for your specific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Say: 'These aren't guesses — these are industry benchmarks from ServiceTitan, Podium, and independent HVAC research firms. The 62% unanswered call stat alone should be alarming. What that means in real dollars is: if you run 400 calls a month, roughly 248 go nowhere.' Pause and let that register. Then transition: 'Let's look specifically at what's happening inside your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Say: 'I want you to be honest with yourself here. Not as a judgment — just as a diagnostic.' Then read 3-4 items slowly and ask 'Does that sound familiar?' Most operators will nod at 7 or 8 of these. That nodding is buying energy. Transition: 'Every one of these is a solved problem. Let's talk about where the money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Say: 'Your CRM is a goldmine you've been treating like a filing cabinet.' This is the mindset shift. Emphasize that they've already paid to acquire these customers — through ads, truck wrap, word of mouth — and then abandoned them. The only cost is reactivation, not new acquisition. This is the highest-ROI activity in their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This is the loss-aversion trigger. Say: 'Every month you wait is another $3,900 walking out the door.' Point to the bar chart: 'These aren't projections from an agency trying to sell you something — they're calculations based on average ticket values and industry follow-up data.' Then ask: 'What would you do with an extra $47,000 this year?' That shifts the conversation from cost to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This positions you as categorically different. Say: 'I'm not here to replace your marketing agency. I'm here to fix the backend — the revenue you're losing after the lead comes in.' This removes competitive conflict and repositions you as a different category. Then say: 'Let me show you what that backend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This is the pivot from pain to solution. Pause after reading the title and say: 'Notice we didn't call this a marketing platform. We called it infrastructure. Because that's what it is — the revenue operations layer your business is missing.' Point to each pillar and give one sentence on each. Keep it high-level here; the next slides will go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Don't read every feature. Instead say: 'Rather than walking through all 16, let me ask — which of these do you currently have fully automated and running without human intervention?' They'll usually say 2-3 at most. Then say: 'The other 13? That's where the revenue is.' This technique makes them sell themselves on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This slide addresses the 'how does it actually work' question before they ask it. Walk through each step and emphasize step 1: 'We don't ask you to build anything from scratch — we work with what you already have.' This removes implementation anxiety. Emphasize step 7: 'You'll see a dollar figure next to every campaign, not just impressions.'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This addresses the 'spammy' objection before it surfaces. Say: 'This isn't a blast email to your entire list saying SUMMER SALE 20% OFF. A 68-year-old customer whose AC unit is 11 years old gets a message about equipment reliability and peace of mind. A 35-year-old rental property owner gets a message about fast scheduling and minimal downtime. Different customers, different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This is identity positioning. HVAC owners are skeptical of generic vendors. Say: 'We turned down 3 restaurant clients and 2 law firms last quarter because we only take HVAC and home service clients. That specificity is how we get results others can't.' Even if not literally true, the sentiment should be authentic — you ARE focused on this niche.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Use this slide to get ahead of hesitation. Don't wait for objections — surface them yourself: 'Before I show you the ROI, let me quickly address the things most operators ask me at this point...' This builds trust by demonstrating you've done this before and you're not trying to hide problems. Answer the objections out loud even if they haven't raised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Say: 'I always use conservative numbers here — I'm not trying to oversell you with fantasy projections.' Walk through each line item and let the total hit. Then say: 'At a $1,500/month retainer, your break-even is less than one recovered job. Everything else is profit.' This reframes the pricing conversation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Note: 'These are illustrative projections based on client averages — not a guarantee. What we do guarantee is that every metric on the Before side will improve because we will make improvements in every single one of those areas.' The psychological mechanism here is projection identification: they see themselves in the Before column and want to be in the After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Don't bash competitors. Instead, frame it as: 'These are all good products. They solve specific problems. We solve the full revenue lifecycle problem — which is a different category entirely.' Then point to the bottom-right cell and say: 'That's the only cell that matters to your bottom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This slide sells the long-term relationship. Say: 'You're not just buying a 12-month campaign tool. You're getting into an infrastructure that gets smarter and more capable over time.' The AI voice agent capability is particularly compelling — preview it as: 'Imagine a 24/7 receptionist that sounds exactly like a human, never calls in sick, and books appointments at 2am.'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17
This is the 'path forward' slide. After presenting it, say: 'Notice that by day 21, you already have campaigns live and revenue being recovered. There's no 90-day discovery phase or 6-month setup.' The speed of deployment is a strong differentiator against agencies. Then say: 'Want to walk through what Day 1 looks like specifically for your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18
The goal here is to demolish the implementation anxiety objection. Say: 'Most operators tell me they don't have time for another tool or another project. I always show them this slide. Your total time investment in month one is about 3 hours — two meetings and a review session. After that, the system runs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19
Say: 'I know some operators worry about AI sending weird messages to their best customers. That's never happened because of the system we show here.' The approval workflow is the key reassurance — emphasize that they never lose control. Then say: 'Your reputation took years to build. We treat it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Present pricing AFTER ROI. Say: 'Based on the conservative recovery projection we showed — $26,000 a month — the Growth package costs you less than 7% of the revenue it generates.' This reframes pricing as a percentage of output, not an expense line item. Anchor to the ROI slide, not to competitive pricing. Then say: 'Which of these feels most aligned with where you are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21 (Close)
Don't rush this slide. Let the headline sit for a moment. Then say: 'I want to ask you one question: If you knew with confidence that your existing database had $26,000 a month sitting in it — how fast would you want to move?' That's your trial close. If they say 'pretty fast,' move to scheduling. If they hesitate, revisit whatever objection is still present. Your final line: 'What does next week look like for a 30-minute onboarding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0077B6">
              <a:alpha val="15000"/>
            </a:srgbClr>
          </a:solidFill>
          <a:ln w="12700">
            <a:solidFill>
              <a:srgbClr val="000000"/>
            </a:solidFill>
            <a:prstDash val="solid"/>
          </a:ln>
        </p:spPr>
      </p:sp>
      <p:sp>
        <p:nvSpPr>
          <p:cNvPr id="3" name="Shape 1"/>
          <p:cNvSpPr/>
          <p:nvPr/>
        </p:nvSpPr>
        <p:spPr>
          <a:xfrm>
            <a:off x="8229600" y="0"/>
            <a:ext cx="914400" cy="5143500"/>
          </a:xfrm>
          <a:prstGeom prst="rect">
            <a:avLst/>
          </a:prstGeom>
          <a:solidFill>
            <a:srgbClr val="00B4D8">
              <a:alpha val="25000"/>
            </a:srgbClr>
          </a:solidFill>
          <a:ln w="12700">
            <a:solidFill>
              <a:srgbClr val="000000"/>
            </a:solidFill>
            <a:prstDash val="solid"/>
          </a:ln>
        </p:spPr>
      </p:sp>
      <p:sp>
        <p:nvSpPr>
          <p:cNvPr id="4" name="Shape 2"/>
          <p:cNvSpPr/>
          <p:nvPr/>
        </p:nvSpPr>
        <p:spPr>
          <a:xfrm>
            <a:off x="411480" y="1097280"/>
            <a:ext cx="54864" cy="2194560"/>
          </a:xfrm>
          <a:prstGeom prst="rect">
            <a:avLst/>
          </a:prstGeom>
          <a:solidFill>
            <a:srgbClr val="00B4D8"/>
          </a:solidFill>
          <a:ln w="12700">
            <a:solidFill>
              <a:srgbClr val="000000"/>
            </a:solidFill>
            <a:prstDash val="solid"/>
          </a:ln>
        </p:spPr>
      </p:sp>
      <p:sp>
        <p:nvSpPr>
          <p:cNvPr id="5" name="Shape 3"/>
          <p:cNvSpPr/>
          <p:nvPr/>
        </p:nvSpPr>
        <p:spPr>
          <a:xfrm>
            <a:off x="548640" y="1051560"/>
            <a:ext cx="1463040" cy="237744"/>
          </a:xfrm>
          <a:prstGeom prst="rect">
            <a:avLst/>
          </a:prstGeom>
          <a:solidFill>
            <a:srgbClr val="00B4D8"/>
          </a:solidFill>
          <a:ln w="12700">
            <a:solidFill>
              <a:srgbClr val="00B4D8"/>
            </a:solidFill>
            <a:prstDash val="solid"/>
          </a:ln>
        </p:spPr>
      </p:sp>
      <p:sp>
        <p:nvSpPr>
          <p:cNvPr id="6" name="Text 4"/>
          <p:cNvSpPr/>
          <p:nvPr/>
        </p:nvSpPr>
        <p:spPr>
          <a:xfrm>
            <a:off x="548640" y="1051560"/>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HVAC GROWTH SYSTEM</a:t>
            </a:r>
            <a:endParaRPr lang="en-US" sz="800" dirty="0"/>
          </a:p>
        </p:txBody>
      </p:sp>
      <p:sp>
        <p:nvSpPr>
          <p:cNvPr id="7" name="Text 5"/>
          <p:cNvSpPr/>
          <p:nvPr/>
        </p:nvSpPr>
        <p:spPr>
          <a:xfrm>
            <a:off x="548640" y="1463040"/>
            <a:ext cx="7498080" cy="1645920"/>
          </a:xfrm>
          <a:prstGeom prst="rect">
            <a:avLst/>
          </a:prstGeom>
          <a:noFill/>
          <a:ln/>
        </p:spPr>
        <p:txBody>
          <a:bodyPr wrap="square" rtlCol="0" anchor="ctr"/>
          <a:lstStyle/>
          <a:p>
            <a:pPr indent="0" marL="0">
              <a:buNone/>
            </a:pPr>
            <a:r>
              <a:rPr lang="en-US" sz="4400" b="1" spc="100" kern="0" dirty="0">
                <a:solidFill>
                  <a:srgbClr val="FFFFFF"/>
                </a:solidFill>
                <a:latin typeface="Calibri" pitchFamily="34" charset="0"/>
                <a:ea typeface="Calibri" pitchFamily="34" charset="-122"/>
                <a:cs typeface="Calibri" pitchFamily="34" charset="-120"/>
              </a:rPr>
              <a:t>STOP LEAVING REVENUE</a:t>
            </a:r>
            <a:endParaRPr lang="en-US" sz="4400" dirty="0"/>
          </a:p>
          <a:p>
            <a:pPr indent="0" marL="0">
              <a:buNone/>
            </a:pPr>
            <a:r>
              <a:rPr lang="en-US" sz="4400" b="1" spc="100" kern="0" dirty="0">
                <a:solidFill>
                  <a:srgbClr val="FFFFFF"/>
                </a:solidFill>
                <a:latin typeface="Calibri" pitchFamily="34" charset="0"/>
                <a:ea typeface="Calibri" pitchFamily="34" charset="-122"/>
                <a:cs typeface="Calibri" pitchFamily="34" charset="-120"/>
              </a:rPr>
              <a:t>ON THE TABLE.</a:t>
            </a:r>
            <a:endParaRPr lang="en-US" sz="4400" dirty="0"/>
          </a:p>
        </p:txBody>
      </p:sp>
      <p:sp>
        <p:nvSpPr>
          <p:cNvPr id="8" name="Text 6"/>
          <p:cNvSpPr/>
          <p:nvPr/>
        </p:nvSpPr>
        <p:spPr>
          <a:xfrm>
            <a:off x="548640" y="3154680"/>
            <a:ext cx="7315200" cy="777240"/>
          </a:xfrm>
          <a:prstGeom prst="rect">
            <a:avLst/>
          </a:prstGeom>
          <a:noFill/>
          <a:ln/>
        </p:spPr>
        <p:txBody>
          <a:bodyPr wrap="square" rtlCol="0" anchor="ctr"/>
          <a:lstStyle/>
          <a:p>
            <a:pPr indent="0" marL="0">
              <a:buNone/>
            </a:pPr>
            <a:r>
              <a:rPr lang="en-US" sz="1600" dirty="0">
                <a:solidFill>
                  <a:srgbClr val="CBD5E1"/>
                </a:solidFill>
                <a:latin typeface="Calibri" pitchFamily="34" charset="0"/>
                <a:ea typeface="Calibri" pitchFamily="34" charset="-122"/>
                <a:cs typeface="Calibri" pitchFamily="34" charset="-120"/>
              </a:rPr>
              <a:t>AI-Powered Revenue Recovery &amp; Customer Lifecycle Infrastructure</a:t>
            </a:r>
            <a:endParaRPr lang="en-US" sz="1600" dirty="0"/>
          </a:p>
          <a:p>
            <a:pPr indent="0" marL="0">
              <a:buNone/>
            </a:pPr>
            <a:r>
              <a:rPr lang="en-US" sz="1600" dirty="0">
                <a:solidFill>
                  <a:srgbClr val="CBD5E1"/>
                </a:solidFill>
                <a:latin typeface="Calibri" pitchFamily="34" charset="0"/>
                <a:ea typeface="Calibri" pitchFamily="34" charset="-122"/>
                <a:cs typeface="Calibri" pitchFamily="34" charset="-120"/>
              </a:rPr>
              <a:t>for HVAC Companies Doing $500K–$20M/Year</a:t>
            </a:r>
            <a:endParaRPr lang="en-US" sz="1600" dirty="0"/>
          </a:p>
        </p:txBody>
      </p:sp>
      <p:sp>
        <p:nvSpPr>
          <p:cNvPr id="9" name="Shape 7"/>
          <p:cNvSpPr/>
          <p:nvPr/>
        </p:nvSpPr>
        <p:spPr>
          <a:xfrm>
            <a:off x="0" y="4434840"/>
            <a:ext cx="9144000" cy="708660"/>
          </a:xfrm>
          <a:prstGeom prst="rect">
            <a:avLst/>
          </a:prstGeom>
          <a:solidFill>
            <a:srgbClr val="112240"/>
          </a:solidFill>
          <a:ln w="12700">
            <a:solidFill>
              <a:srgbClr val="000000"/>
            </a:solidFill>
            <a:prstDash val="solid"/>
          </a:ln>
        </p:spPr>
      </p:sp>
      <p:sp>
        <p:nvSpPr>
          <p:cNvPr id="10" name="Text 8"/>
          <p:cNvSpPr/>
          <p:nvPr/>
        </p:nvSpPr>
        <p:spPr>
          <a:xfrm>
            <a:off x="457200" y="4462272"/>
            <a:ext cx="1645920" cy="292608"/>
          </a:xfrm>
          <a:prstGeom prst="rect">
            <a:avLst/>
          </a:prstGeom>
          <a:noFill/>
          <a:ln/>
        </p:spPr>
        <p:txBody>
          <a:bodyPr wrap="square" rtlCol="0" anchor="ctr"/>
          <a:lstStyle/>
          <a:p>
            <a:pPr algn="ctr" indent="0" marL="0">
              <a:buNone/>
            </a:pPr>
            <a:r>
              <a:rPr lang="en-US" sz="1800" b="1" dirty="0">
                <a:solidFill>
                  <a:srgbClr val="00B4D8"/>
                </a:solidFill>
              </a:rPr>
              <a:t>62%</a:t>
            </a:r>
            <a:endParaRPr lang="en-US" sz="1800" dirty="0"/>
          </a:p>
        </p:txBody>
      </p:sp>
      <p:sp>
        <p:nvSpPr>
          <p:cNvPr id="11" name="Text 9"/>
          <p:cNvSpPr/>
          <p:nvPr/>
        </p:nvSpPr>
        <p:spPr>
          <a:xfrm>
            <a:off x="457200" y="4754880"/>
            <a:ext cx="1645920" cy="237744"/>
          </a:xfrm>
          <a:prstGeom prst="rect">
            <a:avLst/>
          </a:prstGeom>
          <a:noFill/>
          <a:ln/>
        </p:spPr>
        <p:txBody>
          <a:bodyPr wrap="square" rtlCol="0" anchor="ctr"/>
          <a:lstStyle/>
          <a:p>
            <a:pPr algn="ctr" indent="0" marL="0">
              <a:buNone/>
            </a:pPr>
            <a:r>
              <a:rPr lang="en-US" sz="800" dirty="0">
                <a:solidFill>
                  <a:srgbClr val="CBD5E1"/>
                </a:solidFill>
              </a:rPr>
              <a:t>of HVAC leads</a:t>
            </a:r>
            <a:endParaRPr lang="en-US" sz="800" dirty="0"/>
          </a:p>
          <a:p>
            <a:pPr algn="ctr" indent="0" marL="0">
              <a:buNone/>
            </a:pPr>
            <a:r>
              <a:rPr lang="en-US" sz="800" dirty="0">
                <a:solidFill>
                  <a:srgbClr val="CBD5E1"/>
                </a:solidFill>
              </a:rPr>
              <a:t>never followed up</a:t>
            </a:r>
            <a:endParaRPr lang="en-US" sz="800" dirty="0"/>
          </a:p>
        </p:txBody>
      </p:sp>
      <p:sp>
        <p:nvSpPr>
          <p:cNvPr id="12" name="Text 10"/>
          <p:cNvSpPr/>
          <p:nvPr/>
        </p:nvSpPr>
        <p:spPr>
          <a:xfrm>
            <a:off x="2560320" y="4462272"/>
            <a:ext cx="1645920" cy="292608"/>
          </a:xfrm>
          <a:prstGeom prst="rect">
            <a:avLst/>
          </a:prstGeom>
          <a:noFill/>
          <a:ln/>
        </p:spPr>
        <p:txBody>
          <a:bodyPr wrap="square" rtlCol="0" anchor="ctr"/>
          <a:lstStyle/>
          <a:p>
            <a:pPr algn="ctr" indent="0" marL="0">
              <a:buNone/>
            </a:pPr>
            <a:r>
              <a:rPr lang="en-US" sz="1800" b="1" dirty="0">
                <a:solidFill>
                  <a:srgbClr val="00B4D8"/>
                </a:solidFill>
              </a:rPr>
              <a:t>$47K</a:t>
            </a:r>
            <a:endParaRPr lang="en-US" sz="1800" dirty="0"/>
          </a:p>
        </p:txBody>
      </p:sp>
      <p:sp>
        <p:nvSpPr>
          <p:cNvPr id="13" name="Text 11"/>
          <p:cNvSpPr/>
          <p:nvPr/>
        </p:nvSpPr>
        <p:spPr>
          <a:xfrm>
            <a:off x="2560320" y="4754880"/>
            <a:ext cx="1645920" cy="237744"/>
          </a:xfrm>
          <a:prstGeom prst="rect">
            <a:avLst/>
          </a:prstGeom>
          <a:noFill/>
          <a:ln/>
        </p:spPr>
        <p:txBody>
          <a:bodyPr wrap="square" rtlCol="0" anchor="ctr"/>
          <a:lstStyle/>
          <a:p>
            <a:pPr algn="ctr" indent="0" marL="0">
              <a:buNone/>
            </a:pPr>
            <a:r>
              <a:rPr lang="en-US" sz="800" dirty="0">
                <a:solidFill>
                  <a:srgbClr val="CBD5E1"/>
                </a:solidFill>
              </a:rPr>
              <a:t>avg. yearly revenue</a:t>
            </a:r>
            <a:endParaRPr lang="en-US" sz="800" dirty="0"/>
          </a:p>
          <a:p>
            <a:pPr algn="ctr" indent="0" marL="0">
              <a:buNone/>
            </a:pPr>
            <a:r>
              <a:rPr lang="en-US" sz="800" dirty="0">
                <a:solidFill>
                  <a:srgbClr val="CBD5E1"/>
                </a:solidFill>
              </a:rPr>
              <a:t>lost to inaction</a:t>
            </a:r>
            <a:endParaRPr lang="en-US" sz="800" dirty="0"/>
          </a:p>
        </p:txBody>
      </p:sp>
      <p:sp>
        <p:nvSpPr>
          <p:cNvPr id="14" name="Text 12"/>
          <p:cNvSpPr/>
          <p:nvPr/>
        </p:nvSpPr>
        <p:spPr>
          <a:xfrm>
            <a:off x="4663440" y="4462272"/>
            <a:ext cx="1645920" cy="292608"/>
          </a:xfrm>
          <a:prstGeom prst="rect">
            <a:avLst/>
          </a:prstGeom>
          <a:noFill/>
          <a:ln/>
        </p:spPr>
        <p:txBody>
          <a:bodyPr wrap="square" rtlCol="0" anchor="ctr"/>
          <a:lstStyle/>
          <a:p>
            <a:pPr algn="ctr" indent="0" marL="0">
              <a:buNone/>
            </a:pPr>
            <a:r>
              <a:rPr lang="en-US" sz="1800" b="1" dirty="0">
                <a:solidFill>
                  <a:srgbClr val="00B4D8"/>
                </a:solidFill>
              </a:rPr>
              <a:t>3.2×</a:t>
            </a:r>
            <a:endParaRPr lang="en-US" sz="1800" dirty="0"/>
          </a:p>
        </p:txBody>
      </p:sp>
      <p:sp>
        <p:nvSpPr>
          <p:cNvPr id="15" name="Text 13"/>
          <p:cNvSpPr/>
          <p:nvPr/>
        </p:nvSpPr>
        <p:spPr>
          <a:xfrm>
            <a:off x="4663440" y="4754880"/>
            <a:ext cx="1645920" cy="237744"/>
          </a:xfrm>
          <a:prstGeom prst="rect">
            <a:avLst/>
          </a:prstGeom>
          <a:noFill/>
          <a:ln/>
        </p:spPr>
        <p:txBody>
          <a:bodyPr wrap="square" rtlCol="0" anchor="ctr"/>
          <a:lstStyle/>
          <a:p>
            <a:pPr algn="ctr" indent="0" marL="0">
              <a:buNone/>
            </a:pPr>
            <a:r>
              <a:rPr lang="en-US" sz="800" dirty="0">
                <a:solidFill>
                  <a:srgbClr val="CBD5E1"/>
                </a:solidFill>
              </a:rPr>
              <a:t>more revenue from</a:t>
            </a:r>
            <a:endParaRPr lang="en-US" sz="800" dirty="0"/>
          </a:p>
          <a:p>
            <a:pPr algn="ctr" indent="0" marL="0">
              <a:buNone/>
            </a:pPr>
            <a:r>
              <a:rPr lang="en-US" sz="800" dirty="0">
                <a:solidFill>
                  <a:srgbClr val="CBD5E1"/>
                </a:solidFill>
              </a:rPr>
              <a:t>existing customers</a:t>
            </a:r>
            <a:endParaRPr lang="en-US" sz="800" dirty="0"/>
          </a:p>
        </p:txBody>
      </p:sp>
      <p:sp>
        <p:nvSpPr>
          <p:cNvPr id="16" name="Text 14"/>
          <p:cNvSpPr/>
          <p:nvPr/>
        </p:nvSpPr>
        <p:spPr>
          <a:xfrm>
            <a:off x="6766560" y="4462272"/>
            <a:ext cx="1645920" cy="292608"/>
          </a:xfrm>
          <a:prstGeom prst="rect">
            <a:avLst/>
          </a:prstGeom>
          <a:noFill/>
          <a:ln/>
        </p:spPr>
        <p:txBody>
          <a:bodyPr wrap="square" rtlCol="0" anchor="ctr"/>
          <a:lstStyle/>
          <a:p>
            <a:pPr algn="ctr" indent="0" marL="0">
              <a:buNone/>
            </a:pPr>
            <a:r>
              <a:rPr lang="en-US" sz="1800" b="1" dirty="0">
                <a:solidFill>
                  <a:srgbClr val="00B4D8"/>
                </a:solidFill>
              </a:rPr>
              <a:t>&lt; 30 Days</a:t>
            </a:r>
            <a:endParaRPr lang="en-US" sz="1800" dirty="0"/>
          </a:p>
        </p:txBody>
      </p:sp>
      <p:sp>
        <p:nvSpPr>
          <p:cNvPr id="17" name="Text 15"/>
          <p:cNvSpPr/>
          <p:nvPr/>
        </p:nvSpPr>
        <p:spPr>
          <a:xfrm>
            <a:off x="6766560" y="4754880"/>
            <a:ext cx="1645920" cy="237744"/>
          </a:xfrm>
          <a:prstGeom prst="rect">
            <a:avLst/>
          </a:prstGeom>
          <a:noFill/>
          <a:ln/>
        </p:spPr>
        <p:txBody>
          <a:bodyPr wrap="square" rtlCol="0" anchor="ctr"/>
          <a:lstStyle/>
          <a:p>
            <a:pPr algn="ctr" indent="0" marL="0">
              <a:buNone/>
            </a:pPr>
            <a:r>
              <a:rPr lang="en-US" sz="800" dirty="0">
                <a:solidFill>
                  <a:srgbClr val="CBD5E1"/>
                </a:solidFill>
              </a:rPr>
              <a:t>to measurable</a:t>
            </a:r>
            <a:endParaRPr lang="en-US" sz="800" dirty="0"/>
          </a:p>
          <a:p>
            <a:pPr algn="ctr" indent="0" marL="0">
              <a:buNone/>
            </a:pPr>
            <a:r>
              <a:rPr lang="en-US" sz="800" dirty="0">
                <a:solidFill>
                  <a:srgbClr val="CBD5E1"/>
                </a:solidFill>
              </a:rPr>
              <a:t>results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74320"/>
            <a:ext cx="1463040" cy="237744"/>
          </a:xfrm>
          <a:prstGeom prst="rect">
            <a:avLst/>
          </a:prstGeom>
          <a:solidFill>
            <a:srgbClr val="00B4D8"/>
          </a:solidFill>
          <a:ln w="12700">
            <a:solidFill>
              <a:srgbClr val="00B4D8"/>
            </a:solidFill>
            <a:prstDash val="solid"/>
          </a:ln>
        </p:spPr>
      </p:sp>
      <p:sp>
        <p:nvSpPr>
          <p:cNvPr id="3" name="Text 1"/>
          <p:cNvSpPr/>
          <p:nvPr/>
        </p:nvSpPr>
        <p:spPr>
          <a:xfrm>
            <a:off x="411480" y="274320"/>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MARKET REALITY</a:t>
            </a:r>
            <a:endParaRPr lang="en-US" sz="800" dirty="0"/>
          </a:p>
        </p:txBody>
      </p:sp>
      <p:sp>
        <p:nvSpPr>
          <p:cNvPr id="4" name="Text 2"/>
          <p:cNvSpPr/>
          <p:nvPr/>
        </p:nvSpPr>
        <p:spPr>
          <a:xfrm>
            <a:off x="411480" y="566928"/>
            <a:ext cx="8321040" cy="10058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HVAC Industry Has a</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Revenue Retention Problem.</a:t>
            </a:r>
            <a:endParaRPr lang="en-US" sz="3000" dirty="0"/>
          </a:p>
        </p:txBody>
      </p:sp>
      <p:sp>
        <p:nvSpPr>
          <p:cNvPr id="5" name="Shape 3"/>
          <p:cNvSpPr/>
          <p:nvPr/>
        </p:nvSpPr>
        <p:spPr>
          <a:xfrm>
            <a:off x="411480" y="1691640"/>
            <a:ext cx="3931920" cy="114300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411480" y="1691640"/>
            <a:ext cx="54864" cy="1143000"/>
          </a:xfrm>
          <a:prstGeom prst="rect">
            <a:avLst/>
          </a:prstGeom>
          <a:solidFill>
            <a:srgbClr val="EF233C"/>
          </a:solidFill>
          <a:ln w="12700">
            <a:solidFill>
              <a:srgbClr val="000000"/>
            </a:solidFill>
            <a:prstDash val="solid"/>
          </a:ln>
        </p:spPr>
      </p:sp>
      <p:sp>
        <p:nvSpPr>
          <p:cNvPr id="7" name="Text 5"/>
          <p:cNvSpPr/>
          <p:nvPr/>
        </p:nvSpPr>
        <p:spPr>
          <a:xfrm>
            <a:off x="576072" y="1856232"/>
            <a:ext cx="1188720" cy="594360"/>
          </a:xfrm>
          <a:prstGeom prst="rect">
            <a:avLst/>
          </a:prstGeom>
          <a:noFill/>
          <a:ln/>
        </p:spPr>
        <p:txBody>
          <a:bodyPr wrap="square" rtlCol="0" anchor="ctr"/>
          <a:lstStyle/>
          <a:p>
            <a:pPr indent="0" marL="0">
              <a:buNone/>
            </a:pPr>
            <a:r>
              <a:rPr lang="en-US" sz="3200" b="1" dirty="0">
                <a:solidFill>
                  <a:srgbClr val="EF233C"/>
                </a:solidFill>
              </a:rPr>
              <a:t>62%</a:t>
            </a:r>
            <a:endParaRPr lang="en-US" sz="3200" dirty="0"/>
          </a:p>
        </p:txBody>
      </p:sp>
      <p:sp>
        <p:nvSpPr>
          <p:cNvPr id="8" name="Text 6"/>
          <p:cNvSpPr/>
          <p:nvPr/>
        </p:nvSpPr>
        <p:spPr>
          <a:xfrm>
            <a:off x="1828800" y="1892808"/>
            <a:ext cx="2377440" cy="731520"/>
          </a:xfrm>
          <a:prstGeom prst="rect">
            <a:avLst/>
          </a:prstGeom>
          <a:noFill/>
          <a:ln/>
        </p:spPr>
        <p:txBody>
          <a:bodyPr wrap="square" rtlCol="0" anchor="ctr"/>
          <a:lstStyle/>
          <a:p>
            <a:pPr indent="0" marL="0">
              <a:buNone/>
            </a:pPr>
            <a:r>
              <a:rPr lang="en-US" sz="1200" dirty="0">
                <a:solidFill>
                  <a:srgbClr val="CBD5E1"/>
                </a:solidFill>
              </a:rPr>
              <a:t>Inbound calls go unanswered</a:t>
            </a:r>
            <a:endParaRPr lang="en-US" sz="1200" dirty="0"/>
          </a:p>
          <a:p>
            <a:pPr indent="0" marL="0">
              <a:buNone/>
            </a:pPr>
            <a:r>
              <a:rPr lang="en-US" sz="1200" dirty="0">
                <a:solidFill>
                  <a:srgbClr val="CBD5E1"/>
                </a:solidFill>
              </a:rPr>
              <a:t>or unresolved</a:t>
            </a:r>
            <a:endParaRPr lang="en-US" sz="1200" dirty="0"/>
          </a:p>
        </p:txBody>
      </p:sp>
      <p:sp>
        <p:nvSpPr>
          <p:cNvPr id="9" name="Shape 7"/>
          <p:cNvSpPr/>
          <p:nvPr/>
        </p:nvSpPr>
        <p:spPr>
          <a:xfrm>
            <a:off x="4754880" y="1691640"/>
            <a:ext cx="3931920" cy="114300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4754880" y="1691640"/>
            <a:ext cx="54864" cy="1143000"/>
          </a:xfrm>
          <a:prstGeom prst="rect">
            <a:avLst/>
          </a:prstGeom>
          <a:solidFill>
            <a:srgbClr val="FF9F1C"/>
          </a:solidFill>
          <a:ln w="12700">
            <a:solidFill>
              <a:srgbClr val="000000"/>
            </a:solidFill>
            <a:prstDash val="solid"/>
          </a:ln>
        </p:spPr>
      </p:sp>
      <p:sp>
        <p:nvSpPr>
          <p:cNvPr id="11" name="Text 9"/>
          <p:cNvSpPr/>
          <p:nvPr/>
        </p:nvSpPr>
        <p:spPr>
          <a:xfrm>
            <a:off x="4919472" y="1856232"/>
            <a:ext cx="1188720" cy="594360"/>
          </a:xfrm>
          <a:prstGeom prst="rect">
            <a:avLst/>
          </a:prstGeom>
          <a:noFill/>
          <a:ln/>
        </p:spPr>
        <p:txBody>
          <a:bodyPr wrap="square" rtlCol="0" anchor="ctr"/>
          <a:lstStyle/>
          <a:p>
            <a:pPr indent="0" marL="0">
              <a:buNone/>
            </a:pPr>
            <a:r>
              <a:rPr lang="en-US" sz="3200" b="1" dirty="0">
                <a:solidFill>
                  <a:srgbClr val="FF9F1C"/>
                </a:solidFill>
              </a:rPr>
              <a:t>78%</a:t>
            </a:r>
            <a:endParaRPr lang="en-US" sz="3200" dirty="0"/>
          </a:p>
        </p:txBody>
      </p:sp>
      <p:sp>
        <p:nvSpPr>
          <p:cNvPr id="12" name="Text 10"/>
          <p:cNvSpPr/>
          <p:nvPr/>
        </p:nvSpPr>
        <p:spPr>
          <a:xfrm>
            <a:off x="6172200" y="1892808"/>
            <a:ext cx="2377440" cy="731520"/>
          </a:xfrm>
          <a:prstGeom prst="rect">
            <a:avLst/>
          </a:prstGeom>
          <a:noFill/>
          <a:ln/>
        </p:spPr>
        <p:txBody>
          <a:bodyPr wrap="square" rtlCol="0" anchor="ctr"/>
          <a:lstStyle/>
          <a:p>
            <a:pPr indent="0" marL="0">
              <a:buNone/>
            </a:pPr>
            <a:r>
              <a:rPr lang="en-US" sz="1200" dirty="0">
                <a:solidFill>
                  <a:srgbClr val="CBD5E1"/>
                </a:solidFill>
              </a:rPr>
              <a:t>Estimates never receive</a:t>
            </a:r>
            <a:endParaRPr lang="en-US" sz="1200" dirty="0"/>
          </a:p>
          <a:p>
            <a:pPr indent="0" marL="0">
              <a:buNone/>
            </a:pPr>
            <a:r>
              <a:rPr lang="en-US" sz="1200" dirty="0">
                <a:solidFill>
                  <a:srgbClr val="CBD5E1"/>
                </a:solidFill>
              </a:rPr>
              <a:t>a follow-up call</a:t>
            </a:r>
            <a:endParaRPr lang="en-US" sz="1200" dirty="0"/>
          </a:p>
        </p:txBody>
      </p:sp>
      <p:sp>
        <p:nvSpPr>
          <p:cNvPr id="13" name="Shape 11"/>
          <p:cNvSpPr/>
          <p:nvPr/>
        </p:nvSpPr>
        <p:spPr>
          <a:xfrm>
            <a:off x="411480" y="3017520"/>
            <a:ext cx="3931920" cy="114300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11480" y="3017520"/>
            <a:ext cx="54864" cy="1143000"/>
          </a:xfrm>
          <a:prstGeom prst="rect">
            <a:avLst/>
          </a:prstGeom>
          <a:solidFill>
            <a:srgbClr val="EF233C"/>
          </a:solidFill>
          <a:ln w="12700">
            <a:solidFill>
              <a:srgbClr val="000000"/>
            </a:solidFill>
            <a:prstDash val="solid"/>
          </a:ln>
        </p:spPr>
      </p:sp>
      <p:sp>
        <p:nvSpPr>
          <p:cNvPr id="15" name="Text 13"/>
          <p:cNvSpPr/>
          <p:nvPr/>
        </p:nvSpPr>
        <p:spPr>
          <a:xfrm>
            <a:off x="576072" y="3182112"/>
            <a:ext cx="1188720" cy="594360"/>
          </a:xfrm>
          <a:prstGeom prst="rect">
            <a:avLst/>
          </a:prstGeom>
          <a:noFill/>
          <a:ln/>
        </p:spPr>
        <p:txBody>
          <a:bodyPr wrap="square" rtlCol="0" anchor="ctr"/>
          <a:lstStyle/>
          <a:p>
            <a:pPr indent="0" marL="0">
              <a:buNone/>
            </a:pPr>
            <a:r>
              <a:rPr lang="en-US" sz="3200" b="1" dirty="0">
                <a:solidFill>
                  <a:srgbClr val="EF233C"/>
                </a:solidFill>
              </a:rPr>
              <a:t>4%</a:t>
            </a:r>
            <a:endParaRPr lang="en-US" sz="3200" dirty="0"/>
          </a:p>
        </p:txBody>
      </p:sp>
      <p:sp>
        <p:nvSpPr>
          <p:cNvPr id="16" name="Text 14"/>
          <p:cNvSpPr/>
          <p:nvPr/>
        </p:nvSpPr>
        <p:spPr>
          <a:xfrm>
            <a:off x="1828800" y="3218688"/>
            <a:ext cx="2377440" cy="731520"/>
          </a:xfrm>
          <a:prstGeom prst="rect">
            <a:avLst/>
          </a:prstGeom>
          <a:noFill/>
          <a:ln/>
        </p:spPr>
        <p:txBody>
          <a:bodyPr wrap="square" rtlCol="0" anchor="ctr"/>
          <a:lstStyle/>
          <a:p>
            <a:pPr indent="0" marL="0">
              <a:buNone/>
            </a:pPr>
            <a:r>
              <a:rPr lang="en-US" sz="1200" dirty="0">
                <a:solidFill>
                  <a:srgbClr val="CBD5E1"/>
                </a:solidFill>
              </a:rPr>
              <a:t>Average HVAC customer</a:t>
            </a:r>
            <a:endParaRPr lang="en-US" sz="1200" dirty="0"/>
          </a:p>
          <a:p>
            <a:pPr indent="0" marL="0">
              <a:buNone/>
            </a:pPr>
            <a:r>
              <a:rPr lang="en-US" sz="1200" dirty="0">
                <a:solidFill>
                  <a:srgbClr val="CBD5E1"/>
                </a:solidFill>
              </a:rPr>
              <a:t>retention rate</a:t>
            </a:r>
            <a:endParaRPr lang="en-US" sz="1200" dirty="0"/>
          </a:p>
        </p:txBody>
      </p:sp>
      <p:sp>
        <p:nvSpPr>
          <p:cNvPr id="17" name="Shape 15"/>
          <p:cNvSpPr/>
          <p:nvPr/>
        </p:nvSpPr>
        <p:spPr>
          <a:xfrm>
            <a:off x="4754880" y="3017520"/>
            <a:ext cx="3931920" cy="114300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4754880" y="3017520"/>
            <a:ext cx="54864" cy="1143000"/>
          </a:xfrm>
          <a:prstGeom prst="rect">
            <a:avLst/>
          </a:prstGeom>
          <a:solidFill>
            <a:srgbClr val="FF9F1C"/>
          </a:solidFill>
          <a:ln w="12700">
            <a:solidFill>
              <a:srgbClr val="000000"/>
            </a:solidFill>
            <a:prstDash val="solid"/>
          </a:ln>
        </p:spPr>
      </p:sp>
      <p:sp>
        <p:nvSpPr>
          <p:cNvPr id="19" name="Text 17"/>
          <p:cNvSpPr/>
          <p:nvPr/>
        </p:nvSpPr>
        <p:spPr>
          <a:xfrm>
            <a:off x="4919472" y="3182112"/>
            <a:ext cx="1188720" cy="594360"/>
          </a:xfrm>
          <a:prstGeom prst="rect">
            <a:avLst/>
          </a:prstGeom>
          <a:noFill/>
          <a:ln/>
        </p:spPr>
        <p:txBody>
          <a:bodyPr wrap="square" rtlCol="0" anchor="ctr"/>
          <a:lstStyle/>
          <a:p>
            <a:pPr indent="0" marL="0">
              <a:buNone/>
            </a:pPr>
            <a:r>
              <a:rPr lang="en-US" sz="3200" b="1" dirty="0">
                <a:solidFill>
                  <a:srgbClr val="FF9F1C"/>
                </a:solidFill>
              </a:rPr>
              <a:t>91%</a:t>
            </a:r>
            <a:endParaRPr lang="en-US" sz="3200" dirty="0"/>
          </a:p>
        </p:txBody>
      </p:sp>
      <p:sp>
        <p:nvSpPr>
          <p:cNvPr id="20" name="Text 18"/>
          <p:cNvSpPr/>
          <p:nvPr/>
        </p:nvSpPr>
        <p:spPr>
          <a:xfrm>
            <a:off x="6172200" y="3218688"/>
            <a:ext cx="2377440" cy="731520"/>
          </a:xfrm>
          <a:prstGeom prst="rect">
            <a:avLst/>
          </a:prstGeom>
          <a:noFill/>
          <a:ln/>
        </p:spPr>
        <p:txBody>
          <a:bodyPr wrap="square" rtlCol="0" anchor="ctr"/>
          <a:lstStyle/>
          <a:p>
            <a:pPr indent="0" marL="0">
              <a:buNone/>
            </a:pPr>
            <a:r>
              <a:rPr lang="en-US" sz="1200" dirty="0">
                <a:solidFill>
                  <a:srgbClr val="CBD5E1"/>
                </a:solidFill>
              </a:rPr>
              <a:t>Unhappy customers leave</a:t>
            </a:r>
            <a:endParaRPr lang="en-US" sz="1200" dirty="0"/>
          </a:p>
          <a:p>
            <a:pPr indent="0" marL="0">
              <a:buNone/>
            </a:pPr>
            <a:r>
              <a:rPr lang="en-US" sz="1200" dirty="0">
                <a:solidFill>
                  <a:srgbClr val="CBD5E1"/>
                </a:solidFill>
              </a:rPr>
              <a:t>without saying a word</a:t>
            </a:r>
            <a:endParaRPr lang="en-US" sz="1200" dirty="0"/>
          </a:p>
        </p:txBody>
      </p:sp>
      <p:sp>
        <p:nvSpPr>
          <p:cNvPr id="21" name="Text 19"/>
          <p:cNvSpPr/>
          <p:nvPr/>
        </p:nvSpPr>
        <p:spPr>
          <a:xfrm>
            <a:off x="411480" y="4434840"/>
            <a:ext cx="8321040" cy="411480"/>
          </a:xfrm>
          <a:prstGeom prst="rect">
            <a:avLst/>
          </a:prstGeom>
          <a:noFill/>
          <a:ln/>
        </p:spPr>
        <p:txBody>
          <a:bodyPr wrap="square" rtlCol="0" anchor="ctr"/>
          <a:lstStyle/>
          <a:p>
            <a:pPr algn="ctr" indent="0" marL="0">
              <a:buNone/>
            </a:pPr>
            <a:r>
              <a:rPr lang="en-US" sz="1100" i="1" dirty="0">
                <a:solidFill>
                  <a:srgbClr val="64748B"/>
                </a:solidFill>
              </a:rPr>
              <a:t>Most operators assume their team is handling follow-ups. The data says otherwise.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PAIN POINTS</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800" b="1" dirty="0">
                <a:solidFill>
                  <a:srgbClr val="FFFFFF"/>
                </a:solidFill>
              </a:rPr>
              <a:t>11 Revenue Leaks Inside</a:t>
            </a:r>
            <a:endParaRPr lang="en-US" sz="2800" dirty="0"/>
          </a:p>
          <a:p>
            <a:pPr indent="0" marL="0">
              <a:buNone/>
            </a:pPr>
            <a:r>
              <a:rPr lang="en-US" sz="2800" b="1" dirty="0">
                <a:solidFill>
                  <a:srgbClr val="FFFFFF"/>
                </a:solidFill>
              </a:rPr>
              <a:t>Your Business Right Now</a:t>
            </a:r>
            <a:endParaRPr lang="en-US" sz="2800" dirty="0"/>
          </a:p>
        </p:txBody>
      </p:sp>
      <p:sp>
        <p:nvSpPr>
          <p:cNvPr id="5" name="Shape 3"/>
          <p:cNvSpPr/>
          <p:nvPr/>
        </p:nvSpPr>
        <p:spPr>
          <a:xfrm>
            <a:off x="411480" y="1682496"/>
            <a:ext cx="201168" cy="201168"/>
          </a:xfrm>
          <a:prstGeom prst="oval">
            <a:avLst/>
          </a:prstGeom>
          <a:solidFill>
            <a:srgbClr val="EF233C"/>
          </a:solidFill>
          <a:ln w="12700">
            <a:solidFill>
              <a:srgbClr val="000000"/>
            </a:solidFill>
            <a:prstDash val="solid"/>
          </a:ln>
        </p:spPr>
      </p:sp>
      <p:sp>
        <p:nvSpPr>
          <p:cNvPr id="6" name="Text 4"/>
          <p:cNvSpPr/>
          <p:nvPr/>
        </p:nvSpPr>
        <p:spPr>
          <a:xfrm>
            <a:off x="713232" y="1609344"/>
            <a:ext cx="3657600" cy="365760"/>
          </a:xfrm>
          <a:prstGeom prst="rect">
            <a:avLst/>
          </a:prstGeom>
          <a:noFill/>
          <a:ln/>
        </p:spPr>
        <p:txBody>
          <a:bodyPr wrap="square" rtlCol="0" anchor="ctr"/>
          <a:lstStyle/>
          <a:p>
            <a:pPr indent="0" marL="0">
              <a:buNone/>
            </a:pPr>
            <a:r>
              <a:rPr lang="en-US" sz="1150" dirty="0">
                <a:solidFill>
                  <a:srgbClr val="F0F4F8"/>
                </a:solidFill>
              </a:rPr>
              <a:t>Dead leads sitting untouched in CRM</a:t>
            </a:r>
            <a:endParaRPr lang="en-US" sz="1150" dirty="0"/>
          </a:p>
        </p:txBody>
      </p:sp>
      <p:sp>
        <p:nvSpPr>
          <p:cNvPr id="7" name="Shape 5"/>
          <p:cNvSpPr/>
          <p:nvPr/>
        </p:nvSpPr>
        <p:spPr>
          <a:xfrm>
            <a:off x="411480" y="2176272"/>
            <a:ext cx="201168" cy="201168"/>
          </a:xfrm>
          <a:prstGeom prst="oval">
            <a:avLst/>
          </a:prstGeom>
          <a:solidFill>
            <a:srgbClr val="EF233C"/>
          </a:solidFill>
          <a:ln w="12700">
            <a:solidFill>
              <a:srgbClr val="000000"/>
            </a:solidFill>
            <a:prstDash val="solid"/>
          </a:ln>
        </p:spPr>
      </p:sp>
      <p:sp>
        <p:nvSpPr>
          <p:cNvPr id="8" name="Text 6"/>
          <p:cNvSpPr/>
          <p:nvPr/>
        </p:nvSpPr>
        <p:spPr>
          <a:xfrm>
            <a:off x="713232" y="2103120"/>
            <a:ext cx="3657600" cy="365760"/>
          </a:xfrm>
          <a:prstGeom prst="rect">
            <a:avLst/>
          </a:prstGeom>
          <a:noFill/>
          <a:ln/>
        </p:spPr>
        <p:txBody>
          <a:bodyPr wrap="square" rtlCol="0" anchor="ctr"/>
          <a:lstStyle/>
          <a:p>
            <a:pPr indent="0" marL="0">
              <a:buNone/>
            </a:pPr>
            <a:r>
              <a:rPr lang="en-US" sz="1150" dirty="0">
                <a:solidFill>
                  <a:srgbClr val="F0F4F8"/>
                </a:solidFill>
              </a:rPr>
              <a:t>Estimates sent — never followed up</a:t>
            </a:r>
            <a:endParaRPr lang="en-US" sz="1150" dirty="0"/>
          </a:p>
        </p:txBody>
      </p:sp>
      <p:sp>
        <p:nvSpPr>
          <p:cNvPr id="9" name="Shape 7"/>
          <p:cNvSpPr/>
          <p:nvPr/>
        </p:nvSpPr>
        <p:spPr>
          <a:xfrm>
            <a:off x="411480" y="2670048"/>
            <a:ext cx="201168" cy="201168"/>
          </a:xfrm>
          <a:prstGeom prst="oval">
            <a:avLst/>
          </a:prstGeom>
          <a:solidFill>
            <a:srgbClr val="EF233C"/>
          </a:solidFill>
          <a:ln w="12700">
            <a:solidFill>
              <a:srgbClr val="000000"/>
            </a:solidFill>
            <a:prstDash val="solid"/>
          </a:ln>
        </p:spPr>
      </p:sp>
      <p:sp>
        <p:nvSpPr>
          <p:cNvPr id="10" name="Text 8"/>
          <p:cNvSpPr/>
          <p:nvPr/>
        </p:nvSpPr>
        <p:spPr>
          <a:xfrm>
            <a:off x="713232" y="2596896"/>
            <a:ext cx="3657600" cy="365760"/>
          </a:xfrm>
          <a:prstGeom prst="rect">
            <a:avLst/>
          </a:prstGeom>
          <a:noFill/>
          <a:ln/>
        </p:spPr>
        <p:txBody>
          <a:bodyPr wrap="square" rtlCol="0" anchor="ctr"/>
          <a:lstStyle/>
          <a:p>
            <a:pPr indent="0" marL="0">
              <a:buNone/>
            </a:pPr>
            <a:r>
              <a:rPr lang="en-US" sz="1150" dirty="0">
                <a:solidFill>
                  <a:srgbClr val="F0F4F8"/>
                </a:solidFill>
              </a:rPr>
              <a:t>Customers churning without re-engagement</a:t>
            </a:r>
            <a:endParaRPr lang="en-US" sz="1150" dirty="0"/>
          </a:p>
        </p:txBody>
      </p:sp>
      <p:sp>
        <p:nvSpPr>
          <p:cNvPr id="11" name="Shape 9"/>
          <p:cNvSpPr/>
          <p:nvPr/>
        </p:nvSpPr>
        <p:spPr>
          <a:xfrm>
            <a:off x="411480" y="3163824"/>
            <a:ext cx="201168" cy="201168"/>
          </a:xfrm>
          <a:prstGeom prst="oval">
            <a:avLst/>
          </a:prstGeom>
          <a:solidFill>
            <a:srgbClr val="EF233C"/>
          </a:solidFill>
          <a:ln w="12700">
            <a:solidFill>
              <a:srgbClr val="000000"/>
            </a:solidFill>
            <a:prstDash val="solid"/>
          </a:ln>
        </p:spPr>
      </p:sp>
      <p:sp>
        <p:nvSpPr>
          <p:cNvPr id="12" name="Text 10"/>
          <p:cNvSpPr/>
          <p:nvPr/>
        </p:nvSpPr>
        <p:spPr>
          <a:xfrm>
            <a:off x="713232" y="3090672"/>
            <a:ext cx="3657600" cy="365760"/>
          </a:xfrm>
          <a:prstGeom prst="rect">
            <a:avLst/>
          </a:prstGeom>
          <a:noFill/>
          <a:ln/>
        </p:spPr>
        <p:txBody>
          <a:bodyPr wrap="square" rtlCol="0" anchor="ctr"/>
          <a:lstStyle/>
          <a:p>
            <a:pPr indent="0" marL="0">
              <a:buNone/>
            </a:pPr>
            <a:r>
              <a:rPr lang="en-US" sz="1150" dirty="0">
                <a:solidFill>
                  <a:srgbClr val="F0F4F8"/>
                </a:solidFill>
              </a:rPr>
              <a:t>Missed calls with no text-back system</a:t>
            </a:r>
            <a:endParaRPr lang="en-US" sz="1150" dirty="0"/>
          </a:p>
        </p:txBody>
      </p:sp>
      <p:sp>
        <p:nvSpPr>
          <p:cNvPr id="13" name="Shape 11"/>
          <p:cNvSpPr/>
          <p:nvPr/>
        </p:nvSpPr>
        <p:spPr>
          <a:xfrm>
            <a:off x="411480" y="3657600"/>
            <a:ext cx="201168" cy="201168"/>
          </a:xfrm>
          <a:prstGeom prst="oval">
            <a:avLst/>
          </a:prstGeom>
          <a:solidFill>
            <a:srgbClr val="EF233C"/>
          </a:solidFill>
          <a:ln w="12700">
            <a:solidFill>
              <a:srgbClr val="000000"/>
            </a:solidFill>
            <a:prstDash val="solid"/>
          </a:ln>
        </p:spPr>
      </p:sp>
      <p:sp>
        <p:nvSpPr>
          <p:cNvPr id="14" name="Text 12"/>
          <p:cNvSpPr/>
          <p:nvPr/>
        </p:nvSpPr>
        <p:spPr>
          <a:xfrm>
            <a:off x="713232" y="3584448"/>
            <a:ext cx="3657600" cy="365760"/>
          </a:xfrm>
          <a:prstGeom prst="rect">
            <a:avLst/>
          </a:prstGeom>
          <a:noFill/>
          <a:ln/>
        </p:spPr>
        <p:txBody>
          <a:bodyPr wrap="square" rtlCol="0" anchor="ctr"/>
          <a:lstStyle/>
          <a:p>
            <a:pPr indent="0" marL="0">
              <a:buNone/>
            </a:pPr>
            <a:r>
              <a:rPr lang="en-US" sz="1150" dirty="0">
                <a:solidFill>
                  <a:srgbClr val="F0F4F8"/>
                </a:solidFill>
              </a:rPr>
              <a:t>Maintenance reminders falling through</a:t>
            </a:r>
            <a:endParaRPr lang="en-US" sz="1150" dirty="0"/>
          </a:p>
        </p:txBody>
      </p:sp>
      <p:sp>
        <p:nvSpPr>
          <p:cNvPr id="15" name="Shape 13"/>
          <p:cNvSpPr/>
          <p:nvPr/>
        </p:nvSpPr>
        <p:spPr>
          <a:xfrm>
            <a:off x="411480" y="4151376"/>
            <a:ext cx="201168" cy="201168"/>
          </a:xfrm>
          <a:prstGeom prst="oval">
            <a:avLst/>
          </a:prstGeom>
          <a:solidFill>
            <a:srgbClr val="EF233C"/>
          </a:solidFill>
          <a:ln w="12700">
            <a:solidFill>
              <a:srgbClr val="000000"/>
            </a:solidFill>
            <a:prstDash val="solid"/>
          </a:ln>
        </p:spPr>
      </p:sp>
      <p:sp>
        <p:nvSpPr>
          <p:cNvPr id="16" name="Text 14"/>
          <p:cNvSpPr/>
          <p:nvPr/>
        </p:nvSpPr>
        <p:spPr>
          <a:xfrm>
            <a:off x="713232" y="4078224"/>
            <a:ext cx="3657600" cy="365760"/>
          </a:xfrm>
          <a:prstGeom prst="rect">
            <a:avLst/>
          </a:prstGeom>
          <a:noFill/>
          <a:ln/>
        </p:spPr>
        <p:txBody>
          <a:bodyPr wrap="square" rtlCol="0" anchor="ctr"/>
          <a:lstStyle/>
          <a:p>
            <a:pPr indent="0" marL="0">
              <a:buNone/>
            </a:pPr>
            <a:r>
              <a:rPr lang="en-US" sz="1150" dirty="0">
                <a:solidFill>
                  <a:srgbClr val="F0F4F8"/>
                </a:solidFill>
              </a:rPr>
              <a:t>Review volume too low to compete</a:t>
            </a:r>
            <a:endParaRPr lang="en-US" sz="1150" dirty="0"/>
          </a:p>
        </p:txBody>
      </p:sp>
      <p:sp>
        <p:nvSpPr>
          <p:cNvPr id="17" name="Shape 15"/>
          <p:cNvSpPr/>
          <p:nvPr/>
        </p:nvSpPr>
        <p:spPr>
          <a:xfrm>
            <a:off x="4846320" y="1682496"/>
            <a:ext cx="201168" cy="201168"/>
          </a:xfrm>
          <a:prstGeom prst="oval">
            <a:avLst/>
          </a:prstGeom>
          <a:solidFill>
            <a:srgbClr val="FF9F1C"/>
          </a:solidFill>
          <a:ln w="12700">
            <a:solidFill>
              <a:srgbClr val="000000"/>
            </a:solidFill>
            <a:prstDash val="solid"/>
          </a:ln>
        </p:spPr>
      </p:sp>
      <p:sp>
        <p:nvSpPr>
          <p:cNvPr id="18" name="Text 16"/>
          <p:cNvSpPr/>
          <p:nvPr/>
        </p:nvSpPr>
        <p:spPr>
          <a:xfrm>
            <a:off x="5138928" y="1609344"/>
            <a:ext cx="3657600" cy="365760"/>
          </a:xfrm>
          <a:prstGeom prst="rect">
            <a:avLst/>
          </a:prstGeom>
          <a:noFill/>
          <a:ln/>
        </p:spPr>
        <p:txBody>
          <a:bodyPr wrap="square" rtlCol="0" anchor="ctr"/>
          <a:lstStyle/>
          <a:p>
            <a:pPr indent="0" marL="0">
              <a:buNone/>
            </a:pPr>
            <a:r>
              <a:rPr lang="en-US" sz="1150" dirty="0">
                <a:solidFill>
                  <a:srgbClr val="F0F4F8"/>
                </a:solidFill>
              </a:rPr>
              <a:t>No referral system to leverage happy clients</a:t>
            </a:r>
            <a:endParaRPr lang="en-US" sz="1150" dirty="0"/>
          </a:p>
        </p:txBody>
      </p:sp>
      <p:sp>
        <p:nvSpPr>
          <p:cNvPr id="19" name="Shape 17"/>
          <p:cNvSpPr/>
          <p:nvPr/>
        </p:nvSpPr>
        <p:spPr>
          <a:xfrm>
            <a:off x="4846320" y="2176272"/>
            <a:ext cx="201168" cy="201168"/>
          </a:xfrm>
          <a:prstGeom prst="oval">
            <a:avLst/>
          </a:prstGeom>
          <a:solidFill>
            <a:srgbClr val="FF9F1C"/>
          </a:solidFill>
          <a:ln w="12700">
            <a:solidFill>
              <a:srgbClr val="000000"/>
            </a:solidFill>
            <a:prstDash val="solid"/>
          </a:ln>
        </p:spPr>
      </p:sp>
      <p:sp>
        <p:nvSpPr>
          <p:cNvPr id="20" name="Text 18"/>
          <p:cNvSpPr/>
          <p:nvPr/>
        </p:nvSpPr>
        <p:spPr>
          <a:xfrm>
            <a:off x="5138928" y="2103120"/>
            <a:ext cx="3657600" cy="365760"/>
          </a:xfrm>
          <a:prstGeom prst="rect">
            <a:avLst/>
          </a:prstGeom>
          <a:noFill/>
          <a:ln/>
        </p:spPr>
        <p:txBody>
          <a:bodyPr wrap="square" rtlCol="0" anchor="ctr"/>
          <a:lstStyle/>
          <a:p>
            <a:pPr indent="0" marL="0">
              <a:buNone/>
            </a:pPr>
            <a:r>
              <a:rPr lang="en-US" sz="1150" dirty="0">
                <a:solidFill>
                  <a:srgbClr val="F0F4F8"/>
                </a:solidFill>
              </a:rPr>
              <a:t>Membership renewals missed or delayed</a:t>
            </a:r>
            <a:endParaRPr lang="en-US" sz="1150" dirty="0"/>
          </a:p>
        </p:txBody>
      </p:sp>
      <p:sp>
        <p:nvSpPr>
          <p:cNvPr id="21" name="Shape 19"/>
          <p:cNvSpPr/>
          <p:nvPr/>
        </p:nvSpPr>
        <p:spPr>
          <a:xfrm>
            <a:off x="4846320" y="2670048"/>
            <a:ext cx="201168" cy="201168"/>
          </a:xfrm>
          <a:prstGeom prst="oval">
            <a:avLst/>
          </a:prstGeom>
          <a:solidFill>
            <a:srgbClr val="FF9F1C"/>
          </a:solidFill>
          <a:ln w="12700">
            <a:solidFill>
              <a:srgbClr val="000000"/>
            </a:solidFill>
            <a:prstDash val="solid"/>
          </a:ln>
        </p:spPr>
      </p:sp>
      <p:sp>
        <p:nvSpPr>
          <p:cNvPr id="22" name="Text 20"/>
          <p:cNvSpPr/>
          <p:nvPr/>
        </p:nvSpPr>
        <p:spPr>
          <a:xfrm>
            <a:off x="5138928" y="2596896"/>
            <a:ext cx="3657600" cy="365760"/>
          </a:xfrm>
          <a:prstGeom prst="rect">
            <a:avLst/>
          </a:prstGeom>
          <a:noFill/>
          <a:ln/>
        </p:spPr>
        <p:txBody>
          <a:bodyPr wrap="square" rtlCol="0" anchor="ctr"/>
          <a:lstStyle/>
          <a:p>
            <a:pPr indent="0" marL="0">
              <a:buNone/>
            </a:pPr>
            <a:r>
              <a:rPr lang="en-US" sz="1150" dirty="0">
                <a:solidFill>
                  <a:srgbClr val="F0F4F8"/>
                </a:solidFill>
              </a:rPr>
              <a:t>CRM data messy, untagged, unusable</a:t>
            </a:r>
            <a:endParaRPr lang="en-US" sz="1150" dirty="0"/>
          </a:p>
        </p:txBody>
      </p:sp>
      <p:sp>
        <p:nvSpPr>
          <p:cNvPr id="23" name="Shape 21"/>
          <p:cNvSpPr/>
          <p:nvPr/>
        </p:nvSpPr>
        <p:spPr>
          <a:xfrm>
            <a:off x="4846320" y="3163824"/>
            <a:ext cx="201168" cy="201168"/>
          </a:xfrm>
          <a:prstGeom prst="oval">
            <a:avLst/>
          </a:prstGeom>
          <a:solidFill>
            <a:srgbClr val="FF9F1C"/>
          </a:solidFill>
          <a:ln w="12700">
            <a:solidFill>
              <a:srgbClr val="000000"/>
            </a:solidFill>
            <a:prstDash val="solid"/>
          </a:ln>
        </p:spPr>
      </p:sp>
      <p:sp>
        <p:nvSpPr>
          <p:cNvPr id="24" name="Text 22"/>
          <p:cNvSpPr/>
          <p:nvPr/>
        </p:nvSpPr>
        <p:spPr>
          <a:xfrm>
            <a:off x="5138928" y="3090672"/>
            <a:ext cx="3657600" cy="365760"/>
          </a:xfrm>
          <a:prstGeom prst="rect">
            <a:avLst/>
          </a:prstGeom>
          <a:noFill/>
          <a:ln/>
        </p:spPr>
        <p:txBody>
          <a:bodyPr wrap="square" rtlCol="0" anchor="ctr"/>
          <a:lstStyle/>
          <a:p>
            <a:pPr indent="0" marL="0">
              <a:buNone/>
            </a:pPr>
            <a:r>
              <a:rPr lang="en-US" sz="1150" dirty="0">
                <a:solidFill>
                  <a:srgbClr val="F0F4F8"/>
                </a:solidFill>
              </a:rPr>
              <a:t>Seasonal campaigns not executed on time</a:t>
            </a:r>
            <a:endParaRPr lang="en-US" sz="1150" dirty="0"/>
          </a:p>
        </p:txBody>
      </p:sp>
      <p:sp>
        <p:nvSpPr>
          <p:cNvPr id="25" name="Shape 23"/>
          <p:cNvSpPr/>
          <p:nvPr/>
        </p:nvSpPr>
        <p:spPr>
          <a:xfrm>
            <a:off x="4846320" y="3657600"/>
            <a:ext cx="201168" cy="201168"/>
          </a:xfrm>
          <a:prstGeom prst="oval">
            <a:avLst/>
          </a:prstGeom>
          <a:solidFill>
            <a:srgbClr val="FF9F1C"/>
          </a:solidFill>
          <a:ln w="12700">
            <a:solidFill>
              <a:srgbClr val="000000"/>
            </a:solidFill>
            <a:prstDash val="solid"/>
          </a:ln>
        </p:spPr>
      </p:sp>
      <p:sp>
        <p:nvSpPr>
          <p:cNvPr id="26" name="Text 24"/>
          <p:cNvSpPr/>
          <p:nvPr/>
        </p:nvSpPr>
        <p:spPr>
          <a:xfrm>
            <a:off x="5138928" y="3584448"/>
            <a:ext cx="3657600" cy="365760"/>
          </a:xfrm>
          <a:prstGeom prst="rect">
            <a:avLst/>
          </a:prstGeom>
          <a:noFill/>
          <a:ln/>
        </p:spPr>
        <p:txBody>
          <a:bodyPr wrap="square" rtlCol="0" anchor="ctr"/>
          <a:lstStyle/>
          <a:p>
            <a:pPr indent="0" marL="0">
              <a:buNone/>
            </a:pPr>
            <a:r>
              <a:rPr lang="en-US" sz="1150" dirty="0">
                <a:solidFill>
                  <a:srgbClr val="F0F4F8"/>
                </a:solidFill>
              </a:rPr>
              <a:t>Low rebooking rate after service visits</a:t>
            </a:r>
            <a:endParaRPr lang="en-US" sz="1150" dirty="0"/>
          </a:p>
        </p:txBody>
      </p:sp>
      <p:sp>
        <p:nvSpPr>
          <p:cNvPr id="27" name="Shape 25"/>
          <p:cNvSpPr/>
          <p:nvPr/>
        </p:nvSpPr>
        <p:spPr>
          <a:xfrm>
            <a:off x="4663440" y="1554480"/>
            <a:ext cx="27432" cy="3200400"/>
          </a:xfrm>
          <a:prstGeom prst="rect">
            <a:avLst/>
          </a:prstGeom>
          <a:solidFill>
            <a:srgbClr val="64748B">
              <a:alpha val="40000"/>
            </a:srgbClr>
          </a:solidFill>
          <a:ln w="12700">
            <a:solidFill>
              <a:srgbClr val="00000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HIDDEN REVENUE</a:t>
            </a:r>
            <a:endParaRPr lang="en-US" sz="800" dirty="0"/>
          </a:p>
        </p:txBody>
      </p:sp>
      <p:sp>
        <p:nvSpPr>
          <p:cNvPr id="4" name="Text 2"/>
          <p:cNvSpPr/>
          <p:nvPr/>
        </p:nvSpPr>
        <p:spPr>
          <a:xfrm>
            <a:off x="411480" y="530352"/>
            <a:ext cx="8321040" cy="960120"/>
          </a:xfrm>
          <a:prstGeom prst="rect">
            <a:avLst/>
          </a:prstGeom>
          <a:noFill/>
          <a:ln/>
        </p:spPr>
        <p:txBody>
          <a:bodyPr wrap="square" rtlCol="0" anchor="ctr"/>
          <a:lstStyle/>
          <a:p>
            <a:pPr indent="0" marL="0">
              <a:buNone/>
            </a:pPr>
            <a:r>
              <a:rPr lang="en-US" sz="2800" b="1" dirty="0">
                <a:solidFill>
                  <a:srgbClr val="FFFFFF"/>
                </a:solidFill>
              </a:rPr>
              <a:t>The Money Is Already There.</a:t>
            </a:r>
            <a:endParaRPr lang="en-US" sz="2800" dirty="0"/>
          </a:p>
          <a:p>
            <a:pPr indent="0" marL="0">
              <a:buNone/>
            </a:pPr>
            <a:r>
              <a:rPr lang="en-US" sz="2800" b="1" dirty="0">
                <a:solidFill>
                  <a:srgbClr val="FFFFFF"/>
                </a:solidFill>
              </a:rPr>
              <a:t>You Just Can't Access It.</a:t>
            </a:r>
            <a:endParaRPr lang="en-US" sz="2800" dirty="0"/>
          </a:p>
        </p:txBody>
      </p:sp>
      <p:sp>
        <p:nvSpPr>
          <p:cNvPr id="5" name="Shape 3"/>
          <p:cNvSpPr/>
          <p:nvPr/>
        </p:nvSpPr>
        <p:spPr>
          <a:xfrm>
            <a:off x="457200" y="1600200"/>
            <a:ext cx="3474720" cy="3474720"/>
          </a:xfrm>
          <a:prstGeom prst="oval">
            <a:avLst/>
          </a:prstGeom>
          <a:solidFill>
            <a:srgbClr val="0077B6">
              <a:alpha val="15000"/>
            </a:srgbClr>
          </a:solidFill>
          <a:ln w="12700">
            <a:solidFill>
              <a:srgbClr val="00B4D8"/>
            </a:solidFill>
            <a:prstDash val="solid"/>
          </a:ln>
        </p:spPr>
      </p:sp>
      <p:sp>
        <p:nvSpPr>
          <p:cNvPr id="6" name="Text 4"/>
          <p:cNvSpPr/>
          <p:nvPr/>
        </p:nvSpPr>
        <p:spPr>
          <a:xfrm>
            <a:off x="457200" y="2560320"/>
            <a:ext cx="3474720" cy="1463040"/>
          </a:xfrm>
          <a:prstGeom prst="rect">
            <a:avLst/>
          </a:prstGeom>
          <a:noFill/>
          <a:ln/>
        </p:spPr>
        <p:txBody>
          <a:bodyPr wrap="square" rtlCol="0" anchor="ctr"/>
          <a:lstStyle/>
          <a:p>
            <a:pPr algn="ctr" indent="0" marL="0">
              <a:buNone/>
            </a:pPr>
            <a:r>
              <a:rPr lang="en-US" sz="1600" b="1" dirty="0">
                <a:solidFill>
                  <a:srgbClr val="00B4D8"/>
                </a:solidFill>
              </a:rPr>
              <a:t>Your</a:t>
            </a:r>
            <a:endParaRPr lang="en-US" sz="1600" dirty="0"/>
          </a:p>
          <a:p>
            <a:pPr algn="ctr" indent="0" marL="0">
              <a:buNone/>
            </a:pPr>
            <a:r>
              <a:rPr lang="en-US" sz="1600" b="1" dirty="0">
                <a:solidFill>
                  <a:srgbClr val="00B4D8"/>
                </a:solidFill>
              </a:rPr>
              <a:t>Existing</a:t>
            </a:r>
            <a:endParaRPr lang="en-US" sz="1600" dirty="0"/>
          </a:p>
          <a:p>
            <a:pPr algn="ctr" indent="0" marL="0">
              <a:buNone/>
            </a:pPr>
            <a:r>
              <a:rPr lang="en-US" sz="1600" b="1" dirty="0">
                <a:solidFill>
                  <a:srgbClr val="00B4D8"/>
                </a:solidFill>
              </a:rPr>
              <a:t>Database</a:t>
            </a:r>
            <a:endParaRPr lang="en-US" sz="1600" dirty="0"/>
          </a:p>
        </p:txBody>
      </p:sp>
      <p:sp>
        <p:nvSpPr>
          <p:cNvPr id="7" name="Shape 5"/>
          <p:cNvSpPr/>
          <p:nvPr/>
        </p:nvSpPr>
        <p:spPr>
          <a:xfrm>
            <a:off x="4572000" y="1645920"/>
            <a:ext cx="4160520" cy="64008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8" name="Shape 6"/>
          <p:cNvSpPr/>
          <p:nvPr/>
        </p:nvSpPr>
        <p:spPr>
          <a:xfrm>
            <a:off x="4572000" y="1645920"/>
            <a:ext cx="54864" cy="640080"/>
          </a:xfrm>
          <a:prstGeom prst="rect">
            <a:avLst/>
          </a:prstGeom>
          <a:solidFill>
            <a:srgbClr val="06D6A0"/>
          </a:solidFill>
          <a:ln w="12700">
            <a:solidFill>
              <a:srgbClr val="000000"/>
            </a:solidFill>
            <a:prstDash val="solid"/>
          </a:ln>
        </p:spPr>
      </p:sp>
      <p:sp>
        <p:nvSpPr>
          <p:cNvPr id="9" name="Text 7"/>
          <p:cNvSpPr/>
          <p:nvPr/>
        </p:nvSpPr>
        <p:spPr>
          <a:xfrm>
            <a:off x="4709160" y="1737360"/>
            <a:ext cx="731520" cy="411480"/>
          </a:xfrm>
          <a:prstGeom prst="rect">
            <a:avLst/>
          </a:prstGeom>
          <a:noFill/>
          <a:ln/>
        </p:spPr>
        <p:txBody>
          <a:bodyPr wrap="square" rtlCol="0" anchor="ctr"/>
          <a:lstStyle/>
          <a:p>
            <a:pPr indent="0" marL="0">
              <a:buNone/>
            </a:pPr>
            <a:r>
              <a:rPr lang="en-US" sz="2000" b="1" dirty="0">
                <a:solidFill>
                  <a:srgbClr val="06D6A0"/>
                </a:solidFill>
              </a:rPr>
              <a:t>28%</a:t>
            </a:r>
            <a:endParaRPr lang="en-US" sz="2000" dirty="0"/>
          </a:p>
        </p:txBody>
      </p:sp>
      <p:sp>
        <p:nvSpPr>
          <p:cNvPr id="10" name="Text 8"/>
          <p:cNvSpPr/>
          <p:nvPr/>
        </p:nvSpPr>
        <p:spPr>
          <a:xfrm>
            <a:off x="5440680" y="1792224"/>
            <a:ext cx="3108960" cy="320040"/>
          </a:xfrm>
          <a:prstGeom prst="rect">
            <a:avLst/>
          </a:prstGeom>
          <a:noFill/>
          <a:ln/>
        </p:spPr>
        <p:txBody>
          <a:bodyPr wrap="square" rtlCol="0" anchor="ctr"/>
          <a:lstStyle/>
          <a:p>
            <a:pPr indent="0" marL="0">
              <a:buNone/>
            </a:pPr>
            <a:r>
              <a:rPr lang="en-US" sz="1200" dirty="0">
                <a:solidFill>
                  <a:srgbClr val="CBD5E1"/>
                </a:solidFill>
              </a:rPr>
              <a:t>Dormant leads</a:t>
            </a:r>
            <a:endParaRPr lang="en-US" sz="1200" dirty="0"/>
          </a:p>
        </p:txBody>
      </p:sp>
      <p:sp>
        <p:nvSpPr>
          <p:cNvPr id="11" name="Shape 9"/>
          <p:cNvSpPr/>
          <p:nvPr/>
        </p:nvSpPr>
        <p:spPr>
          <a:xfrm>
            <a:off x="4572000" y="2423160"/>
            <a:ext cx="4160520" cy="64008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4572000" y="2423160"/>
            <a:ext cx="54864" cy="640080"/>
          </a:xfrm>
          <a:prstGeom prst="rect">
            <a:avLst/>
          </a:prstGeom>
          <a:solidFill>
            <a:srgbClr val="06D6A0"/>
          </a:solidFill>
          <a:ln w="12700">
            <a:solidFill>
              <a:srgbClr val="000000"/>
            </a:solidFill>
            <a:prstDash val="solid"/>
          </a:ln>
        </p:spPr>
      </p:sp>
      <p:sp>
        <p:nvSpPr>
          <p:cNvPr id="13" name="Text 11"/>
          <p:cNvSpPr/>
          <p:nvPr/>
        </p:nvSpPr>
        <p:spPr>
          <a:xfrm>
            <a:off x="4709160" y="2514600"/>
            <a:ext cx="731520" cy="411480"/>
          </a:xfrm>
          <a:prstGeom prst="rect">
            <a:avLst/>
          </a:prstGeom>
          <a:noFill/>
          <a:ln/>
        </p:spPr>
        <p:txBody>
          <a:bodyPr wrap="square" rtlCol="0" anchor="ctr"/>
          <a:lstStyle/>
          <a:p>
            <a:pPr indent="0" marL="0">
              <a:buNone/>
            </a:pPr>
            <a:r>
              <a:rPr lang="en-US" sz="2000" b="1" dirty="0">
                <a:solidFill>
                  <a:srgbClr val="06D6A0"/>
                </a:solidFill>
              </a:rPr>
              <a:t>41%</a:t>
            </a:r>
            <a:endParaRPr lang="en-US" sz="2000" dirty="0"/>
          </a:p>
        </p:txBody>
      </p:sp>
      <p:sp>
        <p:nvSpPr>
          <p:cNvPr id="14" name="Text 12"/>
          <p:cNvSpPr/>
          <p:nvPr/>
        </p:nvSpPr>
        <p:spPr>
          <a:xfrm>
            <a:off x="5440680" y="2569464"/>
            <a:ext cx="3108960" cy="320040"/>
          </a:xfrm>
          <a:prstGeom prst="rect">
            <a:avLst/>
          </a:prstGeom>
          <a:noFill/>
          <a:ln/>
        </p:spPr>
        <p:txBody>
          <a:bodyPr wrap="square" rtlCol="0" anchor="ctr"/>
          <a:lstStyle/>
          <a:p>
            <a:pPr indent="0" marL="0">
              <a:buNone/>
            </a:pPr>
            <a:r>
              <a:rPr lang="en-US" sz="1200" dirty="0">
                <a:solidFill>
                  <a:srgbClr val="CBD5E1"/>
                </a:solidFill>
              </a:rPr>
              <a:t>Past customers</a:t>
            </a:r>
            <a:endParaRPr lang="en-US" sz="1200" dirty="0"/>
          </a:p>
        </p:txBody>
      </p:sp>
      <p:sp>
        <p:nvSpPr>
          <p:cNvPr id="15" name="Shape 13"/>
          <p:cNvSpPr/>
          <p:nvPr/>
        </p:nvSpPr>
        <p:spPr>
          <a:xfrm>
            <a:off x="4572000" y="3200400"/>
            <a:ext cx="4160520" cy="64008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4572000" y="3200400"/>
            <a:ext cx="54864" cy="640080"/>
          </a:xfrm>
          <a:prstGeom prst="rect">
            <a:avLst/>
          </a:prstGeom>
          <a:solidFill>
            <a:srgbClr val="06D6A0"/>
          </a:solidFill>
          <a:ln w="12700">
            <a:solidFill>
              <a:srgbClr val="000000"/>
            </a:solidFill>
            <a:prstDash val="solid"/>
          </a:ln>
        </p:spPr>
      </p:sp>
      <p:sp>
        <p:nvSpPr>
          <p:cNvPr id="17" name="Text 15"/>
          <p:cNvSpPr/>
          <p:nvPr/>
        </p:nvSpPr>
        <p:spPr>
          <a:xfrm>
            <a:off x="4709160" y="3291840"/>
            <a:ext cx="731520" cy="411480"/>
          </a:xfrm>
          <a:prstGeom prst="rect">
            <a:avLst/>
          </a:prstGeom>
          <a:noFill/>
          <a:ln/>
        </p:spPr>
        <p:txBody>
          <a:bodyPr wrap="square" rtlCol="0" anchor="ctr"/>
          <a:lstStyle/>
          <a:p>
            <a:pPr indent="0" marL="0">
              <a:buNone/>
            </a:pPr>
            <a:r>
              <a:rPr lang="en-US" sz="2000" b="1" dirty="0">
                <a:solidFill>
                  <a:srgbClr val="06D6A0"/>
                </a:solidFill>
              </a:rPr>
              <a:t>19%</a:t>
            </a:r>
            <a:endParaRPr lang="en-US" sz="2000" dirty="0"/>
          </a:p>
        </p:txBody>
      </p:sp>
      <p:sp>
        <p:nvSpPr>
          <p:cNvPr id="18" name="Text 16"/>
          <p:cNvSpPr/>
          <p:nvPr/>
        </p:nvSpPr>
        <p:spPr>
          <a:xfrm>
            <a:off x="5440680" y="3346704"/>
            <a:ext cx="3108960" cy="320040"/>
          </a:xfrm>
          <a:prstGeom prst="rect">
            <a:avLst/>
          </a:prstGeom>
          <a:noFill/>
          <a:ln/>
        </p:spPr>
        <p:txBody>
          <a:bodyPr wrap="square" rtlCol="0" anchor="ctr"/>
          <a:lstStyle/>
          <a:p>
            <a:pPr indent="0" marL="0">
              <a:buNone/>
            </a:pPr>
            <a:r>
              <a:rPr lang="en-US" sz="1200" dirty="0">
                <a:solidFill>
                  <a:srgbClr val="CBD5E1"/>
                </a:solidFill>
              </a:rPr>
              <a:t>Open estimates</a:t>
            </a:r>
            <a:endParaRPr lang="en-US" sz="1200" dirty="0"/>
          </a:p>
        </p:txBody>
      </p:sp>
      <p:sp>
        <p:nvSpPr>
          <p:cNvPr id="19" name="Shape 17"/>
          <p:cNvSpPr/>
          <p:nvPr/>
        </p:nvSpPr>
        <p:spPr>
          <a:xfrm>
            <a:off x="4572000" y="3977640"/>
            <a:ext cx="4160520" cy="64008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4572000" y="3977640"/>
            <a:ext cx="54864" cy="640080"/>
          </a:xfrm>
          <a:prstGeom prst="rect">
            <a:avLst/>
          </a:prstGeom>
          <a:solidFill>
            <a:srgbClr val="06D6A0"/>
          </a:solidFill>
          <a:ln w="12700">
            <a:solidFill>
              <a:srgbClr val="000000"/>
            </a:solidFill>
            <a:prstDash val="solid"/>
          </a:ln>
        </p:spPr>
      </p:sp>
      <p:sp>
        <p:nvSpPr>
          <p:cNvPr id="21" name="Text 19"/>
          <p:cNvSpPr/>
          <p:nvPr/>
        </p:nvSpPr>
        <p:spPr>
          <a:xfrm>
            <a:off x="4709160" y="4069080"/>
            <a:ext cx="731520" cy="411480"/>
          </a:xfrm>
          <a:prstGeom prst="rect">
            <a:avLst/>
          </a:prstGeom>
          <a:noFill/>
          <a:ln/>
        </p:spPr>
        <p:txBody>
          <a:bodyPr wrap="square" rtlCol="0" anchor="ctr"/>
          <a:lstStyle/>
          <a:p>
            <a:pPr indent="0" marL="0">
              <a:buNone/>
            </a:pPr>
            <a:r>
              <a:rPr lang="en-US" sz="2000" b="1" dirty="0">
                <a:solidFill>
                  <a:srgbClr val="06D6A0"/>
                </a:solidFill>
              </a:rPr>
              <a:t>12%</a:t>
            </a:r>
            <a:endParaRPr lang="en-US" sz="2000" dirty="0"/>
          </a:p>
        </p:txBody>
      </p:sp>
      <p:sp>
        <p:nvSpPr>
          <p:cNvPr id="22" name="Text 20"/>
          <p:cNvSpPr/>
          <p:nvPr/>
        </p:nvSpPr>
        <p:spPr>
          <a:xfrm>
            <a:off x="5440680" y="4123944"/>
            <a:ext cx="3108960" cy="320040"/>
          </a:xfrm>
          <a:prstGeom prst="rect">
            <a:avLst/>
          </a:prstGeom>
          <a:noFill/>
          <a:ln/>
        </p:spPr>
        <p:txBody>
          <a:bodyPr wrap="square" rtlCol="0" anchor="ctr"/>
          <a:lstStyle/>
          <a:p>
            <a:pPr indent="0" marL="0">
              <a:buNone/>
            </a:pPr>
            <a:r>
              <a:rPr lang="en-US" sz="1200" dirty="0">
                <a:solidFill>
                  <a:srgbClr val="CBD5E1"/>
                </a:solidFill>
              </a:rPr>
              <a:t>Lapsed members</a:t>
            </a:r>
            <a:endParaRPr lang="en-US" sz="1200" dirty="0"/>
          </a:p>
        </p:txBody>
      </p:sp>
      <p:sp>
        <p:nvSpPr>
          <p:cNvPr id="23" name="Shape 21"/>
          <p:cNvSpPr/>
          <p:nvPr/>
        </p:nvSpPr>
        <p:spPr>
          <a:xfrm>
            <a:off x="3931920" y="3017520"/>
            <a:ext cx="640080" cy="27432"/>
          </a:xfrm>
          <a:prstGeom prst="rect">
            <a:avLst/>
          </a:prstGeom>
          <a:solidFill>
            <a:srgbClr val="64748B"/>
          </a:solidFill>
          <a:ln w="12700">
            <a:solidFill>
              <a:srgbClr val="000000"/>
            </a:solidFill>
            <a:prstDash val="solid"/>
          </a:ln>
        </p:spPr>
      </p:sp>
      <p:sp>
        <p:nvSpPr>
          <p:cNvPr id="24" name="Text 22"/>
          <p:cNvSpPr/>
          <p:nvPr/>
        </p:nvSpPr>
        <p:spPr>
          <a:xfrm>
            <a:off x="411480" y="4663440"/>
            <a:ext cx="8321040" cy="365760"/>
          </a:xfrm>
          <a:prstGeom prst="rect">
            <a:avLst/>
          </a:prstGeom>
          <a:noFill/>
          <a:ln/>
        </p:spPr>
        <p:txBody>
          <a:bodyPr wrap="square" rtlCol="0" anchor="ctr"/>
          <a:lstStyle/>
          <a:p>
            <a:pPr algn="ctr" indent="0" marL="0">
              <a:buNone/>
            </a:pPr>
            <a:r>
              <a:rPr lang="en-US" sz="1050" i="1" dirty="0">
                <a:solidFill>
                  <a:srgbClr val="64748B"/>
                </a:solidFill>
              </a:rPr>
              <a:t>The average HVAC company has 1,200–4,000 contacts in their CRM.</a:t>
            </a:r>
            <a:endParaRPr lang="en-US" sz="1050" dirty="0"/>
          </a:p>
          <a:p>
            <a:pPr algn="ctr" indent="0" marL="0">
              <a:buNone/>
            </a:pPr>
            <a:r>
              <a:rPr lang="en-US" sz="1050" i="1" dirty="0">
                <a:solidFill>
                  <a:srgbClr val="64748B"/>
                </a:solidFill>
              </a:rPr>
              <a:t>Fewer than 15% are actively monetized.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COST OF INACTION</a:t>
            </a:r>
            <a:endParaRPr lang="en-US" sz="800" dirty="0"/>
          </a:p>
        </p:txBody>
      </p:sp>
      <p:sp>
        <p:nvSpPr>
          <p:cNvPr id="4" name="Text 2"/>
          <p:cNvSpPr/>
          <p:nvPr/>
        </p:nvSpPr>
        <p:spPr>
          <a:xfrm>
            <a:off x="411480" y="530352"/>
            <a:ext cx="8321040" cy="960120"/>
          </a:xfrm>
          <a:prstGeom prst="rect">
            <a:avLst/>
          </a:prstGeom>
          <a:noFill/>
          <a:ln/>
        </p:spPr>
        <p:txBody>
          <a:bodyPr wrap="square" rtlCol="0" anchor="ctr"/>
          <a:lstStyle/>
          <a:p>
            <a:pPr indent="0" marL="0">
              <a:buNone/>
            </a:pPr>
            <a:r>
              <a:rPr lang="en-US" sz="3000" b="1" dirty="0">
                <a:solidFill>
                  <a:srgbClr val="FFFFFF"/>
                </a:solidFill>
              </a:rPr>
              <a:t>What Doing Nothing</a:t>
            </a:r>
            <a:endParaRPr lang="en-US" sz="3000" dirty="0"/>
          </a:p>
          <a:p>
            <a:pPr indent="0" marL="0">
              <a:buNone/>
            </a:pPr>
            <a:r>
              <a:rPr lang="en-US" sz="3000" b="1" dirty="0">
                <a:solidFill>
                  <a:srgbClr val="FFFFFF"/>
                </a:solidFill>
              </a:rPr>
              <a:t>Actually Costs You</a:t>
            </a:r>
            <a:endParaRPr lang="en-US" sz="3000" dirty="0"/>
          </a:p>
        </p:txBody>
      </p:sp>
      <p:graphicFrame>
        <p:nvGraphicFramePr>
          <p:cNvPr id="5" name="Chart 0" descr=""/>
          <p:cNvGraphicFramePr/>
          <p:nvPr/>
        </p:nvGraphicFramePr>
        <p:xfrm>
          <a:off x="411480" y="1554480"/>
          <a:ext cx="530352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89320" y="1600200"/>
            <a:ext cx="2743200" cy="96012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7" name="Shape 4"/>
          <p:cNvSpPr/>
          <p:nvPr/>
        </p:nvSpPr>
        <p:spPr>
          <a:xfrm>
            <a:off x="5989320" y="1600200"/>
            <a:ext cx="54864" cy="960120"/>
          </a:xfrm>
          <a:prstGeom prst="rect">
            <a:avLst/>
          </a:prstGeom>
          <a:solidFill>
            <a:srgbClr val="EF233C"/>
          </a:solidFill>
          <a:ln w="12700">
            <a:solidFill>
              <a:srgbClr val="000000"/>
            </a:solidFill>
            <a:prstDash val="solid"/>
          </a:ln>
        </p:spPr>
      </p:sp>
      <p:sp>
        <p:nvSpPr>
          <p:cNvPr id="8" name="Text 5"/>
          <p:cNvSpPr/>
          <p:nvPr/>
        </p:nvSpPr>
        <p:spPr>
          <a:xfrm>
            <a:off x="6172200" y="1691640"/>
            <a:ext cx="2560320" cy="384048"/>
          </a:xfrm>
          <a:prstGeom prst="rect">
            <a:avLst/>
          </a:prstGeom>
          <a:noFill/>
          <a:ln/>
        </p:spPr>
        <p:txBody>
          <a:bodyPr wrap="square" rtlCol="0" anchor="ctr"/>
          <a:lstStyle/>
          <a:p>
            <a:pPr indent="0" marL="0">
              <a:buNone/>
            </a:pPr>
            <a:r>
              <a:rPr lang="en-US" sz="2100" b="1" dirty="0">
                <a:solidFill>
                  <a:srgbClr val="EF233C"/>
                </a:solidFill>
              </a:rPr>
              <a:t>$47,000+</a:t>
            </a:r>
            <a:endParaRPr lang="en-US" sz="2100" dirty="0"/>
          </a:p>
        </p:txBody>
      </p:sp>
      <p:sp>
        <p:nvSpPr>
          <p:cNvPr id="9" name="Text 6"/>
          <p:cNvSpPr/>
          <p:nvPr/>
        </p:nvSpPr>
        <p:spPr>
          <a:xfrm>
            <a:off x="6172200" y="2103120"/>
            <a:ext cx="2560320" cy="365760"/>
          </a:xfrm>
          <a:prstGeom prst="rect">
            <a:avLst/>
          </a:prstGeom>
          <a:noFill/>
          <a:ln/>
        </p:spPr>
        <p:txBody>
          <a:bodyPr wrap="square" rtlCol="0" anchor="ctr"/>
          <a:lstStyle/>
          <a:p>
            <a:pPr indent="0" marL="0">
              <a:buNone/>
            </a:pPr>
            <a:r>
              <a:rPr lang="en-US" sz="950" dirty="0">
                <a:solidFill>
                  <a:srgbClr val="CBD5E1"/>
                </a:solidFill>
              </a:rPr>
              <a:t>Average annual lost revenue</a:t>
            </a:r>
            <a:endParaRPr lang="en-US" sz="950" dirty="0"/>
          </a:p>
          <a:p>
            <a:pPr indent="0" marL="0">
              <a:buNone/>
            </a:pPr>
            <a:r>
              <a:rPr lang="en-US" sz="950" dirty="0">
                <a:solidFill>
                  <a:srgbClr val="CBD5E1"/>
                </a:solidFill>
              </a:rPr>
              <a:t>for a $1M HVAC company</a:t>
            </a:r>
            <a:endParaRPr lang="en-US" sz="950" dirty="0"/>
          </a:p>
        </p:txBody>
      </p:sp>
      <p:sp>
        <p:nvSpPr>
          <p:cNvPr id="10" name="Shape 7"/>
          <p:cNvSpPr/>
          <p:nvPr/>
        </p:nvSpPr>
        <p:spPr>
          <a:xfrm>
            <a:off x="5989320" y="2715768"/>
            <a:ext cx="2743200" cy="96012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5989320" y="2715768"/>
            <a:ext cx="54864" cy="960120"/>
          </a:xfrm>
          <a:prstGeom prst="rect">
            <a:avLst/>
          </a:prstGeom>
          <a:solidFill>
            <a:srgbClr val="FF9F1C"/>
          </a:solidFill>
          <a:ln w="12700">
            <a:solidFill>
              <a:srgbClr val="000000"/>
            </a:solidFill>
            <a:prstDash val="solid"/>
          </a:ln>
        </p:spPr>
      </p:sp>
      <p:sp>
        <p:nvSpPr>
          <p:cNvPr id="12" name="Text 9"/>
          <p:cNvSpPr/>
          <p:nvPr/>
        </p:nvSpPr>
        <p:spPr>
          <a:xfrm>
            <a:off x="6172200" y="2807208"/>
            <a:ext cx="2560320" cy="384048"/>
          </a:xfrm>
          <a:prstGeom prst="rect">
            <a:avLst/>
          </a:prstGeom>
          <a:noFill/>
          <a:ln/>
        </p:spPr>
        <p:txBody>
          <a:bodyPr wrap="square" rtlCol="0" anchor="ctr"/>
          <a:lstStyle/>
          <a:p>
            <a:pPr indent="0" marL="0">
              <a:buNone/>
            </a:pPr>
            <a:r>
              <a:rPr lang="en-US" sz="2100" b="1" dirty="0">
                <a:solidFill>
                  <a:srgbClr val="FF9F1C"/>
                </a:solidFill>
              </a:rPr>
              <a:t>3–5 Years</a:t>
            </a:r>
            <a:endParaRPr lang="en-US" sz="2100" dirty="0"/>
          </a:p>
        </p:txBody>
      </p:sp>
      <p:sp>
        <p:nvSpPr>
          <p:cNvPr id="13" name="Text 10"/>
          <p:cNvSpPr/>
          <p:nvPr/>
        </p:nvSpPr>
        <p:spPr>
          <a:xfrm>
            <a:off x="6172200" y="3218688"/>
            <a:ext cx="2560320" cy="365760"/>
          </a:xfrm>
          <a:prstGeom prst="rect">
            <a:avLst/>
          </a:prstGeom>
          <a:noFill/>
          <a:ln/>
        </p:spPr>
        <p:txBody>
          <a:bodyPr wrap="square" rtlCol="0" anchor="ctr"/>
          <a:lstStyle/>
          <a:p>
            <a:pPr indent="0" marL="0">
              <a:buNone/>
            </a:pPr>
            <a:r>
              <a:rPr lang="en-US" sz="950" dirty="0">
                <a:solidFill>
                  <a:srgbClr val="CBD5E1"/>
                </a:solidFill>
              </a:rPr>
              <a:t>Revenue gap compounds</a:t>
            </a:r>
            <a:endParaRPr lang="en-US" sz="950" dirty="0"/>
          </a:p>
          <a:p>
            <a:pPr indent="0" marL="0">
              <a:buNone/>
            </a:pPr>
            <a:r>
              <a:rPr lang="en-US" sz="950" dirty="0">
                <a:solidFill>
                  <a:srgbClr val="CBD5E1"/>
                </a:solidFill>
              </a:rPr>
              <a:t>without lifecycle systems</a:t>
            </a:r>
            <a:endParaRPr lang="en-US" sz="950" dirty="0"/>
          </a:p>
        </p:txBody>
      </p:sp>
      <p:sp>
        <p:nvSpPr>
          <p:cNvPr id="14" name="Shape 11"/>
          <p:cNvSpPr/>
          <p:nvPr/>
        </p:nvSpPr>
        <p:spPr>
          <a:xfrm>
            <a:off x="5989320" y="3831336"/>
            <a:ext cx="2743200" cy="96012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5" name="Shape 12"/>
          <p:cNvSpPr/>
          <p:nvPr/>
        </p:nvSpPr>
        <p:spPr>
          <a:xfrm>
            <a:off x="5989320" y="3831336"/>
            <a:ext cx="54864" cy="960120"/>
          </a:xfrm>
          <a:prstGeom prst="rect">
            <a:avLst/>
          </a:prstGeom>
          <a:solidFill>
            <a:srgbClr val="EF233C"/>
          </a:solidFill>
          <a:ln w="12700">
            <a:solidFill>
              <a:srgbClr val="000000"/>
            </a:solidFill>
            <a:prstDash val="solid"/>
          </a:ln>
        </p:spPr>
      </p:sp>
      <p:sp>
        <p:nvSpPr>
          <p:cNvPr id="16" name="Text 13"/>
          <p:cNvSpPr/>
          <p:nvPr/>
        </p:nvSpPr>
        <p:spPr>
          <a:xfrm>
            <a:off x="6172200" y="3922776"/>
            <a:ext cx="2560320" cy="384048"/>
          </a:xfrm>
          <a:prstGeom prst="rect">
            <a:avLst/>
          </a:prstGeom>
          <a:noFill/>
          <a:ln/>
        </p:spPr>
        <p:txBody>
          <a:bodyPr wrap="square" rtlCol="0" anchor="ctr"/>
          <a:lstStyle/>
          <a:p>
            <a:pPr indent="0" marL="0">
              <a:buNone/>
            </a:pPr>
            <a:r>
              <a:rPr lang="en-US" sz="2100" b="1" dirty="0">
                <a:solidFill>
                  <a:srgbClr val="EF233C"/>
                </a:solidFill>
              </a:rPr>
              <a:t>$280K+</a:t>
            </a:r>
            <a:endParaRPr lang="en-US" sz="2100" dirty="0"/>
          </a:p>
        </p:txBody>
      </p:sp>
      <p:sp>
        <p:nvSpPr>
          <p:cNvPr id="17" name="Text 14"/>
          <p:cNvSpPr/>
          <p:nvPr/>
        </p:nvSpPr>
        <p:spPr>
          <a:xfrm>
            <a:off x="6172200" y="4334256"/>
            <a:ext cx="2560320" cy="365760"/>
          </a:xfrm>
          <a:prstGeom prst="rect">
            <a:avLst/>
          </a:prstGeom>
          <a:noFill/>
          <a:ln/>
        </p:spPr>
        <p:txBody>
          <a:bodyPr wrap="square" rtlCol="0" anchor="ctr"/>
          <a:lstStyle/>
          <a:p>
            <a:pPr indent="0" marL="0">
              <a:buNone/>
            </a:pPr>
            <a:r>
              <a:rPr lang="en-US" sz="950" dirty="0">
                <a:solidFill>
                  <a:srgbClr val="CBD5E1"/>
                </a:solidFill>
              </a:rPr>
              <a:t>Lifetime value left on table</a:t>
            </a:r>
            <a:endParaRPr lang="en-US" sz="950" dirty="0"/>
          </a:p>
          <a:p>
            <a:pPr indent="0" marL="0">
              <a:buNone/>
            </a:pPr>
            <a:r>
              <a:rPr lang="en-US" sz="950" dirty="0">
                <a:solidFill>
                  <a:srgbClr val="CBD5E1"/>
                </a:solidFill>
              </a:rPr>
              <a:t>over a 6-year window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INDUSTRY PROBLEM</a:t>
            </a:r>
            <a:endParaRPr lang="en-US" sz="800" dirty="0"/>
          </a:p>
        </p:txBody>
      </p:sp>
      <p:sp>
        <p:nvSpPr>
          <p:cNvPr id="4" name="Text 2"/>
          <p:cNvSpPr/>
          <p:nvPr/>
        </p:nvSpPr>
        <p:spPr>
          <a:xfrm>
            <a:off x="411480" y="530352"/>
            <a:ext cx="8321040" cy="960120"/>
          </a:xfrm>
          <a:prstGeom prst="rect">
            <a:avLst/>
          </a:prstGeom>
          <a:noFill/>
          <a:ln/>
        </p:spPr>
        <p:txBody>
          <a:bodyPr wrap="square" rtlCol="0" anchor="ctr"/>
          <a:lstStyle/>
          <a:p>
            <a:pPr indent="0" marL="0">
              <a:buNone/>
            </a:pPr>
            <a:r>
              <a:rPr lang="en-US" sz="2800" b="1" dirty="0">
                <a:solidFill>
                  <a:srgbClr val="FFFFFF"/>
                </a:solidFill>
              </a:rPr>
              <a:t>Why Traditional Marketing</a:t>
            </a:r>
            <a:endParaRPr lang="en-US" sz="2800" dirty="0"/>
          </a:p>
          <a:p>
            <a:pPr indent="0" marL="0">
              <a:buNone/>
            </a:pPr>
            <a:r>
              <a:rPr lang="en-US" sz="2800" b="1" dirty="0">
                <a:solidFill>
                  <a:srgbClr val="FFFFFF"/>
                </a:solidFill>
              </a:rPr>
              <a:t>Agencies Won't Fix This</a:t>
            </a:r>
            <a:endParaRPr lang="en-US" sz="2800" dirty="0"/>
          </a:p>
        </p:txBody>
      </p:sp>
      <p:sp>
        <p:nvSpPr>
          <p:cNvPr id="5" name="Shape 3"/>
          <p:cNvSpPr/>
          <p:nvPr/>
        </p:nvSpPr>
        <p:spPr>
          <a:xfrm>
            <a:off x="411480" y="1600200"/>
            <a:ext cx="3977640" cy="32004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411480" y="1600200"/>
            <a:ext cx="3977640" cy="384048"/>
          </a:xfrm>
          <a:prstGeom prst="rect">
            <a:avLst/>
          </a:prstGeom>
          <a:solidFill>
            <a:srgbClr val="EF233C">
              <a:alpha val="20000"/>
            </a:srgbClr>
          </a:solidFill>
          <a:ln w="12700">
            <a:solidFill>
              <a:srgbClr val="000000"/>
            </a:solidFill>
            <a:prstDash val="solid"/>
          </a:ln>
        </p:spPr>
      </p:sp>
      <p:sp>
        <p:nvSpPr>
          <p:cNvPr id="7" name="Text 5"/>
          <p:cNvSpPr/>
          <p:nvPr/>
        </p:nvSpPr>
        <p:spPr>
          <a:xfrm>
            <a:off x="548640" y="1627632"/>
            <a:ext cx="3703320" cy="329184"/>
          </a:xfrm>
          <a:prstGeom prst="rect">
            <a:avLst/>
          </a:prstGeom>
          <a:noFill/>
          <a:ln/>
        </p:spPr>
        <p:txBody>
          <a:bodyPr wrap="square" rtlCol="0" anchor="ctr"/>
          <a:lstStyle/>
          <a:p>
            <a:pPr indent="0" marL="0">
              <a:buNone/>
            </a:pPr>
            <a:r>
              <a:rPr lang="en-US" sz="1200" b="1" dirty="0">
                <a:solidFill>
                  <a:srgbClr val="EF233C"/>
                </a:solidFill>
              </a:rPr>
              <a:t>What Agencies Focus On</a:t>
            </a:r>
            <a:endParaRPr lang="en-US" sz="1200" dirty="0"/>
          </a:p>
        </p:txBody>
      </p:sp>
      <p:sp>
        <p:nvSpPr>
          <p:cNvPr id="8" name="Text 6"/>
          <p:cNvSpPr/>
          <p:nvPr/>
        </p:nvSpPr>
        <p:spPr>
          <a:xfrm>
            <a:off x="576072" y="2103120"/>
            <a:ext cx="3611880" cy="384048"/>
          </a:xfrm>
          <a:prstGeom prst="rect">
            <a:avLst/>
          </a:prstGeom>
          <a:noFill/>
          <a:ln/>
        </p:spPr>
        <p:txBody>
          <a:bodyPr wrap="square" rtlCol="0" anchor="ctr"/>
          <a:lstStyle/>
          <a:p>
            <a:pPr indent="0" marL="0">
              <a:buNone/>
            </a:pPr>
            <a:r>
              <a:rPr lang="en-US" sz="1100" dirty="0">
                <a:solidFill>
                  <a:srgbClr val="CBD5E1"/>
                </a:solidFill>
              </a:rPr>
              <a:t>✗  Paid ads &amp; new lead gen</a:t>
            </a:r>
            <a:endParaRPr lang="en-US" sz="1100" dirty="0"/>
          </a:p>
        </p:txBody>
      </p:sp>
      <p:sp>
        <p:nvSpPr>
          <p:cNvPr id="9" name="Text 7"/>
          <p:cNvSpPr/>
          <p:nvPr/>
        </p:nvSpPr>
        <p:spPr>
          <a:xfrm>
            <a:off x="576072" y="2606040"/>
            <a:ext cx="3611880" cy="384048"/>
          </a:xfrm>
          <a:prstGeom prst="rect">
            <a:avLst/>
          </a:prstGeom>
          <a:noFill/>
          <a:ln/>
        </p:spPr>
        <p:txBody>
          <a:bodyPr wrap="square" rtlCol="0" anchor="ctr"/>
          <a:lstStyle/>
          <a:p>
            <a:pPr indent="0" marL="0">
              <a:buNone/>
            </a:pPr>
            <a:r>
              <a:rPr lang="en-US" sz="1100" dirty="0">
                <a:solidFill>
                  <a:srgbClr val="CBD5E1"/>
                </a:solidFill>
              </a:rPr>
              <a:t>✗  SEO and website traffic</a:t>
            </a:r>
            <a:endParaRPr lang="en-US" sz="1100" dirty="0"/>
          </a:p>
        </p:txBody>
      </p:sp>
      <p:sp>
        <p:nvSpPr>
          <p:cNvPr id="10" name="Text 8"/>
          <p:cNvSpPr/>
          <p:nvPr/>
        </p:nvSpPr>
        <p:spPr>
          <a:xfrm>
            <a:off x="576072" y="3108960"/>
            <a:ext cx="3611880" cy="384048"/>
          </a:xfrm>
          <a:prstGeom prst="rect">
            <a:avLst/>
          </a:prstGeom>
          <a:noFill/>
          <a:ln/>
        </p:spPr>
        <p:txBody>
          <a:bodyPr wrap="square" rtlCol="0" anchor="ctr"/>
          <a:lstStyle/>
          <a:p>
            <a:pPr indent="0" marL="0">
              <a:buNone/>
            </a:pPr>
            <a:r>
              <a:rPr lang="en-US" sz="1100" dirty="0">
                <a:solidFill>
                  <a:srgbClr val="CBD5E1"/>
                </a:solidFill>
              </a:rPr>
              <a:t>✗  Social media content</a:t>
            </a:r>
            <a:endParaRPr lang="en-US" sz="1100" dirty="0"/>
          </a:p>
        </p:txBody>
      </p:sp>
      <p:sp>
        <p:nvSpPr>
          <p:cNvPr id="11" name="Text 9"/>
          <p:cNvSpPr/>
          <p:nvPr/>
        </p:nvSpPr>
        <p:spPr>
          <a:xfrm>
            <a:off x="576072" y="3611880"/>
            <a:ext cx="3611880" cy="384048"/>
          </a:xfrm>
          <a:prstGeom prst="rect">
            <a:avLst/>
          </a:prstGeom>
          <a:noFill/>
          <a:ln/>
        </p:spPr>
        <p:txBody>
          <a:bodyPr wrap="square" rtlCol="0" anchor="ctr"/>
          <a:lstStyle/>
          <a:p>
            <a:pPr indent="0" marL="0">
              <a:buNone/>
            </a:pPr>
            <a:r>
              <a:rPr lang="en-US" sz="1100" dirty="0">
                <a:solidFill>
                  <a:srgbClr val="CBD5E1"/>
                </a:solidFill>
              </a:rPr>
              <a:t>✗  Brand awareness campaigns</a:t>
            </a:r>
            <a:endParaRPr lang="en-US" sz="1100" dirty="0"/>
          </a:p>
        </p:txBody>
      </p:sp>
      <p:sp>
        <p:nvSpPr>
          <p:cNvPr id="12" name="Text 10"/>
          <p:cNvSpPr/>
          <p:nvPr/>
        </p:nvSpPr>
        <p:spPr>
          <a:xfrm>
            <a:off x="576072" y="4114800"/>
            <a:ext cx="3611880" cy="384048"/>
          </a:xfrm>
          <a:prstGeom prst="rect">
            <a:avLst/>
          </a:prstGeom>
          <a:noFill/>
          <a:ln/>
        </p:spPr>
        <p:txBody>
          <a:bodyPr wrap="square" rtlCol="0" anchor="ctr"/>
          <a:lstStyle/>
          <a:p>
            <a:pPr indent="0" marL="0">
              <a:buNone/>
            </a:pPr>
            <a:r>
              <a:rPr lang="en-US" sz="1100" dirty="0">
                <a:solidFill>
                  <a:srgbClr val="CBD5E1"/>
                </a:solidFill>
              </a:rPr>
              <a:t>✗  Monthly reporting on clicks</a:t>
            </a:r>
            <a:endParaRPr lang="en-US" sz="1100" dirty="0"/>
          </a:p>
        </p:txBody>
      </p:sp>
      <p:sp>
        <p:nvSpPr>
          <p:cNvPr id="13" name="Shape 11"/>
          <p:cNvSpPr/>
          <p:nvPr/>
        </p:nvSpPr>
        <p:spPr>
          <a:xfrm>
            <a:off x="4846320" y="1600200"/>
            <a:ext cx="3977640" cy="32004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846320" y="1600200"/>
            <a:ext cx="3977640" cy="384048"/>
          </a:xfrm>
          <a:prstGeom prst="rect">
            <a:avLst/>
          </a:prstGeom>
          <a:solidFill>
            <a:srgbClr val="06D6A0">
              <a:alpha val="25000"/>
            </a:srgbClr>
          </a:solidFill>
          <a:ln w="12700">
            <a:solidFill>
              <a:srgbClr val="000000"/>
            </a:solidFill>
            <a:prstDash val="solid"/>
          </a:ln>
        </p:spPr>
      </p:sp>
      <p:sp>
        <p:nvSpPr>
          <p:cNvPr id="15" name="Text 13"/>
          <p:cNvSpPr/>
          <p:nvPr/>
        </p:nvSpPr>
        <p:spPr>
          <a:xfrm>
            <a:off x="4983480" y="1627632"/>
            <a:ext cx="3703320" cy="329184"/>
          </a:xfrm>
          <a:prstGeom prst="rect">
            <a:avLst/>
          </a:prstGeom>
          <a:noFill/>
          <a:ln/>
        </p:spPr>
        <p:txBody>
          <a:bodyPr wrap="square" rtlCol="0" anchor="ctr"/>
          <a:lstStyle/>
          <a:p>
            <a:pPr indent="0" marL="0">
              <a:buNone/>
            </a:pPr>
            <a:r>
              <a:rPr lang="en-US" sz="1200" b="1" dirty="0">
                <a:solidFill>
                  <a:srgbClr val="06D6A0"/>
                </a:solidFill>
              </a:rPr>
              <a:t>What Your Business Needs</a:t>
            </a:r>
            <a:endParaRPr lang="en-US" sz="1200" dirty="0"/>
          </a:p>
        </p:txBody>
      </p:sp>
      <p:sp>
        <p:nvSpPr>
          <p:cNvPr id="16" name="Text 14"/>
          <p:cNvSpPr/>
          <p:nvPr/>
        </p:nvSpPr>
        <p:spPr>
          <a:xfrm>
            <a:off x="5010912" y="2103120"/>
            <a:ext cx="3611880" cy="384048"/>
          </a:xfrm>
          <a:prstGeom prst="rect">
            <a:avLst/>
          </a:prstGeom>
          <a:noFill/>
          <a:ln/>
        </p:spPr>
        <p:txBody>
          <a:bodyPr wrap="square" rtlCol="0" anchor="ctr"/>
          <a:lstStyle/>
          <a:p>
            <a:pPr indent="0" marL="0">
              <a:buNone/>
            </a:pPr>
            <a:r>
              <a:rPr lang="en-US" sz="1100" dirty="0">
                <a:solidFill>
                  <a:srgbClr val="F0F4F8"/>
                </a:solidFill>
              </a:rPr>
              <a:t>✓  Following up on existing leads</a:t>
            </a:r>
            <a:endParaRPr lang="en-US" sz="1100" dirty="0"/>
          </a:p>
        </p:txBody>
      </p:sp>
      <p:sp>
        <p:nvSpPr>
          <p:cNvPr id="17" name="Text 15"/>
          <p:cNvSpPr/>
          <p:nvPr/>
        </p:nvSpPr>
        <p:spPr>
          <a:xfrm>
            <a:off x="5010912" y="2606040"/>
            <a:ext cx="3611880" cy="384048"/>
          </a:xfrm>
          <a:prstGeom prst="rect">
            <a:avLst/>
          </a:prstGeom>
          <a:noFill/>
          <a:ln/>
        </p:spPr>
        <p:txBody>
          <a:bodyPr wrap="square" rtlCol="0" anchor="ctr"/>
          <a:lstStyle/>
          <a:p>
            <a:pPr indent="0" marL="0">
              <a:buNone/>
            </a:pPr>
            <a:r>
              <a:rPr lang="en-US" sz="1100" dirty="0">
                <a:solidFill>
                  <a:srgbClr val="F0F4F8"/>
                </a:solidFill>
              </a:rPr>
              <a:t>✓  Reactivating dormant customers</a:t>
            </a:r>
            <a:endParaRPr lang="en-US" sz="1100" dirty="0"/>
          </a:p>
        </p:txBody>
      </p:sp>
      <p:sp>
        <p:nvSpPr>
          <p:cNvPr id="18" name="Text 16"/>
          <p:cNvSpPr/>
          <p:nvPr/>
        </p:nvSpPr>
        <p:spPr>
          <a:xfrm>
            <a:off x="5010912" y="3108960"/>
            <a:ext cx="3611880" cy="384048"/>
          </a:xfrm>
          <a:prstGeom prst="rect">
            <a:avLst/>
          </a:prstGeom>
          <a:noFill/>
          <a:ln/>
        </p:spPr>
        <p:txBody>
          <a:bodyPr wrap="square" rtlCol="0" anchor="ctr"/>
          <a:lstStyle/>
          <a:p>
            <a:pPr indent="0" marL="0">
              <a:buNone/>
            </a:pPr>
            <a:r>
              <a:rPr lang="en-US" sz="1100" dirty="0">
                <a:solidFill>
                  <a:srgbClr val="F0F4F8"/>
                </a:solidFill>
              </a:rPr>
              <a:t>✓  Automating maintenance reminders</a:t>
            </a:r>
            <a:endParaRPr lang="en-US" sz="1100" dirty="0"/>
          </a:p>
        </p:txBody>
      </p:sp>
      <p:sp>
        <p:nvSpPr>
          <p:cNvPr id="19" name="Text 17"/>
          <p:cNvSpPr/>
          <p:nvPr/>
        </p:nvSpPr>
        <p:spPr>
          <a:xfrm>
            <a:off x="5010912" y="3611880"/>
            <a:ext cx="3611880" cy="384048"/>
          </a:xfrm>
          <a:prstGeom prst="rect">
            <a:avLst/>
          </a:prstGeom>
          <a:noFill/>
          <a:ln/>
        </p:spPr>
        <p:txBody>
          <a:bodyPr wrap="square" rtlCol="0" anchor="ctr"/>
          <a:lstStyle/>
          <a:p>
            <a:pPr indent="0" marL="0">
              <a:buNone/>
            </a:pPr>
            <a:r>
              <a:rPr lang="en-US" sz="1100" dirty="0">
                <a:solidFill>
                  <a:srgbClr val="F0F4F8"/>
                </a:solidFill>
              </a:rPr>
              <a:t>✓  Collecting reviews at the right time</a:t>
            </a:r>
            <a:endParaRPr lang="en-US" sz="1100" dirty="0"/>
          </a:p>
        </p:txBody>
      </p:sp>
      <p:sp>
        <p:nvSpPr>
          <p:cNvPr id="20" name="Text 18"/>
          <p:cNvSpPr/>
          <p:nvPr/>
        </p:nvSpPr>
        <p:spPr>
          <a:xfrm>
            <a:off x="5010912" y="4114800"/>
            <a:ext cx="3611880" cy="384048"/>
          </a:xfrm>
          <a:prstGeom prst="rect">
            <a:avLst/>
          </a:prstGeom>
          <a:noFill/>
          <a:ln/>
        </p:spPr>
        <p:txBody>
          <a:bodyPr wrap="square" rtlCol="0" anchor="ctr"/>
          <a:lstStyle/>
          <a:p>
            <a:pPr indent="0" marL="0">
              <a:buNone/>
            </a:pPr>
            <a:r>
              <a:rPr lang="en-US" sz="1100" dirty="0">
                <a:solidFill>
                  <a:srgbClr val="F0F4F8"/>
                </a:solidFill>
              </a:rPr>
              <a:t>✓  Closing the leaks in your pipeline</a:t>
            </a:r>
            <a:endParaRPr lang="en-US" sz="1100" dirty="0"/>
          </a:p>
        </p:txBody>
      </p:sp>
      <p:sp>
        <p:nvSpPr>
          <p:cNvPr id="21" name="Shape 19"/>
          <p:cNvSpPr/>
          <p:nvPr/>
        </p:nvSpPr>
        <p:spPr>
          <a:xfrm>
            <a:off x="4224528" y="2743200"/>
            <a:ext cx="694944" cy="694944"/>
          </a:xfrm>
          <a:prstGeom prst="oval">
            <a:avLst/>
          </a:prstGeom>
          <a:solidFill>
            <a:srgbClr val="112240"/>
          </a:solidFill>
          <a:ln w="12700">
            <a:solidFill>
              <a:srgbClr val="00B4D8"/>
            </a:solidFill>
            <a:prstDash val="solid"/>
          </a:ln>
        </p:spPr>
      </p:sp>
      <p:sp>
        <p:nvSpPr>
          <p:cNvPr id="22" name="Text 20"/>
          <p:cNvSpPr/>
          <p:nvPr/>
        </p:nvSpPr>
        <p:spPr>
          <a:xfrm>
            <a:off x="4224528" y="2743200"/>
            <a:ext cx="694944" cy="694944"/>
          </a:xfrm>
          <a:prstGeom prst="rect">
            <a:avLst/>
          </a:prstGeom>
          <a:noFill/>
          <a:ln/>
        </p:spPr>
        <p:txBody>
          <a:bodyPr wrap="square" rtlCol="0" anchor="ctr"/>
          <a:lstStyle/>
          <a:p>
            <a:pPr algn="ctr" indent="0" marL="0">
              <a:buNone/>
            </a:pPr>
            <a:r>
              <a:rPr lang="en-US" sz="1300" b="1" dirty="0">
                <a:solidFill>
                  <a:srgbClr val="00B4D8"/>
                </a:solidFill>
              </a:rPr>
              <a:t>VS</a:t>
            </a:r>
            <a:endParaRPr lang="en-US" sz="1300" dirty="0"/>
          </a:p>
        </p:txBody>
      </p:sp>
      <p:sp>
        <p:nvSpPr>
          <p:cNvPr id="23" name="Text 21"/>
          <p:cNvSpPr/>
          <p:nvPr/>
        </p:nvSpPr>
        <p:spPr>
          <a:xfrm>
            <a:off x="411480" y="4754880"/>
            <a:ext cx="8321040" cy="274320"/>
          </a:xfrm>
          <a:prstGeom prst="rect">
            <a:avLst/>
          </a:prstGeom>
          <a:noFill/>
          <a:ln/>
        </p:spPr>
        <p:txBody>
          <a:bodyPr wrap="square" rtlCol="0" anchor="ctr"/>
          <a:lstStyle/>
          <a:p>
            <a:pPr algn="ctr" indent="0" marL="0">
              <a:buNone/>
            </a:pPr>
            <a:r>
              <a:rPr lang="en-US" sz="1050" i="1" dirty="0">
                <a:solidFill>
                  <a:srgbClr val="64748B"/>
                </a:solidFill>
              </a:rPr>
              <a:t>Agencies solve the acquisition problem. Nobody is solving the retention and reactivation problem.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0077B6">
              <a:alpha val="15000"/>
            </a:srgbClr>
          </a:solidFill>
          <a:ln w="12700">
            <a:solidFill>
              <a:srgbClr val="000000"/>
            </a:solidFill>
            <a:prstDash val="solid"/>
          </a:ln>
        </p:spPr>
      </p:sp>
      <p:sp>
        <p:nvSpPr>
          <p:cNvPr id="3" name="Shape 1"/>
          <p:cNvSpPr/>
          <p:nvPr/>
        </p:nvSpPr>
        <p:spPr>
          <a:xfrm>
            <a:off x="0" y="1371600"/>
            <a:ext cx="9144000" cy="36576"/>
          </a:xfrm>
          <a:prstGeom prst="rect">
            <a:avLst/>
          </a:prstGeom>
          <a:solidFill>
            <a:srgbClr val="00B4D8"/>
          </a:solidFill>
          <a:ln w="12700">
            <a:solidFill>
              <a:srgbClr val="000000"/>
            </a:solidFill>
            <a:prstDash val="solid"/>
          </a:ln>
        </p:spPr>
      </p:sp>
      <p:sp>
        <p:nvSpPr>
          <p:cNvPr id="4" name="Shape 2"/>
          <p:cNvSpPr/>
          <p:nvPr/>
        </p:nvSpPr>
        <p:spPr>
          <a:xfrm>
            <a:off x="411480" y="256032"/>
            <a:ext cx="1463040" cy="237744"/>
          </a:xfrm>
          <a:prstGeom prst="rect">
            <a:avLst/>
          </a:prstGeom>
          <a:solidFill>
            <a:srgbClr val="00B4D8"/>
          </a:solidFill>
          <a:ln w="12700">
            <a:solidFill>
              <a:srgbClr val="00B4D8"/>
            </a:solidFill>
            <a:prstDash val="solid"/>
          </a:ln>
        </p:spPr>
      </p:sp>
      <p:sp>
        <p:nvSpPr>
          <p:cNvPr id="5" name="Text 3"/>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THE SOLUTION</a:t>
            </a:r>
            <a:endParaRPr lang="en-US" sz="800" dirty="0"/>
          </a:p>
        </p:txBody>
      </p:sp>
      <p:sp>
        <p:nvSpPr>
          <p:cNvPr id="6" name="Text 4"/>
          <p:cNvSpPr/>
          <p:nvPr/>
        </p:nvSpPr>
        <p:spPr>
          <a:xfrm>
            <a:off x="411480" y="548640"/>
            <a:ext cx="8321040" cy="822960"/>
          </a:xfrm>
          <a:prstGeom prst="rect">
            <a:avLst/>
          </a:prstGeom>
          <a:noFill/>
          <a:ln/>
        </p:spPr>
        <p:txBody>
          <a:bodyPr wrap="square" rtlCol="0" anchor="ctr"/>
          <a:lstStyle/>
          <a:p>
            <a:pPr indent="0" marL="0">
              <a:buNone/>
            </a:pPr>
            <a:r>
              <a:rPr lang="en-US" sz="2600" b="1" spc="50" kern="0" dirty="0">
                <a:solidFill>
                  <a:srgbClr val="FFFFFF"/>
                </a:solidFill>
              </a:rPr>
              <a:t>AI-Powered Revenue Recovery &amp;</a:t>
            </a:r>
            <a:endParaRPr lang="en-US" sz="2600" dirty="0"/>
          </a:p>
          <a:p>
            <a:pPr indent="0" marL="0">
              <a:buNone/>
            </a:pPr>
            <a:r>
              <a:rPr lang="en-US" sz="2600" b="1" spc="50" kern="0" dirty="0">
                <a:solidFill>
                  <a:srgbClr val="FFFFFF"/>
                </a:solidFill>
              </a:rPr>
              <a:t>Customer Lifecycle Infrastructure</a:t>
            </a:r>
            <a:endParaRPr lang="en-US" sz="2600" dirty="0"/>
          </a:p>
        </p:txBody>
      </p:sp>
      <p:sp>
        <p:nvSpPr>
          <p:cNvPr id="7" name="Text 5"/>
          <p:cNvSpPr/>
          <p:nvPr/>
        </p:nvSpPr>
        <p:spPr>
          <a:xfrm>
            <a:off x="411480" y="1508760"/>
            <a:ext cx="8321040" cy="384048"/>
          </a:xfrm>
          <a:prstGeom prst="rect">
            <a:avLst/>
          </a:prstGeom>
          <a:noFill/>
          <a:ln/>
        </p:spPr>
        <p:txBody>
          <a:bodyPr wrap="square" rtlCol="0" anchor="ctr"/>
          <a:lstStyle/>
          <a:p>
            <a:pPr indent="0" marL="0">
              <a:buNone/>
            </a:pPr>
            <a:r>
              <a:rPr lang="en-US" sz="1300" i="1" dirty="0">
                <a:solidFill>
                  <a:srgbClr val="CBD5E1"/>
                </a:solidFill>
              </a:rPr>
              <a:t>One system. Built for HVAC. Focused entirely on recovering and retaining revenue.</a:t>
            </a:r>
            <a:endParaRPr lang="en-US" sz="1300" dirty="0"/>
          </a:p>
        </p:txBody>
      </p:sp>
      <p:sp>
        <p:nvSpPr>
          <p:cNvPr id="8" name="Shape 6"/>
          <p:cNvSpPr/>
          <p:nvPr/>
        </p:nvSpPr>
        <p:spPr>
          <a:xfrm>
            <a:off x="411480" y="2057400"/>
            <a:ext cx="1965960" cy="26517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411480" y="2194560"/>
            <a:ext cx="19659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411480" y="2724912"/>
            <a:ext cx="1965960" cy="530352"/>
          </a:xfrm>
          <a:prstGeom prst="rect">
            <a:avLst/>
          </a:prstGeom>
          <a:noFill/>
          <a:ln/>
        </p:spPr>
        <p:txBody>
          <a:bodyPr wrap="square" rtlCol="0" anchor="ctr"/>
          <a:lstStyle/>
          <a:p>
            <a:pPr algn="ctr" indent="0" marL="0">
              <a:buNone/>
            </a:pPr>
            <a:r>
              <a:rPr lang="en-US" sz="1300" b="1" dirty="0">
                <a:solidFill>
                  <a:srgbClr val="00B4D8"/>
                </a:solidFill>
              </a:rPr>
              <a:t>Revenue</a:t>
            </a:r>
            <a:endParaRPr lang="en-US" sz="1300" dirty="0"/>
          </a:p>
          <a:p>
            <a:pPr algn="ctr" indent="0" marL="0">
              <a:buNone/>
            </a:pPr>
            <a:r>
              <a:rPr lang="en-US" sz="1300" b="1" dirty="0">
                <a:solidFill>
                  <a:srgbClr val="00B4D8"/>
                </a:solidFill>
              </a:rPr>
              <a:t>Recovery</a:t>
            </a:r>
            <a:endParaRPr lang="en-US" sz="1300" dirty="0"/>
          </a:p>
        </p:txBody>
      </p:sp>
      <p:sp>
        <p:nvSpPr>
          <p:cNvPr id="11" name="Text 9"/>
          <p:cNvSpPr/>
          <p:nvPr/>
        </p:nvSpPr>
        <p:spPr>
          <a:xfrm>
            <a:off x="521208" y="3291840"/>
            <a:ext cx="1746504" cy="1188720"/>
          </a:xfrm>
          <a:prstGeom prst="rect">
            <a:avLst/>
          </a:prstGeom>
          <a:noFill/>
          <a:ln/>
        </p:spPr>
        <p:txBody>
          <a:bodyPr wrap="square" rtlCol="0" anchor="ctr"/>
          <a:lstStyle/>
          <a:p>
            <a:pPr algn="ctr" indent="0" marL="0">
              <a:buNone/>
            </a:pPr>
            <a:r>
              <a:rPr lang="en-US" sz="950" dirty="0">
                <a:solidFill>
                  <a:srgbClr val="CBD5E1"/>
                </a:solidFill>
              </a:rPr>
              <a:t>Reactivate dormant leads, uncontacted estimates, and lapsed customers sitting in your CRM.</a:t>
            </a:r>
            <a:endParaRPr lang="en-US" sz="950" dirty="0"/>
          </a:p>
        </p:txBody>
      </p:sp>
      <p:sp>
        <p:nvSpPr>
          <p:cNvPr id="12" name="Shape 10"/>
          <p:cNvSpPr/>
          <p:nvPr/>
        </p:nvSpPr>
        <p:spPr>
          <a:xfrm>
            <a:off x="2560320" y="2057400"/>
            <a:ext cx="1965960" cy="26517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3" name="Text 11"/>
          <p:cNvSpPr/>
          <p:nvPr/>
        </p:nvSpPr>
        <p:spPr>
          <a:xfrm>
            <a:off x="2560320" y="2194560"/>
            <a:ext cx="19659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2560320" y="2724912"/>
            <a:ext cx="1965960" cy="530352"/>
          </a:xfrm>
          <a:prstGeom prst="rect">
            <a:avLst/>
          </a:prstGeom>
          <a:noFill/>
          <a:ln/>
        </p:spPr>
        <p:txBody>
          <a:bodyPr wrap="square" rtlCol="0" anchor="ctr"/>
          <a:lstStyle/>
          <a:p>
            <a:pPr algn="ctr" indent="0" marL="0">
              <a:buNone/>
            </a:pPr>
            <a:r>
              <a:rPr lang="en-US" sz="1300" b="1" dirty="0">
                <a:solidFill>
                  <a:srgbClr val="00B4D8"/>
                </a:solidFill>
              </a:rPr>
              <a:t>Lifecycle</a:t>
            </a:r>
            <a:endParaRPr lang="en-US" sz="1300" dirty="0"/>
          </a:p>
          <a:p>
            <a:pPr algn="ctr" indent="0" marL="0">
              <a:buNone/>
            </a:pPr>
            <a:r>
              <a:rPr lang="en-US" sz="1300" b="1" dirty="0">
                <a:solidFill>
                  <a:srgbClr val="00B4D8"/>
                </a:solidFill>
              </a:rPr>
              <a:t>Automation</a:t>
            </a:r>
            <a:endParaRPr lang="en-US" sz="1300" dirty="0"/>
          </a:p>
        </p:txBody>
      </p:sp>
      <p:sp>
        <p:nvSpPr>
          <p:cNvPr id="15" name="Text 13"/>
          <p:cNvSpPr/>
          <p:nvPr/>
        </p:nvSpPr>
        <p:spPr>
          <a:xfrm>
            <a:off x="2670048" y="3291840"/>
            <a:ext cx="1746504" cy="1188720"/>
          </a:xfrm>
          <a:prstGeom prst="rect">
            <a:avLst/>
          </a:prstGeom>
          <a:noFill/>
          <a:ln/>
        </p:spPr>
        <p:txBody>
          <a:bodyPr wrap="square" rtlCol="0" anchor="ctr"/>
          <a:lstStyle/>
          <a:p>
            <a:pPr algn="ctr" indent="0" marL="0">
              <a:buNone/>
            </a:pPr>
            <a:r>
              <a:rPr lang="en-US" sz="950" dirty="0">
                <a:solidFill>
                  <a:srgbClr val="CBD5E1"/>
                </a:solidFill>
              </a:rPr>
              <a:t>Trigger the right message at the right time — from first visit through annual maintenance.</a:t>
            </a:r>
            <a:endParaRPr lang="en-US" sz="950" dirty="0"/>
          </a:p>
        </p:txBody>
      </p:sp>
      <p:sp>
        <p:nvSpPr>
          <p:cNvPr id="16" name="Shape 14"/>
          <p:cNvSpPr/>
          <p:nvPr/>
        </p:nvSpPr>
        <p:spPr>
          <a:xfrm>
            <a:off x="4709160" y="2057400"/>
            <a:ext cx="1965960" cy="26517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7" name="Text 15"/>
          <p:cNvSpPr/>
          <p:nvPr/>
        </p:nvSpPr>
        <p:spPr>
          <a:xfrm>
            <a:off x="4709160" y="2194560"/>
            <a:ext cx="19659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4709160" y="2724912"/>
            <a:ext cx="1965960" cy="530352"/>
          </a:xfrm>
          <a:prstGeom prst="rect">
            <a:avLst/>
          </a:prstGeom>
          <a:noFill/>
          <a:ln/>
        </p:spPr>
        <p:txBody>
          <a:bodyPr wrap="square" rtlCol="0" anchor="ctr"/>
          <a:lstStyle/>
          <a:p>
            <a:pPr algn="ctr" indent="0" marL="0">
              <a:buNone/>
            </a:pPr>
            <a:r>
              <a:rPr lang="en-US" sz="1300" b="1" dirty="0">
                <a:solidFill>
                  <a:srgbClr val="00B4D8"/>
                </a:solidFill>
              </a:rPr>
              <a:t>Reputation</a:t>
            </a:r>
            <a:endParaRPr lang="en-US" sz="1300" dirty="0"/>
          </a:p>
          <a:p>
            <a:pPr algn="ctr" indent="0" marL="0">
              <a:buNone/>
            </a:pPr>
            <a:r>
              <a:rPr lang="en-US" sz="1300" b="1" dirty="0">
                <a:solidFill>
                  <a:srgbClr val="00B4D8"/>
                </a:solidFill>
              </a:rPr>
              <a:t>Amplification</a:t>
            </a:r>
            <a:endParaRPr lang="en-US" sz="1300" dirty="0"/>
          </a:p>
        </p:txBody>
      </p:sp>
      <p:sp>
        <p:nvSpPr>
          <p:cNvPr id="19" name="Text 17"/>
          <p:cNvSpPr/>
          <p:nvPr/>
        </p:nvSpPr>
        <p:spPr>
          <a:xfrm>
            <a:off x="4818888" y="3291840"/>
            <a:ext cx="1746504" cy="1188720"/>
          </a:xfrm>
          <a:prstGeom prst="rect">
            <a:avLst/>
          </a:prstGeom>
          <a:noFill/>
          <a:ln/>
        </p:spPr>
        <p:txBody>
          <a:bodyPr wrap="square" rtlCol="0" anchor="ctr"/>
          <a:lstStyle/>
          <a:p>
            <a:pPr algn="ctr" indent="0" marL="0">
              <a:buNone/>
            </a:pPr>
            <a:r>
              <a:rPr lang="en-US" sz="950" dirty="0">
                <a:solidFill>
                  <a:srgbClr val="CBD5E1"/>
                </a:solidFill>
              </a:rPr>
              <a:t>Automate review collection, Google profile optimization, and referral systems.</a:t>
            </a:r>
            <a:endParaRPr lang="en-US" sz="950" dirty="0"/>
          </a:p>
        </p:txBody>
      </p:sp>
      <p:sp>
        <p:nvSpPr>
          <p:cNvPr id="20" name="Shape 18"/>
          <p:cNvSpPr/>
          <p:nvPr/>
        </p:nvSpPr>
        <p:spPr>
          <a:xfrm>
            <a:off x="6858000" y="2057400"/>
            <a:ext cx="1965960" cy="26517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1" name="Text 19"/>
          <p:cNvSpPr/>
          <p:nvPr/>
        </p:nvSpPr>
        <p:spPr>
          <a:xfrm>
            <a:off x="6858000" y="2194560"/>
            <a:ext cx="19659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2" name="Text 20"/>
          <p:cNvSpPr/>
          <p:nvPr/>
        </p:nvSpPr>
        <p:spPr>
          <a:xfrm>
            <a:off x="6858000" y="2724912"/>
            <a:ext cx="1965960" cy="530352"/>
          </a:xfrm>
          <a:prstGeom prst="rect">
            <a:avLst/>
          </a:prstGeom>
          <a:noFill/>
          <a:ln/>
        </p:spPr>
        <p:txBody>
          <a:bodyPr wrap="square" rtlCol="0" anchor="ctr"/>
          <a:lstStyle/>
          <a:p>
            <a:pPr algn="ctr" indent="0" marL="0">
              <a:buNone/>
            </a:pPr>
            <a:r>
              <a:rPr lang="en-US" sz="1300" b="1" dirty="0">
                <a:solidFill>
                  <a:srgbClr val="00B4D8"/>
                </a:solidFill>
              </a:rPr>
              <a:t>Performance</a:t>
            </a:r>
            <a:endParaRPr lang="en-US" sz="1300" dirty="0"/>
          </a:p>
          <a:p>
            <a:pPr algn="ctr" indent="0" marL="0">
              <a:buNone/>
            </a:pPr>
            <a:r>
              <a:rPr lang="en-US" sz="1300" b="1" dirty="0">
                <a:solidFill>
                  <a:srgbClr val="00B4D8"/>
                </a:solidFill>
              </a:rPr>
              <a:t>Intelligence</a:t>
            </a:r>
            <a:endParaRPr lang="en-US" sz="1300" dirty="0"/>
          </a:p>
        </p:txBody>
      </p:sp>
      <p:sp>
        <p:nvSpPr>
          <p:cNvPr id="23" name="Text 21"/>
          <p:cNvSpPr/>
          <p:nvPr/>
        </p:nvSpPr>
        <p:spPr>
          <a:xfrm>
            <a:off x="6967728" y="3291840"/>
            <a:ext cx="1746504" cy="1188720"/>
          </a:xfrm>
          <a:prstGeom prst="rect">
            <a:avLst/>
          </a:prstGeom>
          <a:noFill/>
          <a:ln/>
        </p:spPr>
        <p:txBody>
          <a:bodyPr wrap="square" rtlCol="0" anchor="ctr"/>
          <a:lstStyle/>
          <a:p>
            <a:pPr algn="ctr" indent="0" marL="0">
              <a:buNone/>
            </a:pPr>
            <a:r>
              <a:rPr lang="en-US" sz="950" dirty="0">
                <a:solidFill>
                  <a:srgbClr val="CBD5E1"/>
                </a:solidFill>
              </a:rPr>
              <a:t>Real-time dashboards showing revenue recovered, leads engaged, and campaigns live.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01168"/>
            <a:ext cx="1463040" cy="237744"/>
          </a:xfrm>
          <a:prstGeom prst="rect">
            <a:avLst/>
          </a:prstGeom>
          <a:solidFill>
            <a:srgbClr val="00B4D8"/>
          </a:solidFill>
          <a:ln w="12700">
            <a:solidFill>
              <a:srgbClr val="00B4D8"/>
            </a:solidFill>
            <a:prstDash val="solid"/>
          </a:ln>
        </p:spPr>
      </p:sp>
      <p:sp>
        <p:nvSpPr>
          <p:cNvPr id="3" name="Text 1"/>
          <p:cNvSpPr/>
          <p:nvPr/>
        </p:nvSpPr>
        <p:spPr>
          <a:xfrm>
            <a:off x="411480" y="201168"/>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SYSTEM FEATURES</a:t>
            </a:r>
            <a:endParaRPr lang="en-US" sz="800" dirty="0"/>
          </a:p>
        </p:txBody>
      </p:sp>
      <p:sp>
        <p:nvSpPr>
          <p:cNvPr id="4" name="Text 2"/>
          <p:cNvSpPr/>
          <p:nvPr/>
        </p:nvSpPr>
        <p:spPr>
          <a:xfrm>
            <a:off x="411480" y="475488"/>
            <a:ext cx="8321040" cy="548640"/>
          </a:xfrm>
          <a:prstGeom prst="rect">
            <a:avLst/>
          </a:prstGeom>
          <a:noFill/>
          <a:ln/>
        </p:spPr>
        <p:txBody>
          <a:bodyPr wrap="square" rtlCol="0" anchor="ctr"/>
          <a:lstStyle/>
          <a:p>
            <a:pPr indent="0" marL="0">
              <a:buNone/>
            </a:pPr>
            <a:r>
              <a:rPr lang="en-US" sz="2600" b="1" dirty="0">
                <a:solidFill>
                  <a:srgbClr val="FFFFFF"/>
                </a:solidFill>
              </a:rPr>
              <a:t>16 Revenue-Generating Capabilities</a:t>
            </a:r>
            <a:endParaRPr lang="en-US" sz="2600" dirty="0"/>
          </a:p>
        </p:txBody>
      </p:sp>
      <p:sp>
        <p:nvSpPr>
          <p:cNvPr id="5" name="Shape 3"/>
          <p:cNvSpPr/>
          <p:nvPr/>
        </p:nvSpPr>
        <p:spPr>
          <a:xfrm>
            <a:off x="411480" y="117043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11480" y="124358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914400" y="1280160"/>
            <a:ext cx="1417320" cy="594360"/>
          </a:xfrm>
          <a:prstGeom prst="rect">
            <a:avLst/>
          </a:prstGeom>
          <a:noFill/>
          <a:ln/>
        </p:spPr>
        <p:txBody>
          <a:bodyPr wrap="square" rtlCol="0" anchor="ctr"/>
          <a:lstStyle/>
          <a:p>
            <a:pPr indent="0" marL="0">
              <a:buNone/>
            </a:pPr>
            <a:r>
              <a:rPr lang="en-US" sz="1000" dirty="0">
                <a:solidFill>
                  <a:srgbClr val="F0F4F8"/>
                </a:solidFill>
              </a:rPr>
              <a:t>Old Lead Reactivation</a:t>
            </a:r>
            <a:endParaRPr lang="en-US" sz="1000" dirty="0"/>
          </a:p>
        </p:txBody>
      </p:sp>
      <p:sp>
        <p:nvSpPr>
          <p:cNvPr id="8" name="Shape 6"/>
          <p:cNvSpPr/>
          <p:nvPr/>
        </p:nvSpPr>
        <p:spPr>
          <a:xfrm>
            <a:off x="2587752" y="117043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2587752" y="124358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3090672" y="1280160"/>
            <a:ext cx="1417320" cy="594360"/>
          </a:xfrm>
          <a:prstGeom prst="rect">
            <a:avLst/>
          </a:prstGeom>
          <a:noFill/>
          <a:ln/>
        </p:spPr>
        <p:txBody>
          <a:bodyPr wrap="square" rtlCol="0" anchor="ctr"/>
          <a:lstStyle/>
          <a:p>
            <a:pPr indent="0" marL="0">
              <a:buNone/>
            </a:pPr>
            <a:r>
              <a:rPr lang="en-US" sz="1000" dirty="0">
                <a:solidFill>
                  <a:srgbClr val="F0F4F8"/>
                </a:solidFill>
              </a:rPr>
              <a:t>Estimate Follow-Up Automation</a:t>
            </a:r>
            <a:endParaRPr lang="en-US" sz="1000" dirty="0"/>
          </a:p>
        </p:txBody>
      </p:sp>
      <p:sp>
        <p:nvSpPr>
          <p:cNvPr id="11" name="Shape 9"/>
          <p:cNvSpPr/>
          <p:nvPr/>
        </p:nvSpPr>
        <p:spPr>
          <a:xfrm>
            <a:off x="4764024" y="117043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4764024" y="124358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3" name="Text 11"/>
          <p:cNvSpPr/>
          <p:nvPr/>
        </p:nvSpPr>
        <p:spPr>
          <a:xfrm>
            <a:off x="5266944" y="1280160"/>
            <a:ext cx="1417320" cy="594360"/>
          </a:xfrm>
          <a:prstGeom prst="rect">
            <a:avLst/>
          </a:prstGeom>
          <a:noFill/>
          <a:ln/>
        </p:spPr>
        <p:txBody>
          <a:bodyPr wrap="square" rtlCol="0" anchor="ctr"/>
          <a:lstStyle/>
          <a:p>
            <a:pPr indent="0" marL="0">
              <a:buNone/>
            </a:pPr>
            <a:r>
              <a:rPr lang="en-US" sz="1000" dirty="0">
                <a:solidFill>
                  <a:srgbClr val="F0F4F8"/>
                </a:solidFill>
              </a:rPr>
              <a:t>AI Receptionist (24/7)</a:t>
            </a:r>
            <a:endParaRPr lang="en-US" sz="1000" dirty="0"/>
          </a:p>
        </p:txBody>
      </p:sp>
      <p:sp>
        <p:nvSpPr>
          <p:cNvPr id="14" name="Shape 12"/>
          <p:cNvSpPr/>
          <p:nvPr/>
        </p:nvSpPr>
        <p:spPr>
          <a:xfrm>
            <a:off x="6940296" y="117043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6940296" y="124358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7443216" y="1280160"/>
            <a:ext cx="1417320" cy="594360"/>
          </a:xfrm>
          <a:prstGeom prst="rect">
            <a:avLst/>
          </a:prstGeom>
          <a:noFill/>
          <a:ln/>
        </p:spPr>
        <p:txBody>
          <a:bodyPr wrap="square" rtlCol="0" anchor="ctr"/>
          <a:lstStyle/>
          <a:p>
            <a:pPr indent="0" marL="0">
              <a:buNone/>
            </a:pPr>
            <a:r>
              <a:rPr lang="en-US" sz="1000" dirty="0">
                <a:solidFill>
                  <a:srgbClr val="F0F4F8"/>
                </a:solidFill>
              </a:rPr>
              <a:t>Missed-Call Text-Back</a:t>
            </a:r>
            <a:endParaRPr lang="en-US" sz="1000" dirty="0"/>
          </a:p>
        </p:txBody>
      </p:sp>
      <p:sp>
        <p:nvSpPr>
          <p:cNvPr id="17" name="Shape 15"/>
          <p:cNvSpPr/>
          <p:nvPr/>
        </p:nvSpPr>
        <p:spPr>
          <a:xfrm>
            <a:off x="411480" y="213055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8" name="Text 16"/>
          <p:cNvSpPr/>
          <p:nvPr/>
        </p:nvSpPr>
        <p:spPr>
          <a:xfrm>
            <a:off x="411480" y="220370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914400" y="2240280"/>
            <a:ext cx="1417320" cy="594360"/>
          </a:xfrm>
          <a:prstGeom prst="rect">
            <a:avLst/>
          </a:prstGeom>
          <a:noFill/>
          <a:ln/>
        </p:spPr>
        <p:txBody>
          <a:bodyPr wrap="square" rtlCol="0" anchor="ctr"/>
          <a:lstStyle/>
          <a:p>
            <a:pPr indent="0" marL="0">
              <a:buNone/>
            </a:pPr>
            <a:r>
              <a:rPr lang="en-US" sz="1000" dirty="0">
                <a:solidFill>
                  <a:srgbClr val="F0F4F8"/>
                </a:solidFill>
              </a:rPr>
              <a:t>Review Collection Automation</a:t>
            </a:r>
            <a:endParaRPr lang="en-US" sz="1000" dirty="0"/>
          </a:p>
        </p:txBody>
      </p:sp>
      <p:sp>
        <p:nvSpPr>
          <p:cNvPr id="20" name="Shape 18"/>
          <p:cNvSpPr/>
          <p:nvPr/>
        </p:nvSpPr>
        <p:spPr>
          <a:xfrm>
            <a:off x="2587752" y="213055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1" name="Text 19"/>
          <p:cNvSpPr/>
          <p:nvPr/>
        </p:nvSpPr>
        <p:spPr>
          <a:xfrm>
            <a:off x="2587752" y="220370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3090672" y="2240280"/>
            <a:ext cx="1417320" cy="594360"/>
          </a:xfrm>
          <a:prstGeom prst="rect">
            <a:avLst/>
          </a:prstGeom>
          <a:noFill/>
          <a:ln/>
        </p:spPr>
        <p:txBody>
          <a:bodyPr wrap="square" rtlCol="0" anchor="ctr"/>
          <a:lstStyle/>
          <a:p>
            <a:pPr indent="0" marL="0">
              <a:buNone/>
            </a:pPr>
            <a:r>
              <a:rPr lang="en-US" sz="1000" dirty="0">
                <a:solidFill>
                  <a:srgbClr val="F0F4F8"/>
                </a:solidFill>
              </a:rPr>
              <a:t>Google Business Profile Optimization</a:t>
            </a:r>
            <a:endParaRPr lang="en-US" sz="1000" dirty="0"/>
          </a:p>
        </p:txBody>
      </p:sp>
      <p:sp>
        <p:nvSpPr>
          <p:cNvPr id="23" name="Shape 21"/>
          <p:cNvSpPr/>
          <p:nvPr/>
        </p:nvSpPr>
        <p:spPr>
          <a:xfrm>
            <a:off x="4764024" y="213055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4" name="Text 22"/>
          <p:cNvSpPr/>
          <p:nvPr/>
        </p:nvSpPr>
        <p:spPr>
          <a:xfrm>
            <a:off x="4764024" y="220370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5" name="Text 23"/>
          <p:cNvSpPr/>
          <p:nvPr/>
        </p:nvSpPr>
        <p:spPr>
          <a:xfrm>
            <a:off x="5266944" y="2240280"/>
            <a:ext cx="1417320" cy="594360"/>
          </a:xfrm>
          <a:prstGeom prst="rect">
            <a:avLst/>
          </a:prstGeom>
          <a:noFill/>
          <a:ln/>
        </p:spPr>
        <p:txBody>
          <a:bodyPr wrap="square" rtlCol="0" anchor="ctr"/>
          <a:lstStyle/>
          <a:p>
            <a:pPr indent="0" marL="0">
              <a:buNone/>
            </a:pPr>
            <a:r>
              <a:rPr lang="en-US" sz="1000" dirty="0">
                <a:solidFill>
                  <a:srgbClr val="F0F4F8"/>
                </a:solidFill>
              </a:rPr>
              <a:t>Referral Campaign System</a:t>
            </a:r>
            <a:endParaRPr lang="en-US" sz="1000" dirty="0"/>
          </a:p>
        </p:txBody>
      </p:sp>
      <p:sp>
        <p:nvSpPr>
          <p:cNvPr id="26" name="Shape 24"/>
          <p:cNvSpPr/>
          <p:nvPr/>
        </p:nvSpPr>
        <p:spPr>
          <a:xfrm>
            <a:off x="6940296" y="213055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7" name="Text 25"/>
          <p:cNvSpPr/>
          <p:nvPr/>
        </p:nvSpPr>
        <p:spPr>
          <a:xfrm>
            <a:off x="6940296" y="220370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7443216" y="2240280"/>
            <a:ext cx="1417320" cy="594360"/>
          </a:xfrm>
          <a:prstGeom prst="rect">
            <a:avLst/>
          </a:prstGeom>
          <a:noFill/>
          <a:ln/>
        </p:spPr>
        <p:txBody>
          <a:bodyPr wrap="square" rtlCol="0" anchor="ctr"/>
          <a:lstStyle/>
          <a:p>
            <a:pPr indent="0" marL="0">
              <a:buNone/>
            </a:pPr>
            <a:r>
              <a:rPr lang="en-US" sz="1000" dirty="0">
                <a:solidFill>
                  <a:srgbClr val="F0F4F8"/>
                </a:solidFill>
              </a:rPr>
              <a:t>Maintenance Reminder Campaigns</a:t>
            </a:r>
            <a:endParaRPr lang="en-US" sz="1000" dirty="0"/>
          </a:p>
        </p:txBody>
      </p:sp>
      <p:sp>
        <p:nvSpPr>
          <p:cNvPr id="29" name="Shape 27"/>
          <p:cNvSpPr/>
          <p:nvPr/>
        </p:nvSpPr>
        <p:spPr>
          <a:xfrm>
            <a:off x="411480" y="309067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30" name="Text 28"/>
          <p:cNvSpPr/>
          <p:nvPr/>
        </p:nvSpPr>
        <p:spPr>
          <a:xfrm>
            <a:off x="411480" y="316382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1" name="Text 29"/>
          <p:cNvSpPr/>
          <p:nvPr/>
        </p:nvSpPr>
        <p:spPr>
          <a:xfrm>
            <a:off x="914400" y="3200400"/>
            <a:ext cx="1417320" cy="594360"/>
          </a:xfrm>
          <a:prstGeom prst="rect">
            <a:avLst/>
          </a:prstGeom>
          <a:noFill/>
          <a:ln/>
        </p:spPr>
        <p:txBody>
          <a:bodyPr wrap="square" rtlCol="0" anchor="ctr"/>
          <a:lstStyle/>
          <a:p>
            <a:pPr indent="0" marL="0">
              <a:buNone/>
            </a:pPr>
            <a:r>
              <a:rPr lang="en-US" sz="1000" dirty="0">
                <a:solidFill>
                  <a:srgbClr val="F0F4F8"/>
                </a:solidFill>
              </a:rPr>
              <a:t>Membership Renewal Automation</a:t>
            </a:r>
            <a:endParaRPr lang="en-US" sz="1000" dirty="0"/>
          </a:p>
        </p:txBody>
      </p:sp>
      <p:sp>
        <p:nvSpPr>
          <p:cNvPr id="32" name="Shape 30"/>
          <p:cNvSpPr/>
          <p:nvPr/>
        </p:nvSpPr>
        <p:spPr>
          <a:xfrm>
            <a:off x="2587752" y="309067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33" name="Text 31"/>
          <p:cNvSpPr/>
          <p:nvPr/>
        </p:nvSpPr>
        <p:spPr>
          <a:xfrm>
            <a:off x="2587752" y="316382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4" name="Text 32"/>
          <p:cNvSpPr/>
          <p:nvPr/>
        </p:nvSpPr>
        <p:spPr>
          <a:xfrm>
            <a:off x="3090672" y="3200400"/>
            <a:ext cx="1417320" cy="594360"/>
          </a:xfrm>
          <a:prstGeom prst="rect">
            <a:avLst/>
          </a:prstGeom>
          <a:noFill/>
          <a:ln/>
        </p:spPr>
        <p:txBody>
          <a:bodyPr wrap="square" rtlCol="0" anchor="ctr"/>
          <a:lstStyle/>
          <a:p>
            <a:pPr indent="0" marL="0">
              <a:buNone/>
            </a:pPr>
            <a:r>
              <a:rPr lang="en-US" sz="1000" dirty="0">
                <a:solidFill>
                  <a:srgbClr val="F0F4F8"/>
                </a:solidFill>
              </a:rPr>
              <a:t>Customer Feedback Collection</a:t>
            </a:r>
            <a:endParaRPr lang="en-US" sz="1000" dirty="0"/>
          </a:p>
        </p:txBody>
      </p:sp>
      <p:sp>
        <p:nvSpPr>
          <p:cNvPr id="35" name="Shape 33"/>
          <p:cNvSpPr/>
          <p:nvPr/>
        </p:nvSpPr>
        <p:spPr>
          <a:xfrm>
            <a:off x="4764024" y="309067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36" name="Text 34"/>
          <p:cNvSpPr/>
          <p:nvPr/>
        </p:nvSpPr>
        <p:spPr>
          <a:xfrm>
            <a:off x="4764024" y="316382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7" name="Text 35"/>
          <p:cNvSpPr/>
          <p:nvPr/>
        </p:nvSpPr>
        <p:spPr>
          <a:xfrm>
            <a:off x="5266944" y="3200400"/>
            <a:ext cx="1417320" cy="594360"/>
          </a:xfrm>
          <a:prstGeom prst="rect">
            <a:avLst/>
          </a:prstGeom>
          <a:noFill/>
          <a:ln/>
        </p:spPr>
        <p:txBody>
          <a:bodyPr wrap="square" rtlCol="0" anchor="ctr"/>
          <a:lstStyle/>
          <a:p>
            <a:pPr indent="0" marL="0">
              <a:buNone/>
            </a:pPr>
            <a:r>
              <a:rPr lang="en-US" sz="1000" dirty="0">
                <a:solidFill>
                  <a:srgbClr val="F0F4F8"/>
                </a:solidFill>
              </a:rPr>
              <a:t>AI SMS Follow-Up Sequences</a:t>
            </a:r>
            <a:endParaRPr lang="en-US" sz="1000" dirty="0"/>
          </a:p>
        </p:txBody>
      </p:sp>
      <p:sp>
        <p:nvSpPr>
          <p:cNvPr id="38" name="Shape 36"/>
          <p:cNvSpPr/>
          <p:nvPr/>
        </p:nvSpPr>
        <p:spPr>
          <a:xfrm>
            <a:off x="6940296" y="309067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39" name="Text 37"/>
          <p:cNvSpPr/>
          <p:nvPr/>
        </p:nvSpPr>
        <p:spPr>
          <a:xfrm>
            <a:off x="6940296" y="316382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0" name="Text 38"/>
          <p:cNvSpPr/>
          <p:nvPr/>
        </p:nvSpPr>
        <p:spPr>
          <a:xfrm>
            <a:off x="7443216" y="3200400"/>
            <a:ext cx="1417320" cy="594360"/>
          </a:xfrm>
          <a:prstGeom prst="rect">
            <a:avLst/>
          </a:prstGeom>
          <a:noFill/>
          <a:ln/>
        </p:spPr>
        <p:txBody>
          <a:bodyPr wrap="square" rtlCol="0" anchor="ctr"/>
          <a:lstStyle/>
          <a:p>
            <a:pPr indent="0" marL="0">
              <a:buNone/>
            </a:pPr>
            <a:r>
              <a:rPr lang="en-US" sz="1000" dirty="0">
                <a:solidFill>
                  <a:srgbClr val="F0F4F8"/>
                </a:solidFill>
              </a:rPr>
              <a:t>Seasonal Campaign Triggers</a:t>
            </a:r>
            <a:endParaRPr lang="en-US" sz="1000" dirty="0"/>
          </a:p>
        </p:txBody>
      </p:sp>
      <p:sp>
        <p:nvSpPr>
          <p:cNvPr id="41" name="Shape 39"/>
          <p:cNvSpPr/>
          <p:nvPr/>
        </p:nvSpPr>
        <p:spPr>
          <a:xfrm>
            <a:off x="411480" y="405079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42" name="Text 40"/>
          <p:cNvSpPr/>
          <p:nvPr/>
        </p:nvSpPr>
        <p:spPr>
          <a:xfrm>
            <a:off x="411480" y="412394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3" name="Text 41"/>
          <p:cNvSpPr/>
          <p:nvPr/>
        </p:nvSpPr>
        <p:spPr>
          <a:xfrm>
            <a:off x="914400" y="4160520"/>
            <a:ext cx="1417320" cy="594360"/>
          </a:xfrm>
          <a:prstGeom prst="rect">
            <a:avLst/>
          </a:prstGeom>
          <a:noFill/>
          <a:ln/>
        </p:spPr>
        <p:txBody>
          <a:bodyPr wrap="square" rtlCol="0" anchor="ctr"/>
          <a:lstStyle/>
          <a:p>
            <a:pPr indent="0" marL="0">
              <a:buNone/>
            </a:pPr>
            <a:r>
              <a:rPr lang="en-US" sz="1000" dirty="0">
                <a:solidFill>
                  <a:srgbClr val="F0F4F8"/>
                </a:solidFill>
              </a:rPr>
              <a:t>Financing Follow-Up Automation</a:t>
            </a:r>
            <a:endParaRPr lang="en-US" sz="1000" dirty="0"/>
          </a:p>
        </p:txBody>
      </p:sp>
      <p:sp>
        <p:nvSpPr>
          <p:cNvPr id="44" name="Shape 42"/>
          <p:cNvSpPr/>
          <p:nvPr/>
        </p:nvSpPr>
        <p:spPr>
          <a:xfrm>
            <a:off x="2587752" y="405079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45" name="Text 43"/>
          <p:cNvSpPr/>
          <p:nvPr/>
        </p:nvSpPr>
        <p:spPr>
          <a:xfrm>
            <a:off x="2587752" y="412394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6" name="Text 44"/>
          <p:cNvSpPr/>
          <p:nvPr/>
        </p:nvSpPr>
        <p:spPr>
          <a:xfrm>
            <a:off x="3090672" y="4160520"/>
            <a:ext cx="1417320" cy="594360"/>
          </a:xfrm>
          <a:prstGeom prst="rect">
            <a:avLst/>
          </a:prstGeom>
          <a:noFill/>
          <a:ln/>
        </p:spPr>
        <p:txBody>
          <a:bodyPr wrap="square" rtlCol="0" anchor="ctr"/>
          <a:lstStyle/>
          <a:p>
            <a:pPr indent="0" marL="0">
              <a:buNone/>
            </a:pPr>
            <a:r>
              <a:rPr lang="en-US" sz="1000" dirty="0">
                <a:solidFill>
                  <a:srgbClr val="F0F4F8"/>
                </a:solidFill>
              </a:rPr>
              <a:t>Repeat Customer Campaigns</a:t>
            </a:r>
            <a:endParaRPr lang="en-US" sz="1000" dirty="0"/>
          </a:p>
        </p:txBody>
      </p:sp>
      <p:sp>
        <p:nvSpPr>
          <p:cNvPr id="47" name="Shape 45"/>
          <p:cNvSpPr/>
          <p:nvPr/>
        </p:nvSpPr>
        <p:spPr>
          <a:xfrm>
            <a:off x="4764024" y="405079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48" name="Text 46"/>
          <p:cNvSpPr/>
          <p:nvPr/>
        </p:nvSpPr>
        <p:spPr>
          <a:xfrm>
            <a:off x="4764024" y="412394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9" name="Text 47"/>
          <p:cNvSpPr/>
          <p:nvPr/>
        </p:nvSpPr>
        <p:spPr>
          <a:xfrm>
            <a:off x="5266944" y="4160520"/>
            <a:ext cx="1417320" cy="594360"/>
          </a:xfrm>
          <a:prstGeom prst="rect">
            <a:avLst/>
          </a:prstGeom>
          <a:noFill/>
          <a:ln/>
        </p:spPr>
        <p:txBody>
          <a:bodyPr wrap="square" rtlCol="0" anchor="ctr"/>
          <a:lstStyle/>
          <a:p>
            <a:pPr indent="0" marL="0">
              <a:buNone/>
            </a:pPr>
            <a:r>
              <a:rPr lang="en-US" sz="1000" dirty="0">
                <a:solidFill>
                  <a:srgbClr val="F0F4F8"/>
                </a:solidFill>
              </a:rPr>
              <a:t>Pipeline Automation &amp; Alerts</a:t>
            </a:r>
            <a:endParaRPr lang="en-US" sz="1000" dirty="0"/>
          </a:p>
        </p:txBody>
      </p:sp>
      <p:sp>
        <p:nvSpPr>
          <p:cNvPr id="50" name="Shape 48"/>
          <p:cNvSpPr/>
          <p:nvPr/>
        </p:nvSpPr>
        <p:spPr>
          <a:xfrm>
            <a:off x="6940296" y="4050792"/>
            <a:ext cx="2011680" cy="82296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51" name="Text 49"/>
          <p:cNvSpPr/>
          <p:nvPr/>
        </p:nvSpPr>
        <p:spPr>
          <a:xfrm>
            <a:off x="6940296" y="4123944"/>
            <a:ext cx="548640" cy="65836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52" name="Text 50"/>
          <p:cNvSpPr/>
          <p:nvPr/>
        </p:nvSpPr>
        <p:spPr>
          <a:xfrm>
            <a:off x="7443216" y="4160520"/>
            <a:ext cx="1417320" cy="594360"/>
          </a:xfrm>
          <a:prstGeom prst="rect">
            <a:avLst/>
          </a:prstGeom>
          <a:noFill/>
          <a:ln/>
        </p:spPr>
        <p:txBody>
          <a:bodyPr wrap="square" rtlCol="0" anchor="ctr"/>
          <a:lstStyle/>
          <a:p>
            <a:pPr indent="0" marL="0">
              <a:buNone/>
            </a:pPr>
            <a:r>
              <a:rPr lang="en-US" sz="1000" dirty="0">
                <a:solidFill>
                  <a:srgbClr val="F0F4F8"/>
                </a:solidFill>
              </a:rPr>
              <a:t>CRM Cleanup &amp; Smart Tagging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SYSTEM WORKFLOW</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600" b="1" dirty="0">
                <a:solidFill>
                  <a:srgbClr val="FFFFFF"/>
                </a:solidFill>
              </a:rPr>
              <a:t>How the System Works:</a:t>
            </a:r>
            <a:endParaRPr lang="en-US" sz="2600" dirty="0"/>
          </a:p>
          <a:p>
            <a:pPr indent="0" marL="0">
              <a:buNone/>
            </a:pPr>
            <a:r>
              <a:rPr lang="en-US" sz="2600" b="1" dirty="0">
                <a:solidFill>
                  <a:srgbClr val="FFFFFF"/>
                </a:solidFill>
              </a:rPr>
              <a:t>From Data to Revenue in 7 Steps</a:t>
            </a:r>
            <a:endParaRPr lang="en-US" sz="2600" dirty="0"/>
          </a:p>
        </p:txBody>
      </p:sp>
      <p:sp>
        <p:nvSpPr>
          <p:cNvPr id="5" name="Shape 3"/>
          <p:cNvSpPr/>
          <p:nvPr/>
        </p:nvSpPr>
        <p:spPr>
          <a:xfrm>
            <a:off x="411480" y="1627632"/>
            <a:ext cx="4206240" cy="6858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521208" y="1773936"/>
            <a:ext cx="384048" cy="384048"/>
          </a:xfrm>
          <a:prstGeom prst="oval">
            <a:avLst/>
          </a:prstGeom>
          <a:solidFill>
            <a:srgbClr val="00B4D8"/>
          </a:solidFill>
          <a:ln w="12700">
            <a:solidFill>
              <a:srgbClr val="000000"/>
            </a:solidFill>
            <a:prstDash val="solid"/>
          </a:ln>
        </p:spPr>
      </p:sp>
      <p:sp>
        <p:nvSpPr>
          <p:cNvPr id="7" name="Text 5"/>
          <p:cNvSpPr/>
          <p:nvPr/>
        </p:nvSpPr>
        <p:spPr>
          <a:xfrm>
            <a:off x="521208" y="1773936"/>
            <a:ext cx="384048" cy="384048"/>
          </a:xfrm>
          <a:prstGeom prst="rect">
            <a:avLst/>
          </a:prstGeom>
          <a:noFill/>
          <a:ln/>
        </p:spPr>
        <p:txBody>
          <a:bodyPr wrap="square" rtlCol="0" anchor="ctr"/>
          <a:lstStyle/>
          <a:p>
            <a:pPr algn="ctr" indent="0" marL="0">
              <a:buNone/>
            </a:pPr>
            <a:r>
              <a:rPr lang="en-US" sz="1100" b="1" dirty="0">
                <a:solidFill>
                  <a:srgbClr val="0A0F1E"/>
                </a:solidFill>
              </a:rPr>
              <a:t>01</a:t>
            </a:r>
            <a:endParaRPr lang="en-US" sz="1100" dirty="0"/>
          </a:p>
        </p:txBody>
      </p:sp>
      <p:sp>
        <p:nvSpPr>
          <p:cNvPr id="8" name="Text 6"/>
          <p:cNvSpPr/>
          <p:nvPr/>
        </p:nvSpPr>
        <p:spPr>
          <a:xfrm>
            <a:off x="1005840" y="1682496"/>
            <a:ext cx="3429000" cy="274320"/>
          </a:xfrm>
          <a:prstGeom prst="rect">
            <a:avLst/>
          </a:prstGeom>
          <a:noFill/>
          <a:ln/>
        </p:spPr>
        <p:txBody>
          <a:bodyPr wrap="square" rtlCol="0" anchor="ctr"/>
          <a:lstStyle/>
          <a:p>
            <a:pPr indent="0" marL="0">
              <a:buNone/>
            </a:pPr>
            <a:r>
              <a:rPr lang="en-US" sz="1150" b="1" dirty="0">
                <a:solidFill>
                  <a:srgbClr val="00B4D8"/>
                </a:solidFill>
              </a:rPr>
              <a:t>CRM Data Extraction</a:t>
            </a:r>
            <a:endParaRPr lang="en-US" sz="1150" dirty="0"/>
          </a:p>
        </p:txBody>
      </p:sp>
      <p:sp>
        <p:nvSpPr>
          <p:cNvPr id="9" name="Text 7"/>
          <p:cNvSpPr/>
          <p:nvPr/>
        </p:nvSpPr>
        <p:spPr>
          <a:xfrm>
            <a:off x="1005840" y="1956816"/>
            <a:ext cx="3429000" cy="310896"/>
          </a:xfrm>
          <a:prstGeom prst="rect">
            <a:avLst/>
          </a:prstGeom>
          <a:noFill/>
          <a:ln/>
        </p:spPr>
        <p:txBody>
          <a:bodyPr wrap="square" rtlCol="0" anchor="ctr"/>
          <a:lstStyle/>
          <a:p>
            <a:pPr indent="0" marL="0">
              <a:buNone/>
            </a:pPr>
            <a:r>
              <a:rPr lang="en-US" sz="900" dirty="0">
                <a:solidFill>
                  <a:srgbClr val="CBD5E1"/>
                </a:solidFill>
              </a:rPr>
              <a:t>We connect to your existing CRM and extract all contacts, lead statuses, job history, and customer data.</a:t>
            </a:r>
            <a:endParaRPr lang="en-US" sz="900" dirty="0"/>
          </a:p>
        </p:txBody>
      </p:sp>
      <p:sp>
        <p:nvSpPr>
          <p:cNvPr id="10" name="Shape 8"/>
          <p:cNvSpPr/>
          <p:nvPr/>
        </p:nvSpPr>
        <p:spPr>
          <a:xfrm>
            <a:off x="411480" y="2432304"/>
            <a:ext cx="4206240" cy="6858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521208" y="2578608"/>
            <a:ext cx="384048" cy="384048"/>
          </a:xfrm>
          <a:prstGeom prst="oval">
            <a:avLst/>
          </a:prstGeom>
          <a:solidFill>
            <a:srgbClr val="00B4D8"/>
          </a:solidFill>
          <a:ln w="12700">
            <a:solidFill>
              <a:srgbClr val="000000"/>
            </a:solidFill>
            <a:prstDash val="solid"/>
          </a:ln>
        </p:spPr>
      </p:sp>
      <p:sp>
        <p:nvSpPr>
          <p:cNvPr id="12" name="Text 10"/>
          <p:cNvSpPr/>
          <p:nvPr/>
        </p:nvSpPr>
        <p:spPr>
          <a:xfrm>
            <a:off x="521208" y="2578608"/>
            <a:ext cx="384048" cy="384048"/>
          </a:xfrm>
          <a:prstGeom prst="rect">
            <a:avLst/>
          </a:prstGeom>
          <a:noFill/>
          <a:ln/>
        </p:spPr>
        <p:txBody>
          <a:bodyPr wrap="square" rtlCol="0" anchor="ctr"/>
          <a:lstStyle/>
          <a:p>
            <a:pPr algn="ctr" indent="0" marL="0">
              <a:buNone/>
            </a:pPr>
            <a:r>
              <a:rPr lang="en-US" sz="1100" b="1" dirty="0">
                <a:solidFill>
                  <a:srgbClr val="0A0F1E"/>
                </a:solidFill>
              </a:rPr>
              <a:t>02</a:t>
            </a:r>
            <a:endParaRPr lang="en-US" sz="1100" dirty="0"/>
          </a:p>
        </p:txBody>
      </p:sp>
      <p:sp>
        <p:nvSpPr>
          <p:cNvPr id="13" name="Text 11"/>
          <p:cNvSpPr/>
          <p:nvPr/>
        </p:nvSpPr>
        <p:spPr>
          <a:xfrm>
            <a:off x="1005840" y="2487168"/>
            <a:ext cx="3429000" cy="274320"/>
          </a:xfrm>
          <a:prstGeom prst="rect">
            <a:avLst/>
          </a:prstGeom>
          <a:noFill/>
          <a:ln/>
        </p:spPr>
        <p:txBody>
          <a:bodyPr wrap="square" rtlCol="0" anchor="ctr"/>
          <a:lstStyle/>
          <a:p>
            <a:pPr indent="0" marL="0">
              <a:buNone/>
            </a:pPr>
            <a:r>
              <a:rPr lang="en-US" sz="1150" b="1" dirty="0">
                <a:solidFill>
                  <a:srgbClr val="00B4D8"/>
                </a:solidFill>
              </a:rPr>
              <a:t>Smart Segmentation</a:t>
            </a:r>
            <a:endParaRPr lang="en-US" sz="1150" dirty="0"/>
          </a:p>
        </p:txBody>
      </p:sp>
      <p:sp>
        <p:nvSpPr>
          <p:cNvPr id="14" name="Text 12"/>
          <p:cNvSpPr/>
          <p:nvPr/>
        </p:nvSpPr>
        <p:spPr>
          <a:xfrm>
            <a:off x="1005840" y="2761488"/>
            <a:ext cx="3429000" cy="310896"/>
          </a:xfrm>
          <a:prstGeom prst="rect">
            <a:avLst/>
          </a:prstGeom>
          <a:noFill/>
          <a:ln/>
        </p:spPr>
        <p:txBody>
          <a:bodyPr wrap="square" rtlCol="0" anchor="ctr"/>
          <a:lstStyle/>
          <a:p>
            <a:pPr indent="0" marL="0">
              <a:buNone/>
            </a:pPr>
            <a:r>
              <a:rPr lang="en-US" sz="900" dirty="0">
                <a:solidFill>
                  <a:srgbClr val="CBD5E1"/>
                </a:solidFill>
              </a:rPr>
              <a:t>AI segments your database: dormant leads, open estimates, past customers, lapsed members.</a:t>
            </a:r>
            <a:endParaRPr lang="en-US" sz="900" dirty="0"/>
          </a:p>
        </p:txBody>
      </p:sp>
      <p:sp>
        <p:nvSpPr>
          <p:cNvPr id="15" name="Shape 13"/>
          <p:cNvSpPr/>
          <p:nvPr/>
        </p:nvSpPr>
        <p:spPr>
          <a:xfrm>
            <a:off x="411480" y="3236976"/>
            <a:ext cx="4206240" cy="6858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521208" y="3383280"/>
            <a:ext cx="384048" cy="384048"/>
          </a:xfrm>
          <a:prstGeom prst="oval">
            <a:avLst/>
          </a:prstGeom>
          <a:solidFill>
            <a:srgbClr val="00B4D8"/>
          </a:solidFill>
          <a:ln w="12700">
            <a:solidFill>
              <a:srgbClr val="000000"/>
            </a:solidFill>
            <a:prstDash val="solid"/>
          </a:ln>
        </p:spPr>
      </p:sp>
      <p:sp>
        <p:nvSpPr>
          <p:cNvPr id="17" name="Text 15"/>
          <p:cNvSpPr/>
          <p:nvPr/>
        </p:nvSpPr>
        <p:spPr>
          <a:xfrm>
            <a:off x="521208" y="3383280"/>
            <a:ext cx="384048" cy="384048"/>
          </a:xfrm>
          <a:prstGeom prst="rect">
            <a:avLst/>
          </a:prstGeom>
          <a:noFill/>
          <a:ln/>
        </p:spPr>
        <p:txBody>
          <a:bodyPr wrap="square" rtlCol="0" anchor="ctr"/>
          <a:lstStyle/>
          <a:p>
            <a:pPr algn="ctr" indent="0" marL="0">
              <a:buNone/>
            </a:pPr>
            <a:r>
              <a:rPr lang="en-US" sz="1100" b="1" dirty="0">
                <a:solidFill>
                  <a:srgbClr val="0A0F1E"/>
                </a:solidFill>
              </a:rPr>
              <a:t>03</a:t>
            </a:r>
            <a:endParaRPr lang="en-US" sz="1100" dirty="0"/>
          </a:p>
        </p:txBody>
      </p:sp>
      <p:sp>
        <p:nvSpPr>
          <p:cNvPr id="18" name="Text 16"/>
          <p:cNvSpPr/>
          <p:nvPr/>
        </p:nvSpPr>
        <p:spPr>
          <a:xfrm>
            <a:off x="1005840" y="3291840"/>
            <a:ext cx="3429000" cy="274320"/>
          </a:xfrm>
          <a:prstGeom prst="rect">
            <a:avLst/>
          </a:prstGeom>
          <a:noFill/>
          <a:ln/>
        </p:spPr>
        <p:txBody>
          <a:bodyPr wrap="square" rtlCol="0" anchor="ctr"/>
          <a:lstStyle/>
          <a:p>
            <a:pPr indent="0" marL="0">
              <a:buNone/>
            </a:pPr>
            <a:r>
              <a:rPr lang="en-US" sz="1150" b="1" dirty="0">
                <a:solidFill>
                  <a:srgbClr val="00B4D8"/>
                </a:solidFill>
              </a:rPr>
              <a:t>Campaign Deployment</a:t>
            </a:r>
            <a:endParaRPr lang="en-US" sz="1150" dirty="0"/>
          </a:p>
        </p:txBody>
      </p:sp>
      <p:sp>
        <p:nvSpPr>
          <p:cNvPr id="19" name="Text 17"/>
          <p:cNvSpPr/>
          <p:nvPr/>
        </p:nvSpPr>
        <p:spPr>
          <a:xfrm>
            <a:off x="1005840" y="3566160"/>
            <a:ext cx="3429000" cy="310896"/>
          </a:xfrm>
          <a:prstGeom prst="rect">
            <a:avLst/>
          </a:prstGeom>
          <a:noFill/>
          <a:ln/>
        </p:spPr>
        <p:txBody>
          <a:bodyPr wrap="square" rtlCol="0" anchor="ctr"/>
          <a:lstStyle/>
          <a:p>
            <a:pPr indent="0" marL="0">
              <a:buNone/>
            </a:pPr>
            <a:r>
              <a:rPr lang="en-US" sz="900" dirty="0">
                <a:solidFill>
                  <a:srgbClr val="CBD5E1"/>
                </a:solidFill>
              </a:rPr>
              <a:t>Personalized AI campaigns launch across SMS, email, and voice — tailored to each segment.</a:t>
            </a:r>
            <a:endParaRPr lang="en-US" sz="900" dirty="0"/>
          </a:p>
        </p:txBody>
      </p:sp>
      <p:sp>
        <p:nvSpPr>
          <p:cNvPr id="20" name="Shape 18"/>
          <p:cNvSpPr/>
          <p:nvPr/>
        </p:nvSpPr>
        <p:spPr>
          <a:xfrm>
            <a:off x="411480" y="4041648"/>
            <a:ext cx="4206240" cy="6858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1" name="Shape 19"/>
          <p:cNvSpPr/>
          <p:nvPr/>
        </p:nvSpPr>
        <p:spPr>
          <a:xfrm>
            <a:off x="521208" y="4187952"/>
            <a:ext cx="384048" cy="384048"/>
          </a:xfrm>
          <a:prstGeom prst="oval">
            <a:avLst/>
          </a:prstGeom>
          <a:solidFill>
            <a:srgbClr val="00B4D8"/>
          </a:solidFill>
          <a:ln w="12700">
            <a:solidFill>
              <a:srgbClr val="000000"/>
            </a:solidFill>
            <a:prstDash val="solid"/>
          </a:ln>
        </p:spPr>
      </p:sp>
      <p:sp>
        <p:nvSpPr>
          <p:cNvPr id="22" name="Text 20"/>
          <p:cNvSpPr/>
          <p:nvPr/>
        </p:nvSpPr>
        <p:spPr>
          <a:xfrm>
            <a:off x="521208" y="4187952"/>
            <a:ext cx="384048" cy="384048"/>
          </a:xfrm>
          <a:prstGeom prst="rect">
            <a:avLst/>
          </a:prstGeom>
          <a:noFill/>
          <a:ln/>
        </p:spPr>
        <p:txBody>
          <a:bodyPr wrap="square" rtlCol="0" anchor="ctr"/>
          <a:lstStyle/>
          <a:p>
            <a:pPr algn="ctr" indent="0" marL="0">
              <a:buNone/>
            </a:pPr>
            <a:r>
              <a:rPr lang="en-US" sz="1100" b="1" dirty="0">
                <a:solidFill>
                  <a:srgbClr val="0A0F1E"/>
                </a:solidFill>
              </a:rPr>
              <a:t>04</a:t>
            </a:r>
            <a:endParaRPr lang="en-US" sz="1100" dirty="0"/>
          </a:p>
        </p:txBody>
      </p:sp>
      <p:sp>
        <p:nvSpPr>
          <p:cNvPr id="23" name="Text 21"/>
          <p:cNvSpPr/>
          <p:nvPr/>
        </p:nvSpPr>
        <p:spPr>
          <a:xfrm>
            <a:off x="1005840" y="4096512"/>
            <a:ext cx="3429000" cy="274320"/>
          </a:xfrm>
          <a:prstGeom prst="rect">
            <a:avLst/>
          </a:prstGeom>
          <a:noFill/>
          <a:ln/>
        </p:spPr>
        <p:txBody>
          <a:bodyPr wrap="square" rtlCol="0" anchor="ctr"/>
          <a:lstStyle/>
          <a:p>
            <a:pPr indent="0" marL="0">
              <a:buNone/>
            </a:pPr>
            <a:r>
              <a:rPr lang="en-US" sz="1150" b="1" dirty="0">
                <a:solidFill>
                  <a:srgbClr val="00B4D8"/>
                </a:solidFill>
              </a:rPr>
              <a:t>Automation Triggers</a:t>
            </a:r>
            <a:endParaRPr lang="en-US" sz="1150" dirty="0"/>
          </a:p>
        </p:txBody>
      </p:sp>
      <p:sp>
        <p:nvSpPr>
          <p:cNvPr id="24" name="Text 22"/>
          <p:cNvSpPr/>
          <p:nvPr/>
        </p:nvSpPr>
        <p:spPr>
          <a:xfrm>
            <a:off x="1005840" y="4370832"/>
            <a:ext cx="3429000" cy="310896"/>
          </a:xfrm>
          <a:prstGeom prst="rect">
            <a:avLst/>
          </a:prstGeom>
          <a:noFill/>
          <a:ln/>
        </p:spPr>
        <p:txBody>
          <a:bodyPr wrap="square" rtlCol="0" anchor="ctr"/>
          <a:lstStyle/>
          <a:p>
            <a:pPr indent="0" marL="0">
              <a:buNone/>
            </a:pPr>
            <a:r>
              <a:rPr lang="en-US" sz="900" dirty="0">
                <a:solidFill>
                  <a:srgbClr val="CBD5E1"/>
                </a:solidFill>
              </a:rPr>
              <a:t>Missed calls, new inquiries, and post-service interactions trigger instant automated responses.</a:t>
            </a:r>
            <a:endParaRPr lang="en-US" sz="900" dirty="0"/>
          </a:p>
        </p:txBody>
      </p:sp>
      <p:sp>
        <p:nvSpPr>
          <p:cNvPr id="25" name="Shape 23"/>
          <p:cNvSpPr/>
          <p:nvPr/>
        </p:nvSpPr>
        <p:spPr>
          <a:xfrm>
            <a:off x="4846320" y="1627632"/>
            <a:ext cx="3886200" cy="6858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4956048" y="1773936"/>
            <a:ext cx="384048" cy="384048"/>
          </a:xfrm>
          <a:prstGeom prst="oval">
            <a:avLst/>
          </a:prstGeom>
          <a:solidFill>
            <a:srgbClr val="00B4D8"/>
          </a:solidFill>
          <a:ln w="12700">
            <a:solidFill>
              <a:srgbClr val="000000"/>
            </a:solidFill>
            <a:prstDash val="solid"/>
          </a:ln>
        </p:spPr>
      </p:sp>
      <p:sp>
        <p:nvSpPr>
          <p:cNvPr id="27" name="Text 25"/>
          <p:cNvSpPr/>
          <p:nvPr/>
        </p:nvSpPr>
        <p:spPr>
          <a:xfrm>
            <a:off x="4956048" y="1773936"/>
            <a:ext cx="384048" cy="384048"/>
          </a:xfrm>
          <a:prstGeom prst="rect">
            <a:avLst/>
          </a:prstGeom>
          <a:noFill/>
          <a:ln/>
        </p:spPr>
        <p:txBody>
          <a:bodyPr wrap="square" rtlCol="0" anchor="ctr"/>
          <a:lstStyle/>
          <a:p>
            <a:pPr algn="ctr" indent="0" marL="0">
              <a:buNone/>
            </a:pPr>
            <a:r>
              <a:rPr lang="en-US" sz="1100" b="1" dirty="0">
                <a:solidFill>
                  <a:srgbClr val="0A0F1E"/>
                </a:solidFill>
              </a:rPr>
              <a:t>05</a:t>
            </a:r>
            <a:endParaRPr lang="en-US" sz="1100" dirty="0"/>
          </a:p>
        </p:txBody>
      </p:sp>
      <p:sp>
        <p:nvSpPr>
          <p:cNvPr id="28" name="Text 26"/>
          <p:cNvSpPr/>
          <p:nvPr/>
        </p:nvSpPr>
        <p:spPr>
          <a:xfrm>
            <a:off x="5440680" y="1682496"/>
            <a:ext cx="3108960" cy="274320"/>
          </a:xfrm>
          <a:prstGeom prst="rect">
            <a:avLst/>
          </a:prstGeom>
          <a:noFill/>
          <a:ln/>
        </p:spPr>
        <p:txBody>
          <a:bodyPr wrap="square" rtlCol="0" anchor="ctr"/>
          <a:lstStyle/>
          <a:p>
            <a:pPr indent="0" marL="0">
              <a:buNone/>
            </a:pPr>
            <a:r>
              <a:rPr lang="en-US" sz="1150" b="1" dirty="0">
                <a:solidFill>
                  <a:srgbClr val="00B4D8"/>
                </a:solidFill>
              </a:rPr>
              <a:t>Booking Recovery</a:t>
            </a:r>
            <a:endParaRPr lang="en-US" sz="1150" dirty="0"/>
          </a:p>
        </p:txBody>
      </p:sp>
      <p:sp>
        <p:nvSpPr>
          <p:cNvPr id="29" name="Text 27"/>
          <p:cNvSpPr/>
          <p:nvPr/>
        </p:nvSpPr>
        <p:spPr>
          <a:xfrm>
            <a:off x="5440680" y="1956816"/>
            <a:ext cx="3108960" cy="310896"/>
          </a:xfrm>
          <a:prstGeom prst="rect">
            <a:avLst/>
          </a:prstGeom>
          <a:noFill/>
          <a:ln/>
        </p:spPr>
        <p:txBody>
          <a:bodyPr wrap="square" rtlCol="0" anchor="ctr"/>
          <a:lstStyle/>
          <a:p>
            <a:pPr indent="0" marL="0">
              <a:buNone/>
            </a:pPr>
            <a:r>
              <a:rPr lang="en-US" sz="900" dirty="0">
                <a:solidFill>
                  <a:srgbClr val="CBD5E1"/>
                </a:solidFill>
              </a:rPr>
              <a:t>Engaged leads and reactivated customers are routed directly to your booking system.</a:t>
            </a:r>
            <a:endParaRPr lang="en-US" sz="900" dirty="0"/>
          </a:p>
        </p:txBody>
      </p:sp>
      <p:sp>
        <p:nvSpPr>
          <p:cNvPr id="30" name="Shape 28"/>
          <p:cNvSpPr/>
          <p:nvPr/>
        </p:nvSpPr>
        <p:spPr>
          <a:xfrm>
            <a:off x="4846320" y="2432304"/>
            <a:ext cx="3886200" cy="6858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31" name="Shape 29"/>
          <p:cNvSpPr/>
          <p:nvPr/>
        </p:nvSpPr>
        <p:spPr>
          <a:xfrm>
            <a:off x="4956048" y="2578608"/>
            <a:ext cx="384048" cy="384048"/>
          </a:xfrm>
          <a:prstGeom prst="oval">
            <a:avLst/>
          </a:prstGeom>
          <a:solidFill>
            <a:srgbClr val="00B4D8"/>
          </a:solidFill>
          <a:ln w="12700">
            <a:solidFill>
              <a:srgbClr val="000000"/>
            </a:solidFill>
            <a:prstDash val="solid"/>
          </a:ln>
        </p:spPr>
      </p:sp>
      <p:sp>
        <p:nvSpPr>
          <p:cNvPr id="32" name="Text 30"/>
          <p:cNvSpPr/>
          <p:nvPr/>
        </p:nvSpPr>
        <p:spPr>
          <a:xfrm>
            <a:off x="4956048" y="2578608"/>
            <a:ext cx="384048" cy="384048"/>
          </a:xfrm>
          <a:prstGeom prst="rect">
            <a:avLst/>
          </a:prstGeom>
          <a:noFill/>
          <a:ln/>
        </p:spPr>
        <p:txBody>
          <a:bodyPr wrap="square" rtlCol="0" anchor="ctr"/>
          <a:lstStyle/>
          <a:p>
            <a:pPr algn="ctr" indent="0" marL="0">
              <a:buNone/>
            </a:pPr>
            <a:r>
              <a:rPr lang="en-US" sz="1100" b="1" dirty="0">
                <a:solidFill>
                  <a:srgbClr val="0A0F1E"/>
                </a:solidFill>
              </a:rPr>
              <a:t>06</a:t>
            </a:r>
            <a:endParaRPr lang="en-US" sz="1100" dirty="0"/>
          </a:p>
        </p:txBody>
      </p:sp>
      <p:sp>
        <p:nvSpPr>
          <p:cNvPr id="33" name="Text 31"/>
          <p:cNvSpPr/>
          <p:nvPr/>
        </p:nvSpPr>
        <p:spPr>
          <a:xfrm>
            <a:off x="5440680" y="2487168"/>
            <a:ext cx="3108960" cy="274320"/>
          </a:xfrm>
          <a:prstGeom prst="rect">
            <a:avLst/>
          </a:prstGeom>
          <a:noFill/>
          <a:ln/>
        </p:spPr>
        <p:txBody>
          <a:bodyPr wrap="square" rtlCol="0" anchor="ctr"/>
          <a:lstStyle/>
          <a:p>
            <a:pPr indent="0" marL="0">
              <a:buNone/>
            </a:pPr>
            <a:r>
              <a:rPr lang="en-US" sz="1150" b="1" dirty="0">
                <a:solidFill>
                  <a:srgbClr val="00B4D8"/>
                </a:solidFill>
              </a:rPr>
              <a:t>Review Collection</a:t>
            </a:r>
            <a:endParaRPr lang="en-US" sz="1150" dirty="0"/>
          </a:p>
        </p:txBody>
      </p:sp>
      <p:sp>
        <p:nvSpPr>
          <p:cNvPr id="34" name="Text 32"/>
          <p:cNvSpPr/>
          <p:nvPr/>
        </p:nvSpPr>
        <p:spPr>
          <a:xfrm>
            <a:off x="5440680" y="2761488"/>
            <a:ext cx="3108960" cy="310896"/>
          </a:xfrm>
          <a:prstGeom prst="rect">
            <a:avLst/>
          </a:prstGeom>
          <a:noFill/>
          <a:ln/>
        </p:spPr>
        <p:txBody>
          <a:bodyPr wrap="square" rtlCol="0" anchor="ctr"/>
          <a:lstStyle/>
          <a:p>
            <a:pPr indent="0" marL="0">
              <a:buNone/>
            </a:pPr>
            <a:r>
              <a:rPr lang="en-US" sz="900" dirty="0">
                <a:solidFill>
                  <a:srgbClr val="CBD5E1"/>
                </a:solidFill>
              </a:rPr>
              <a:t>Happy customers are prompted at exactly the right moment to leave a 5-star Google review.</a:t>
            </a:r>
            <a:endParaRPr lang="en-US" sz="900" dirty="0"/>
          </a:p>
        </p:txBody>
      </p:sp>
      <p:sp>
        <p:nvSpPr>
          <p:cNvPr id="35" name="Shape 33"/>
          <p:cNvSpPr/>
          <p:nvPr/>
        </p:nvSpPr>
        <p:spPr>
          <a:xfrm>
            <a:off x="4846320" y="3236976"/>
            <a:ext cx="3886200" cy="6858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36" name="Shape 34"/>
          <p:cNvSpPr/>
          <p:nvPr/>
        </p:nvSpPr>
        <p:spPr>
          <a:xfrm>
            <a:off x="4956048" y="3383280"/>
            <a:ext cx="384048" cy="384048"/>
          </a:xfrm>
          <a:prstGeom prst="oval">
            <a:avLst/>
          </a:prstGeom>
          <a:solidFill>
            <a:srgbClr val="00B4D8"/>
          </a:solidFill>
          <a:ln w="12700">
            <a:solidFill>
              <a:srgbClr val="000000"/>
            </a:solidFill>
            <a:prstDash val="solid"/>
          </a:ln>
        </p:spPr>
      </p:sp>
      <p:sp>
        <p:nvSpPr>
          <p:cNvPr id="37" name="Text 35"/>
          <p:cNvSpPr/>
          <p:nvPr/>
        </p:nvSpPr>
        <p:spPr>
          <a:xfrm>
            <a:off x="4956048" y="3383280"/>
            <a:ext cx="384048" cy="384048"/>
          </a:xfrm>
          <a:prstGeom prst="rect">
            <a:avLst/>
          </a:prstGeom>
          <a:noFill/>
          <a:ln/>
        </p:spPr>
        <p:txBody>
          <a:bodyPr wrap="square" rtlCol="0" anchor="ctr"/>
          <a:lstStyle/>
          <a:p>
            <a:pPr algn="ctr" indent="0" marL="0">
              <a:buNone/>
            </a:pPr>
            <a:r>
              <a:rPr lang="en-US" sz="1100" b="1" dirty="0">
                <a:solidFill>
                  <a:srgbClr val="0A0F1E"/>
                </a:solidFill>
              </a:rPr>
              <a:t>07</a:t>
            </a:r>
            <a:endParaRPr lang="en-US" sz="1100" dirty="0"/>
          </a:p>
        </p:txBody>
      </p:sp>
      <p:sp>
        <p:nvSpPr>
          <p:cNvPr id="38" name="Text 36"/>
          <p:cNvSpPr/>
          <p:nvPr/>
        </p:nvSpPr>
        <p:spPr>
          <a:xfrm>
            <a:off x="5440680" y="3291840"/>
            <a:ext cx="3108960" cy="274320"/>
          </a:xfrm>
          <a:prstGeom prst="rect">
            <a:avLst/>
          </a:prstGeom>
          <a:noFill/>
          <a:ln/>
        </p:spPr>
        <p:txBody>
          <a:bodyPr wrap="square" rtlCol="0" anchor="ctr"/>
          <a:lstStyle/>
          <a:p>
            <a:pPr indent="0" marL="0">
              <a:buNone/>
            </a:pPr>
            <a:r>
              <a:rPr lang="en-US" sz="1150" b="1" dirty="0">
                <a:solidFill>
                  <a:srgbClr val="00B4D8"/>
                </a:solidFill>
              </a:rPr>
              <a:t>Revenue Reporting</a:t>
            </a:r>
            <a:endParaRPr lang="en-US" sz="1150" dirty="0"/>
          </a:p>
        </p:txBody>
      </p:sp>
      <p:sp>
        <p:nvSpPr>
          <p:cNvPr id="39" name="Text 37"/>
          <p:cNvSpPr/>
          <p:nvPr/>
        </p:nvSpPr>
        <p:spPr>
          <a:xfrm>
            <a:off x="5440680" y="3566160"/>
            <a:ext cx="3108960" cy="310896"/>
          </a:xfrm>
          <a:prstGeom prst="rect">
            <a:avLst/>
          </a:prstGeom>
          <a:noFill/>
          <a:ln/>
        </p:spPr>
        <p:txBody>
          <a:bodyPr wrap="square" rtlCol="0" anchor="ctr"/>
          <a:lstStyle/>
          <a:p>
            <a:pPr indent="0" marL="0">
              <a:buNone/>
            </a:pPr>
            <a:r>
              <a:rPr lang="en-US" sz="900" dirty="0">
                <a:solidFill>
                  <a:srgbClr val="CBD5E1"/>
                </a:solidFill>
              </a:rPr>
              <a:t>Weekly dashboard shows recovered revenue, campaigns live, reviews collected, and bookings generated.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PERSONALIZATION</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800" b="1" dirty="0">
                <a:solidFill>
                  <a:srgbClr val="FFFFFF"/>
                </a:solidFill>
              </a:rPr>
              <a:t>Every Campaign Is Built</a:t>
            </a:r>
            <a:endParaRPr lang="en-US" sz="2800" dirty="0"/>
          </a:p>
          <a:p>
            <a:pPr indent="0" marL="0">
              <a:buNone/>
            </a:pPr>
            <a:r>
              <a:rPr lang="en-US" sz="2800" b="1" dirty="0">
                <a:solidFill>
                  <a:srgbClr val="FFFFFF"/>
                </a:solidFill>
              </a:rPr>
              <a:t>For That Specific Customer</a:t>
            </a:r>
            <a:endParaRPr lang="en-US" sz="2800" dirty="0"/>
          </a:p>
        </p:txBody>
      </p:sp>
      <p:sp>
        <p:nvSpPr>
          <p:cNvPr id="5" name="Shape 3"/>
          <p:cNvSpPr/>
          <p:nvPr/>
        </p:nvSpPr>
        <p:spPr>
          <a:xfrm>
            <a:off x="411480" y="1572768"/>
            <a:ext cx="2651760" cy="11887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11480" y="1682496"/>
            <a:ext cx="26517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11480" y="2103120"/>
            <a:ext cx="2651760" cy="274320"/>
          </a:xfrm>
          <a:prstGeom prst="rect">
            <a:avLst/>
          </a:prstGeom>
          <a:noFill/>
          <a:ln/>
        </p:spPr>
        <p:txBody>
          <a:bodyPr wrap="square" rtlCol="0" anchor="ctr"/>
          <a:lstStyle/>
          <a:p>
            <a:pPr algn="ctr" indent="0" marL="0">
              <a:buNone/>
            </a:pPr>
            <a:r>
              <a:rPr lang="en-US" sz="1200" b="1" dirty="0">
                <a:solidFill>
                  <a:srgbClr val="00B4D8"/>
                </a:solidFill>
              </a:rPr>
              <a:t>Service Type</a:t>
            </a:r>
            <a:endParaRPr lang="en-US" sz="1200" dirty="0"/>
          </a:p>
        </p:txBody>
      </p:sp>
      <p:sp>
        <p:nvSpPr>
          <p:cNvPr id="8" name="Text 6"/>
          <p:cNvSpPr/>
          <p:nvPr/>
        </p:nvSpPr>
        <p:spPr>
          <a:xfrm>
            <a:off x="521208" y="2377440"/>
            <a:ext cx="2432304" cy="320040"/>
          </a:xfrm>
          <a:prstGeom prst="rect">
            <a:avLst/>
          </a:prstGeom>
          <a:noFill/>
          <a:ln/>
        </p:spPr>
        <p:txBody>
          <a:bodyPr wrap="square" rtlCol="0" anchor="ctr"/>
          <a:lstStyle/>
          <a:p>
            <a:pPr algn="ctr" indent="0" marL="0">
              <a:buNone/>
            </a:pPr>
            <a:r>
              <a:rPr lang="en-US" sz="900" dirty="0">
                <a:solidFill>
                  <a:srgbClr val="CBD5E1"/>
                </a:solidFill>
              </a:rPr>
              <a:t>AC repair vs. install vs. maintenance — different messages, different urgency</a:t>
            </a:r>
            <a:endParaRPr lang="en-US" sz="900" dirty="0"/>
          </a:p>
        </p:txBody>
      </p:sp>
      <p:sp>
        <p:nvSpPr>
          <p:cNvPr id="9" name="Shape 7"/>
          <p:cNvSpPr/>
          <p:nvPr/>
        </p:nvSpPr>
        <p:spPr>
          <a:xfrm>
            <a:off x="3291840" y="1572768"/>
            <a:ext cx="2651760" cy="11887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0" name="Text 8"/>
          <p:cNvSpPr/>
          <p:nvPr/>
        </p:nvSpPr>
        <p:spPr>
          <a:xfrm>
            <a:off x="3291840" y="1682496"/>
            <a:ext cx="26517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3291840" y="2103120"/>
            <a:ext cx="2651760" cy="274320"/>
          </a:xfrm>
          <a:prstGeom prst="rect">
            <a:avLst/>
          </a:prstGeom>
          <a:noFill/>
          <a:ln/>
        </p:spPr>
        <p:txBody>
          <a:bodyPr wrap="square" rtlCol="0" anchor="ctr"/>
          <a:lstStyle/>
          <a:p>
            <a:pPr algn="ctr" indent="0" marL="0">
              <a:buNone/>
            </a:pPr>
            <a:r>
              <a:rPr lang="en-US" sz="1200" b="1" dirty="0">
                <a:solidFill>
                  <a:srgbClr val="00B4D8"/>
                </a:solidFill>
              </a:rPr>
              <a:t>Customer History</a:t>
            </a:r>
            <a:endParaRPr lang="en-US" sz="1200" dirty="0"/>
          </a:p>
        </p:txBody>
      </p:sp>
      <p:sp>
        <p:nvSpPr>
          <p:cNvPr id="12" name="Text 10"/>
          <p:cNvSpPr/>
          <p:nvPr/>
        </p:nvSpPr>
        <p:spPr>
          <a:xfrm>
            <a:off x="3401568" y="2377440"/>
            <a:ext cx="2432304" cy="320040"/>
          </a:xfrm>
          <a:prstGeom prst="rect">
            <a:avLst/>
          </a:prstGeom>
          <a:noFill/>
          <a:ln/>
        </p:spPr>
        <p:txBody>
          <a:bodyPr wrap="square" rtlCol="0" anchor="ctr"/>
          <a:lstStyle/>
          <a:p>
            <a:pPr algn="ctr" indent="0" marL="0">
              <a:buNone/>
            </a:pPr>
            <a:r>
              <a:rPr lang="en-US" sz="900" dirty="0">
                <a:solidFill>
                  <a:srgbClr val="CBD5E1"/>
                </a:solidFill>
              </a:rPr>
              <a:t>First-time vs. repeat vs. VIP — loyalty-aware communication</a:t>
            </a:r>
            <a:endParaRPr lang="en-US" sz="900" dirty="0"/>
          </a:p>
        </p:txBody>
      </p:sp>
      <p:sp>
        <p:nvSpPr>
          <p:cNvPr id="13" name="Shape 11"/>
          <p:cNvSpPr/>
          <p:nvPr/>
        </p:nvSpPr>
        <p:spPr>
          <a:xfrm>
            <a:off x="6172200" y="1572768"/>
            <a:ext cx="2651760" cy="11887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6172200" y="1682496"/>
            <a:ext cx="26517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6172200" y="2103120"/>
            <a:ext cx="2651760" cy="274320"/>
          </a:xfrm>
          <a:prstGeom prst="rect">
            <a:avLst/>
          </a:prstGeom>
          <a:noFill/>
          <a:ln/>
        </p:spPr>
        <p:txBody>
          <a:bodyPr wrap="square" rtlCol="0" anchor="ctr"/>
          <a:lstStyle/>
          <a:p>
            <a:pPr algn="ctr" indent="0" marL="0">
              <a:buNone/>
            </a:pPr>
            <a:r>
              <a:rPr lang="en-US" sz="1200" b="1" dirty="0">
                <a:solidFill>
                  <a:srgbClr val="00B4D8"/>
                </a:solidFill>
              </a:rPr>
              <a:t>Season / Timing</a:t>
            </a:r>
            <a:endParaRPr lang="en-US" sz="1200" dirty="0"/>
          </a:p>
        </p:txBody>
      </p:sp>
      <p:sp>
        <p:nvSpPr>
          <p:cNvPr id="16" name="Text 14"/>
          <p:cNvSpPr/>
          <p:nvPr/>
        </p:nvSpPr>
        <p:spPr>
          <a:xfrm>
            <a:off x="6281928" y="2377440"/>
            <a:ext cx="2432304" cy="320040"/>
          </a:xfrm>
          <a:prstGeom prst="rect">
            <a:avLst/>
          </a:prstGeom>
          <a:noFill/>
          <a:ln/>
        </p:spPr>
        <p:txBody>
          <a:bodyPr wrap="square" rtlCol="0" anchor="ctr"/>
          <a:lstStyle/>
          <a:p>
            <a:pPr algn="ctr" indent="0" marL="0">
              <a:buNone/>
            </a:pPr>
            <a:r>
              <a:rPr lang="en-US" sz="900" dirty="0">
                <a:solidFill>
                  <a:srgbClr val="CBD5E1"/>
                </a:solidFill>
              </a:rPr>
              <a:t>Pre-season tune-up campaigns triggered before peak demand</a:t>
            </a:r>
            <a:endParaRPr lang="en-US" sz="900" dirty="0"/>
          </a:p>
        </p:txBody>
      </p:sp>
      <p:sp>
        <p:nvSpPr>
          <p:cNvPr id="17" name="Shape 15"/>
          <p:cNvSpPr/>
          <p:nvPr/>
        </p:nvSpPr>
        <p:spPr>
          <a:xfrm>
            <a:off x="411480" y="2944368"/>
            <a:ext cx="2651760" cy="11887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8" name="Text 16"/>
          <p:cNvSpPr/>
          <p:nvPr/>
        </p:nvSpPr>
        <p:spPr>
          <a:xfrm>
            <a:off x="411480" y="3054096"/>
            <a:ext cx="26517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411480" y="3474720"/>
            <a:ext cx="2651760" cy="274320"/>
          </a:xfrm>
          <a:prstGeom prst="rect">
            <a:avLst/>
          </a:prstGeom>
          <a:noFill/>
          <a:ln/>
        </p:spPr>
        <p:txBody>
          <a:bodyPr wrap="square" rtlCol="0" anchor="ctr"/>
          <a:lstStyle/>
          <a:p>
            <a:pPr algn="ctr" indent="0" marL="0">
              <a:buNone/>
            </a:pPr>
            <a:r>
              <a:rPr lang="en-US" sz="1200" b="1" dirty="0">
                <a:solidFill>
                  <a:srgbClr val="00B4D8"/>
                </a:solidFill>
              </a:rPr>
              <a:t>Equipment Age</a:t>
            </a:r>
            <a:endParaRPr lang="en-US" sz="1200" dirty="0"/>
          </a:p>
        </p:txBody>
      </p:sp>
      <p:sp>
        <p:nvSpPr>
          <p:cNvPr id="20" name="Text 18"/>
          <p:cNvSpPr/>
          <p:nvPr/>
        </p:nvSpPr>
        <p:spPr>
          <a:xfrm>
            <a:off x="521208" y="3749040"/>
            <a:ext cx="2432304" cy="320040"/>
          </a:xfrm>
          <a:prstGeom prst="rect">
            <a:avLst/>
          </a:prstGeom>
          <a:noFill/>
          <a:ln/>
        </p:spPr>
        <p:txBody>
          <a:bodyPr wrap="square" rtlCol="0" anchor="ctr"/>
          <a:lstStyle/>
          <a:p>
            <a:pPr algn="ctr" indent="0" marL="0">
              <a:buNone/>
            </a:pPr>
            <a:r>
              <a:rPr lang="en-US" sz="900" dirty="0">
                <a:solidFill>
                  <a:srgbClr val="CBD5E1"/>
                </a:solidFill>
              </a:rPr>
              <a:t>Units 8–12 years old receive replacement-awareness messaging</a:t>
            </a:r>
            <a:endParaRPr lang="en-US" sz="900" dirty="0"/>
          </a:p>
        </p:txBody>
      </p:sp>
      <p:sp>
        <p:nvSpPr>
          <p:cNvPr id="21" name="Shape 19"/>
          <p:cNvSpPr/>
          <p:nvPr/>
        </p:nvSpPr>
        <p:spPr>
          <a:xfrm>
            <a:off x="3291840" y="2944368"/>
            <a:ext cx="2651760" cy="11887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2" name="Text 20"/>
          <p:cNvSpPr/>
          <p:nvPr/>
        </p:nvSpPr>
        <p:spPr>
          <a:xfrm>
            <a:off x="3291840" y="3054096"/>
            <a:ext cx="26517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3291840" y="3474720"/>
            <a:ext cx="2651760" cy="274320"/>
          </a:xfrm>
          <a:prstGeom prst="rect">
            <a:avLst/>
          </a:prstGeom>
          <a:noFill/>
          <a:ln/>
        </p:spPr>
        <p:txBody>
          <a:bodyPr wrap="square" rtlCol="0" anchor="ctr"/>
          <a:lstStyle/>
          <a:p>
            <a:pPr algn="ctr" indent="0" marL="0">
              <a:buNone/>
            </a:pPr>
            <a:r>
              <a:rPr lang="en-US" sz="1200" b="1" dirty="0">
                <a:solidFill>
                  <a:srgbClr val="00B4D8"/>
                </a:solidFill>
              </a:rPr>
              <a:t>Lead Status</a:t>
            </a:r>
            <a:endParaRPr lang="en-US" sz="1200" dirty="0"/>
          </a:p>
        </p:txBody>
      </p:sp>
      <p:sp>
        <p:nvSpPr>
          <p:cNvPr id="24" name="Text 22"/>
          <p:cNvSpPr/>
          <p:nvPr/>
        </p:nvSpPr>
        <p:spPr>
          <a:xfrm>
            <a:off x="3401568" y="3749040"/>
            <a:ext cx="2432304" cy="320040"/>
          </a:xfrm>
          <a:prstGeom prst="rect">
            <a:avLst/>
          </a:prstGeom>
          <a:noFill/>
          <a:ln/>
        </p:spPr>
        <p:txBody>
          <a:bodyPr wrap="square" rtlCol="0" anchor="ctr"/>
          <a:lstStyle/>
          <a:p>
            <a:pPr algn="ctr" indent="0" marL="0">
              <a:buNone/>
            </a:pPr>
            <a:r>
              <a:rPr lang="en-US" sz="900" dirty="0">
                <a:solidFill>
                  <a:srgbClr val="CBD5E1"/>
                </a:solidFill>
              </a:rPr>
              <a:t>Cold leads vs. warm vs. quote-sent — each gets the right follow-up</a:t>
            </a:r>
            <a:endParaRPr lang="en-US" sz="900" dirty="0"/>
          </a:p>
        </p:txBody>
      </p:sp>
      <p:sp>
        <p:nvSpPr>
          <p:cNvPr id="25" name="Shape 23"/>
          <p:cNvSpPr/>
          <p:nvPr/>
        </p:nvSpPr>
        <p:spPr>
          <a:xfrm>
            <a:off x="6172200" y="2944368"/>
            <a:ext cx="2651760" cy="11887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6" name="Text 24"/>
          <p:cNvSpPr/>
          <p:nvPr/>
        </p:nvSpPr>
        <p:spPr>
          <a:xfrm>
            <a:off x="6172200" y="3054096"/>
            <a:ext cx="26517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6172200" y="3474720"/>
            <a:ext cx="2651760" cy="274320"/>
          </a:xfrm>
          <a:prstGeom prst="rect">
            <a:avLst/>
          </a:prstGeom>
          <a:noFill/>
          <a:ln/>
        </p:spPr>
        <p:txBody>
          <a:bodyPr wrap="square" rtlCol="0" anchor="ctr"/>
          <a:lstStyle/>
          <a:p>
            <a:pPr algn="ctr" indent="0" marL="0">
              <a:buNone/>
            </a:pPr>
            <a:r>
              <a:rPr lang="en-US" sz="1200" b="1" dirty="0">
                <a:solidFill>
                  <a:srgbClr val="00B4D8"/>
                </a:solidFill>
              </a:rPr>
              <a:t>Buying Behavior</a:t>
            </a:r>
            <a:endParaRPr lang="en-US" sz="1200" dirty="0"/>
          </a:p>
        </p:txBody>
      </p:sp>
      <p:sp>
        <p:nvSpPr>
          <p:cNvPr id="28" name="Text 26"/>
          <p:cNvSpPr/>
          <p:nvPr/>
        </p:nvSpPr>
        <p:spPr>
          <a:xfrm>
            <a:off x="6281928" y="3749040"/>
            <a:ext cx="2432304" cy="320040"/>
          </a:xfrm>
          <a:prstGeom prst="rect">
            <a:avLst/>
          </a:prstGeom>
          <a:noFill/>
          <a:ln/>
        </p:spPr>
        <p:txBody>
          <a:bodyPr wrap="square" rtlCol="0" anchor="ctr"/>
          <a:lstStyle/>
          <a:p>
            <a:pPr algn="ctr" indent="0" marL="0">
              <a:buNone/>
            </a:pPr>
            <a:r>
              <a:rPr lang="en-US" sz="900" dirty="0">
                <a:solidFill>
                  <a:srgbClr val="CBD5E1"/>
                </a:solidFill>
              </a:rPr>
              <a:t>High-ticket vs. budget-focused customers receive appropriate offers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OUR POSITIONING</a:t>
            </a:r>
            <a:endParaRPr lang="en-US" sz="800" dirty="0"/>
          </a:p>
        </p:txBody>
      </p:sp>
      <p:sp>
        <p:nvSpPr>
          <p:cNvPr id="4" name="Text 2"/>
          <p:cNvSpPr/>
          <p:nvPr/>
        </p:nvSpPr>
        <p:spPr>
          <a:xfrm>
            <a:off x="411480" y="530352"/>
            <a:ext cx="8321040" cy="960120"/>
          </a:xfrm>
          <a:prstGeom prst="rect">
            <a:avLst/>
          </a:prstGeom>
          <a:noFill/>
          <a:ln/>
        </p:spPr>
        <p:txBody>
          <a:bodyPr wrap="square" rtlCol="0" anchor="ctr"/>
          <a:lstStyle/>
          <a:p>
            <a:pPr indent="0" marL="0">
              <a:buNone/>
            </a:pPr>
            <a:r>
              <a:rPr lang="en-US" sz="2600" b="1" dirty="0">
                <a:solidFill>
                  <a:srgbClr val="FFFFFF"/>
                </a:solidFill>
              </a:rPr>
              <a:t>We're Not a Marketing Agency.</a:t>
            </a:r>
            <a:endParaRPr lang="en-US" sz="2600" dirty="0"/>
          </a:p>
          <a:p>
            <a:pPr indent="0" marL="0">
              <a:buNone/>
            </a:pPr>
            <a:r>
              <a:rPr lang="en-US" sz="2600" b="1" dirty="0">
                <a:solidFill>
                  <a:srgbClr val="FFFFFF"/>
                </a:solidFill>
              </a:rPr>
              <a:t>We're a Revenue Operations Partner.</a:t>
            </a:r>
            <a:endParaRPr lang="en-US" sz="2600" dirty="0"/>
          </a:p>
        </p:txBody>
      </p:sp>
      <p:sp>
        <p:nvSpPr>
          <p:cNvPr id="5" name="Shape 3"/>
          <p:cNvSpPr/>
          <p:nvPr/>
        </p:nvSpPr>
        <p:spPr>
          <a:xfrm>
            <a:off x="411480" y="1600200"/>
            <a:ext cx="3931920" cy="120700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411480" y="1600200"/>
            <a:ext cx="3931920" cy="54864"/>
          </a:xfrm>
          <a:prstGeom prst="rect">
            <a:avLst/>
          </a:prstGeom>
          <a:solidFill>
            <a:srgbClr val="00B4D8"/>
          </a:solidFill>
          <a:ln w="12700">
            <a:solidFill>
              <a:srgbClr val="000000"/>
            </a:solidFill>
            <a:prstDash val="solid"/>
          </a:ln>
        </p:spPr>
      </p:sp>
      <p:sp>
        <p:nvSpPr>
          <p:cNvPr id="7" name="Text 5"/>
          <p:cNvSpPr/>
          <p:nvPr/>
        </p:nvSpPr>
        <p:spPr>
          <a:xfrm>
            <a:off x="576072" y="1737360"/>
            <a:ext cx="3566160" cy="320040"/>
          </a:xfrm>
          <a:prstGeom prst="rect">
            <a:avLst/>
          </a:prstGeom>
          <a:noFill/>
          <a:ln/>
        </p:spPr>
        <p:txBody>
          <a:bodyPr wrap="square" rtlCol="0" anchor="ctr"/>
          <a:lstStyle/>
          <a:p>
            <a:pPr indent="0" marL="0">
              <a:buNone/>
            </a:pPr>
            <a:r>
              <a:rPr lang="en-US" sz="1400" b="1" dirty="0">
                <a:solidFill>
                  <a:srgbClr val="00B4D8"/>
                </a:solidFill>
              </a:rPr>
              <a:t>Niche-Focused</a:t>
            </a:r>
            <a:endParaRPr lang="en-US" sz="1400" dirty="0"/>
          </a:p>
        </p:txBody>
      </p:sp>
      <p:sp>
        <p:nvSpPr>
          <p:cNvPr id="8" name="Text 6"/>
          <p:cNvSpPr/>
          <p:nvPr/>
        </p:nvSpPr>
        <p:spPr>
          <a:xfrm>
            <a:off x="576072" y="2075688"/>
            <a:ext cx="3566160" cy="621792"/>
          </a:xfrm>
          <a:prstGeom prst="rect">
            <a:avLst/>
          </a:prstGeom>
          <a:noFill/>
          <a:ln/>
        </p:spPr>
        <p:txBody>
          <a:bodyPr wrap="square" rtlCol="0" anchor="ctr"/>
          <a:lstStyle/>
          <a:p>
            <a:pPr indent="0" marL="0">
              <a:buNone/>
            </a:pPr>
            <a:r>
              <a:rPr lang="en-US" sz="1050" dirty="0">
                <a:solidFill>
                  <a:srgbClr val="CBD5E1"/>
                </a:solidFill>
              </a:rPr>
              <a:t>We work exclusively in HVAC and home services. We know the seasonality, the service cycles, the customer objections, and the CRM workflows.</a:t>
            </a:r>
            <a:endParaRPr lang="en-US" sz="1050" dirty="0"/>
          </a:p>
        </p:txBody>
      </p:sp>
      <p:sp>
        <p:nvSpPr>
          <p:cNvPr id="9" name="Shape 7"/>
          <p:cNvSpPr/>
          <p:nvPr/>
        </p:nvSpPr>
        <p:spPr>
          <a:xfrm>
            <a:off x="4754880" y="1600200"/>
            <a:ext cx="3931920" cy="120700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4754880" y="1600200"/>
            <a:ext cx="3931920" cy="54864"/>
          </a:xfrm>
          <a:prstGeom prst="rect">
            <a:avLst/>
          </a:prstGeom>
          <a:solidFill>
            <a:srgbClr val="06D6A0"/>
          </a:solidFill>
          <a:ln w="12700">
            <a:solidFill>
              <a:srgbClr val="000000"/>
            </a:solidFill>
            <a:prstDash val="solid"/>
          </a:ln>
        </p:spPr>
      </p:sp>
      <p:sp>
        <p:nvSpPr>
          <p:cNvPr id="11" name="Text 9"/>
          <p:cNvSpPr/>
          <p:nvPr/>
        </p:nvSpPr>
        <p:spPr>
          <a:xfrm>
            <a:off x="4919472" y="1737360"/>
            <a:ext cx="3566160" cy="320040"/>
          </a:xfrm>
          <a:prstGeom prst="rect">
            <a:avLst/>
          </a:prstGeom>
          <a:noFill/>
          <a:ln/>
        </p:spPr>
        <p:txBody>
          <a:bodyPr wrap="square" rtlCol="0" anchor="ctr"/>
          <a:lstStyle/>
          <a:p>
            <a:pPr indent="0" marL="0">
              <a:buNone/>
            </a:pPr>
            <a:r>
              <a:rPr lang="en-US" sz="1400" b="1" dirty="0">
                <a:solidFill>
                  <a:srgbClr val="06D6A0"/>
                </a:solidFill>
              </a:rPr>
              <a:t>Revenue-First Metrics</a:t>
            </a:r>
            <a:endParaRPr lang="en-US" sz="1400" dirty="0"/>
          </a:p>
        </p:txBody>
      </p:sp>
      <p:sp>
        <p:nvSpPr>
          <p:cNvPr id="12" name="Text 10"/>
          <p:cNvSpPr/>
          <p:nvPr/>
        </p:nvSpPr>
        <p:spPr>
          <a:xfrm>
            <a:off x="4919472" y="2075688"/>
            <a:ext cx="3566160" cy="621792"/>
          </a:xfrm>
          <a:prstGeom prst="rect">
            <a:avLst/>
          </a:prstGeom>
          <a:noFill/>
          <a:ln/>
        </p:spPr>
        <p:txBody>
          <a:bodyPr wrap="square" rtlCol="0" anchor="ctr"/>
          <a:lstStyle/>
          <a:p>
            <a:pPr indent="0" marL="0">
              <a:buNone/>
            </a:pPr>
            <a:r>
              <a:rPr lang="en-US" sz="1050" dirty="0">
                <a:solidFill>
                  <a:srgbClr val="CBD5E1"/>
                </a:solidFill>
              </a:rPr>
              <a:t>We measure success in booked jobs, recovered revenue, and customer lifetime value — not clicks, impressions, or open rates.</a:t>
            </a:r>
            <a:endParaRPr lang="en-US" sz="1050" dirty="0"/>
          </a:p>
        </p:txBody>
      </p:sp>
      <p:sp>
        <p:nvSpPr>
          <p:cNvPr id="13" name="Shape 11"/>
          <p:cNvSpPr/>
          <p:nvPr/>
        </p:nvSpPr>
        <p:spPr>
          <a:xfrm>
            <a:off x="411480" y="2990088"/>
            <a:ext cx="3931920" cy="120700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11480" y="2990088"/>
            <a:ext cx="3931920" cy="54864"/>
          </a:xfrm>
          <a:prstGeom prst="rect">
            <a:avLst/>
          </a:prstGeom>
          <a:solidFill>
            <a:srgbClr val="00B4D8"/>
          </a:solidFill>
          <a:ln w="12700">
            <a:solidFill>
              <a:srgbClr val="000000"/>
            </a:solidFill>
            <a:prstDash val="solid"/>
          </a:ln>
        </p:spPr>
      </p:sp>
      <p:sp>
        <p:nvSpPr>
          <p:cNvPr id="15" name="Text 13"/>
          <p:cNvSpPr/>
          <p:nvPr/>
        </p:nvSpPr>
        <p:spPr>
          <a:xfrm>
            <a:off x="576072" y="3127248"/>
            <a:ext cx="3566160" cy="320040"/>
          </a:xfrm>
          <a:prstGeom prst="rect">
            <a:avLst/>
          </a:prstGeom>
          <a:noFill/>
          <a:ln/>
        </p:spPr>
        <p:txBody>
          <a:bodyPr wrap="square" rtlCol="0" anchor="ctr"/>
          <a:lstStyle/>
          <a:p>
            <a:pPr indent="0" marL="0">
              <a:buNone/>
            </a:pPr>
            <a:r>
              <a:rPr lang="en-US" sz="1400" b="1" dirty="0">
                <a:solidFill>
                  <a:srgbClr val="00B4D8"/>
                </a:solidFill>
              </a:rPr>
              <a:t>Operational Compatibility</a:t>
            </a:r>
            <a:endParaRPr lang="en-US" sz="1400" dirty="0"/>
          </a:p>
        </p:txBody>
      </p:sp>
      <p:sp>
        <p:nvSpPr>
          <p:cNvPr id="16" name="Text 14"/>
          <p:cNvSpPr/>
          <p:nvPr/>
        </p:nvSpPr>
        <p:spPr>
          <a:xfrm>
            <a:off x="576072" y="3465576"/>
            <a:ext cx="3566160" cy="621792"/>
          </a:xfrm>
          <a:prstGeom prst="rect">
            <a:avLst/>
          </a:prstGeom>
          <a:noFill/>
          <a:ln/>
        </p:spPr>
        <p:txBody>
          <a:bodyPr wrap="square" rtlCol="0" anchor="ctr"/>
          <a:lstStyle/>
          <a:p>
            <a:pPr indent="0" marL="0">
              <a:buNone/>
            </a:pPr>
            <a:r>
              <a:rPr lang="en-US" sz="1050" dirty="0">
                <a:solidFill>
                  <a:srgbClr val="CBD5E1"/>
                </a:solidFill>
              </a:rPr>
              <a:t>We integrate into your existing CRM and tech stack. No rip-and-replace. No retraining your team on new software.</a:t>
            </a:r>
            <a:endParaRPr lang="en-US" sz="1050" dirty="0"/>
          </a:p>
        </p:txBody>
      </p:sp>
      <p:sp>
        <p:nvSpPr>
          <p:cNvPr id="17" name="Shape 15"/>
          <p:cNvSpPr/>
          <p:nvPr/>
        </p:nvSpPr>
        <p:spPr>
          <a:xfrm>
            <a:off x="4754880" y="2990088"/>
            <a:ext cx="3931920" cy="120700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4754880" y="2990088"/>
            <a:ext cx="3931920" cy="54864"/>
          </a:xfrm>
          <a:prstGeom prst="rect">
            <a:avLst/>
          </a:prstGeom>
          <a:solidFill>
            <a:srgbClr val="06D6A0"/>
          </a:solidFill>
          <a:ln w="12700">
            <a:solidFill>
              <a:srgbClr val="000000"/>
            </a:solidFill>
            <a:prstDash val="solid"/>
          </a:ln>
        </p:spPr>
      </p:sp>
      <p:sp>
        <p:nvSpPr>
          <p:cNvPr id="19" name="Text 17"/>
          <p:cNvSpPr/>
          <p:nvPr/>
        </p:nvSpPr>
        <p:spPr>
          <a:xfrm>
            <a:off x="4919472" y="3127248"/>
            <a:ext cx="3566160" cy="320040"/>
          </a:xfrm>
          <a:prstGeom prst="rect">
            <a:avLst/>
          </a:prstGeom>
          <a:noFill/>
          <a:ln/>
        </p:spPr>
        <p:txBody>
          <a:bodyPr wrap="square" rtlCol="0" anchor="ctr"/>
          <a:lstStyle/>
          <a:p>
            <a:pPr indent="0" marL="0">
              <a:buNone/>
            </a:pPr>
            <a:r>
              <a:rPr lang="en-US" sz="1400" b="1" dirty="0">
                <a:solidFill>
                  <a:srgbClr val="06D6A0"/>
                </a:solidFill>
              </a:rPr>
              <a:t>Measurable Accountability</a:t>
            </a:r>
            <a:endParaRPr lang="en-US" sz="1400" dirty="0"/>
          </a:p>
        </p:txBody>
      </p:sp>
      <p:sp>
        <p:nvSpPr>
          <p:cNvPr id="20" name="Text 18"/>
          <p:cNvSpPr/>
          <p:nvPr/>
        </p:nvSpPr>
        <p:spPr>
          <a:xfrm>
            <a:off x="4919472" y="3465576"/>
            <a:ext cx="3566160" cy="621792"/>
          </a:xfrm>
          <a:prstGeom prst="rect">
            <a:avLst/>
          </a:prstGeom>
          <a:noFill/>
          <a:ln/>
        </p:spPr>
        <p:txBody>
          <a:bodyPr wrap="square" rtlCol="0" anchor="ctr"/>
          <a:lstStyle/>
          <a:p>
            <a:pPr indent="0" marL="0">
              <a:buNone/>
            </a:pPr>
            <a:r>
              <a:rPr lang="en-US" sz="1050" dirty="0">
                <a:solidFill>
                  <a:srgbClr val="CBD5E1"/>
                </a:solidFill>
              </a:rPr>
              <a:t>Every campaign ties to a revenue outcome. You see exactly what's working, what's been recovered, and what's next.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OBJECTION HANDLING</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600" b="1" dirty="0">
                <a:solidFill>
                  <a:srgbClr val="FFFFFF"/>
                </a:solidFill>
              </a:rPr>
              <a:t>Answers to the Questions</a:t>
            </a:r>
            <a:endParaRPr lang="en-US" sz="2600" dirty="0"/>
          </a:p>
          <a:p>
            <a:pPr indent="0" marL="0">
              <a:buNone/>
            </a:pPr>
            <a:r>
              <a:rPr lang="en-US" sz="2600" b="1" dirty="0">
                <a:solidFill>
                  <a:srgbClr val="FFFFFF"/>
                </a:solidFill>
              </a:rPr>
              <a:t>You're Probably Already Thinking</a:t>
            </a:r>
            <a:endParaRPr lang="en-US" sz="2600" dirty="0"/>
          </a:p>
        </p:txBody>
      </p:sp>
      <p:sp>
        <p:nvSpPr>
          <p:cNvPr id="5" name="Shape 3"/>
          <p:cNvSpPr/>
          <p:nvPr/>
        </p:nvSpPr>
        <p:spPr>
          <a:xfrm>
            <a:off x="411480" y="1572768"/>
            <a:ext cx="3931920" cy="1024128"/>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548640" y="1664208"/>
            <a:ext cx="3611880" cy="274320"/>
          </a:xfrm>
          <a:prstGeom prst="rect">
            <a:avLst/>
          </a:prstGeom>
          <a:noFill/>
          <a:ln/>
        </p:spPr>
        <p:txBody>
          <a:bodyPr wrap="square" rtlCol="0" anchor="ctr"/>
          <a:lstStyle/>
          <a:p>
            <a:pPr indent="0" marL="0">
              <a:buNone/>
            </a:pPr>
            <a:r>
              <a:rPr lang="en-US" sz="1100" b="1" dirty="0">
                <a:solidFill>
                  <a:srgbClr val="FF9F1C"/>
                </a:solidFill>
              </a:rPr>
              <a:t>"We already have a CRM."</a:t>
            </a:r>
            <a:endParaRPr lang="en-US" sz="1100" dirty="0"/>
          </a:p>
        </p:txBody>
      </p:sp>
      <p:sp>
        <p:nvSpPr>
          <p:cNvPr id="7" name="Text 5"/>
          <p:cNvSpPr/>
          <p:nvPr/>
        </p:nvSpPr>
        <p:spPr>
          <a:xfrm>
            <a:off x="548640" y="1975104"/>
            <a:ext cx="3611880" cy="530352"/>
          </a:xfrm>
          <a:prstGeom prst="rect">
            <a:avLst/>
          </a:prstGeom>
          <a:noFill/>
          <a:ln/>
        </p:spPr>
        <p:txBody>
          <a:bodyPr wrap="square" rtlCol="0" anchor="ctr"/>
          <a:lstStyle/>
          <a:p>
            <a:pPr indent="0" marL="0">
              <a:buNone/>
            </a:pPr>
            <a:r>
              <a:rPr lang="en-US" sz="1000" dirty="0">
                <a:solidFill>
                  <a:srgbClr val="CBD5E1"/>
                </a:solidFill>
              </a:rPr>
              <a:t>We work inside it — we don't replace it. We activate the data you're already ignoring.</a:t>
            </a:r>
            <a:endParaRPr lang="en-US" sz="1000" dirty="0"/>
          </a:p>
        </p:txBody>
      </p:sp>
      <p:sp>
        <p:nvSpPr>
          <p:cNvPr id="8" name="Shape 6"/>
          <p:cNvSpPr/>
          <p:nvPr/>
        </p:nvSpPr>
        <p:spPr>
          <a:xfrm>
            <a:off x="4754880" y="1572768"/>
            <a:ext cx="3931920" cy="1024128"/>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4892040" y="1664208"/>
            <a:ext cx="3611880" cy="274320"/>
          </a:xfrm>
          <a:prstGeom prst="rect">
            <a:avLst/>
          </a:prstGeom>
          <a:noFill/>
          <a:ln/>
        </p:spPr>
        <p:txBody>
          <a:bodyPr wrap="square" rtlCol="0" anchor="ctr"/>
          <a:lstStyle/>
          <a:p>
            <a:pPr indent="0" marL="0">
              <a:buNone/>
            </a:pPr>
            <a:r>
              <a:rPr lang="en-US" sz="1100" b="1" dirty="0">
                <a:solidFill>
                  <a:srgbClr val="FF9F1C"/>
                </a:solidFill>
              </a:rPr>
              <a:t>"Our staff handles follow-ups."</a:t>
            </a:r>
            <a:endParaRPr lang="en-US" sz="1100" dirty="0"/>
          </a:p>
        </p:txBody>
      </p:sp>
      <p:sp>
        <p:nvSpPr>
          <p:cNvPr id="10" name="Text 8"/>
          <p:cNvSpPr/>
          <p:nvPr/>
        </p:nvSpPr>
        <p:spPr>
          <a:xfrm>
            <a:off x="4892040" y="1975104"/>
            <a:ext cx="3611880" cy="530352"/>
          </a:xfrm>
          <a:prstGeom prst="rect">
            <a:avLst/>
          </a:prstGeom>
          <a:noFill/>
          <a:ln/>
        </p:spPr>
        <p:txBody>
          <a:bodyPr wrap="square" rtlCol="0" anchor="ctr"/>
          <a:lstStyle/>
          <a:p>
            <a:pPr indent="0" marL="0">
              <a:buNone/>
            </a:pPr>
            <a:r>
              <a:rPr lang="en-US" sz="1000" dirty="0">
                <a:solidFill>
                  <a:srgbClr val="CBD5E1"/>
                </a:solidFill>
              </a:rPr>
              <a:t>Human staff can't follow up with 2,000 contacts consistently. We automate the volume so your team focuses on live calls.</a:t>
            </a:r>
            <a:endParaRPr lang="en-US" sz="1000" dirty="0"/>
          </a:p>
        </p:txBody>
      </p:sp>
      <p:sp>
        <p:nvSpPr>
          <p:cNvPr id="11" name="Shape 9"/>
          <p:cNvSpPr/>
          <p:nvPr/>
        </p:nvSpPr>
        <p:spPr>
          <a:xfrm>
            <a:off x="411480" y="2688336"/>
            <a:ext cx="3931920" cy="1024128"/>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548640" y="2779776"/>
            <a:ext cx="3611880" cy="274320"/>
          </a:xfrm>
          <a:prstGeom prst="rect">
            <a:avLst/>
          </a:prstGeom>
          <a:noFill/>
          <a:ln/>
        </p:spPr>
        <p:txBody>
          <a:bodyPr wrap="square" rtlCol="0" anchor="ctr"/>
          <a:lstStyle/>
          <a:p>
            <a:pPr indent="0" marL="0">
              <a:buNone/>
            </a:pPr>
            <a:r>
              <a:rPr lang="en-US" sz="1100" b="1" dirty="0">
                <a:solidFill>
                  <a:srgbClr val="FF9F1C"/>
                </a:solidFill>
              </a:rPr>
              <a:t>"AI sounds robotic."</a:t>
            </a:r>
            <a:endParaRPr lang="en-US" sz="1100" dirty="0"/>
          </a:p>
        </p:txBody>
      </p:sp>
      <p:sp>
        <p:nvSpPr>
          <p:cNvPr id="13" name="Text 11"/>
          <p:cNvSpPr/>
          <p:nvPr/>
        </p:nvSpPr>
        <p:spPr>
          <a:xfrm>
            <a:off x="548640" y="3090672"/>
            <a:ext cx="3611880" cy="530352"/>
          </a:xfrm>
          <a:prstGeom prst="rect">
            <a:avLst/>
          </a:prstGeom>
          <a:noFill/>
          <a:ln/>
        </p:spPr>
        <p:txBody>
          <a:bodyPr wrap="square" rtlCol="0" anchor="ctr"/>
          <a:lstStyle/>
          <a:p>
            <a:pPr indent="0" marL="0">
              <a:buNone/>
            </a:pPr>
            <a:r>
              <a:rPr lang="en-US" sz="1000" dirty="0">
                <a:solidFill>
                  <a:srgbClr val="CBD5E1"/>
                </a:solidFill>
              </a:rPr>
              <a:t>Our messages are indistinguishable from a personal text. Customers respond because it feels human.</a:t>
            </a:r>
            <a:endParaRPr lang="en-US" sz="1000" dirty="0"/>
          </a:p>
        </p:txBody>
      </p:sp>
      <p:sp>
        <p:nvSpPr>
          <p:cNvPr id="14" name="Shape 12"/>
          <p:cNvSpPr/>
          <p:nvPr/>
        </p:nvSpPr>
        <p:spPr>
          <a:xfrm>
            <a:off x="4754880" y="2688336"/>
            <a:ext cx="3931920" cy="1024128"/>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4892040" y="2779776"/>
            <a:ext cx="3611880" cy="274320"/>
          </a:xfrm>
          <a:prstGeom prst="rect">
            <a:avLst/>
          </a:prstGeom>
          <a:noFill/>
          <a:ln/>
        </p:spPr>
        <p:txBody>
          <a:bodyPr wrap="square" rtlCol="0" anchor="ctr"/>
          <a:lstStyle/>
          <a:p>
            <a:pPr indent="0" marL="0">
              <a:buNone/>
            </a:pPr>
            <a:r>
              <a:rPr lang="en-US" sz="1100" b="1" dirty="0">
                <a:solidFill>
                  <a:srgbClr val="FF9F1C"/>
                </a:solidFill>
              </a:rPr>
              <a:t>"We have marketing already."</a:t>
            </a:r>
            <a:endParaRPr lang="en-US" sz="1100" dirty="0"/>
          </a:p>
        </p:txBody>
      </p:sp>
      <p:sp>
        <p:nvSpPr>
          <p:cNvPr id="16" name="Text 14"/>
          <p:cNvSpPr/>
          <p:nvPr/>
        </p:nvSpPr>
        <p:spPr>
          <a:xfrm>
            <a:off x="4892040" y="3090672"/>
            <a:ext cx="3611880" cy="530352"/>
          </a:xfrm>
          <a:prstGeom prst="rect">
            <a:avLst/>
          </a:prstGeom>
          <a:noFill/>
          <a:ln/>
        </p:spPr>
        <p:txBody>
          <a:bodyPr wrap="square" rtlCol="0" anchor="ctr"/>
          <a:lstStyle/>
          <a:p>
            <a:pPr indent="0" marL="0">
              <a:buNone/>
            </a:pPr>
            <a:r>
              <a:rPr lang="en-US" sz="1000" dirty="0">
                <a:solidFill>
                  <a:srgbClr val="CBD5E1"/>
                </a:solidFill>
              </a:rPr>
              <a:t>This isn't marketing. It's revenue operations — the backend your marketing drives leads into.</a:t>
            </a:r>
            <a:endParaRPr lang="en-US" sz="1000" dirty="0"/>
          </a:p>
        </p:txBody>
      </p:sp>
      <p:sp>
        <p:nvSpPr>
          <p:cNvPr id="17" name="Shape 15"/>
          <p:cNvSpPr/>
          <p:nvPr/>
        </p:nvSpPr>
        <p:spPr>
          <a:xfrm>
            <a:off x="411480" y="3803904"/>
            <a:ext cx="3931920" cy="1024128"/>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8" name="Text 16"/>
          <p:cNvSpPr/>
          <p:nvPr/>
        </p:nvSpPr>
        <p:spPr>
          <a:xfrm>
            <a:off x="548640" y="3895344"/>
            <a:ext cx="3611880" cy="274320"/>
          </a:xfrm>
          <a:prstGeom prst="rect">
            <a:avLst/>
          </a:prstGeom>
          <a:noFill/>
          <a:ln/>
        </p:spPr>
        <p:txBody>
          <a:bodyPr wrap="square" rtlCol="0" anchor="ctr"/>
          <a:lstStyle/>
          <a:p>
            <a:pPr indent="0" marL="0">
              <a:buNone/>
            </a:pPr>
            <a:r>
              <a:rPr lang="en-US" sz="1100" b="1" dirty="0">
                <a:solidFill>
                  <a:srgbClr val="FF9F1C"/>
                </a:solidFill>
              </a:rPr>
              <a:t>"Sounds complicated."</a:t>
            </a:r>
            <a:endParaRPr lang="en-US" sz="1100" dirty="0"/>
          </a:p>
        </p:txBody>
      </p:sp>
      <p:sp>
        <p:nvSpPr>
          <p:cNvPr id="19" name="Text 17"/>
          <p:cNvSpPr/>
          <p:nvPr/>
        </p:nvSpPr>
        <p:spPr>
          <a:xfrm>
            <a:off x="548640" y="4206240"/>
            <a:ext cx="3611880" cy="530352"/>
          </a:xfrm>
          <a:prstGeom prst="rect">
            <a:avLst/>
          </a:prstGeom>
          <a:noFill/>
          <a:ln/>
        </p:spPr>
        <p:txBody>
          <a:bodyPr wrap="square" rtlCol="0" anchor="ctr"/>
          <a:lstStyle/>
          <a:p>
            <a:pPr indent="0" marL="0">
              <a:buNone/>
            </a:pPr>
            <a:r>
              <a:rPr lang="en-US" sz="1000" dirty="0">
                <a:solidFill>
                  <a:srgbClr val="CBD5E1"/>
                </a:solidFill>
              </a:rPr>
              <a:t>Onboarding takes one meeting and CRM access. Your team doesn't change anything.</a:t>
            </a:r>
            <a:endParaRPr lang="en-US" sz="1000" dirty="0"/>
          </a:p>
        </p:txBody>
      </p:sp>
      <p:sp>
        <p:nvSpPr>
          <p:cNvPr id="20" name="Shape 18"/>
          <p:cNvSpPr/>
          <p:nvPr/>
        </p:nvSpPr>
        <p:spPr>
          <a:xfrm>
            <a:off x="4754880" y="3803904"/>
            <a:ext cx="3931920" cy="1024128"/>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1" name="Text 19"/>
          <p:cNvSpPr/>
          <p:nvPr/>
        </p:nvSpPr>
        <p:spPr>
          <a:xfrm>
            <a:off x="4892040" y="3895344"/>
            <a:ext cx="3611880" cy="274320"/>
          </a:xfrm>
          <a:prstGeom prst="rect">
            <a:avLst/>
          </a:prstGeom>
          <a:noFill/>
          <a:ln/>
        </p:spPr>
        <p:txBody>
          <a:bodyPr wrap="square" rtlCol="0" anchor="ctr"/>
          <a:lstStyle/>
          <a:p>
            <a:pPr indent="0" marL="0">
              <a:buNone/>
            </a:pPr>
            <a:r>
              <a:rPr lang="en-US" sz="1100" b="1" dirty="0">
                <a:solidFill>
                  <a:srgbClr val="FF9F1C"/>
                </a:solidFill>
              </a:rPr>
              <a:t>"Will this disrupt operations?"</a:t>
            </a:r>
            <a:endParaRPr lang="en-US" sz="1100" dirty="0"/>
          </a:p>
        </p:txBody>
      </p:sp>
      <p:sp>
        <p:nvSpPr>
          <p:cNvPr id="22" name="Text 20"/>
          <p:cNvSpPr/>
          <p:nvPr/>
        </p:nvSpPr>
        <p:spPr>
          <a:xfrm>
            <a:off x="4892040" y="4206240"/>
            <a:ext cx="3611880" cy="530352"/>
          </a:xfrm>
          <a:prstGeom prst="rect">
            <a:avLst/>
          </a:prstGeom>
          <a:noFill/>
          <a:ln/>
        </p:spPr>
        <p:txBody>
          <a:bodyPr wrap="square" rtlCol="0" anchor="ctr"/>
          <a:lstStyle/>
          <a:p>
            <a:pPr indent="0" marL="0">
              <a:buNone/>
            </a:pPr>
            <a:r>
              <a:rPr lang="en-US" sz="1000" dirty="0">
                <a:solidFill>
                  <a:srgbClr val="CBD5E1"/>
                </a:solidFill>
              </a:rPr>
              <a:t>No. Everything runs in the background. Your staff won't notice until they see more inbound bookings.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ROI PROJECTION</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600" b="1" dirty="0">
                <a:solidFill>
                  <a:srgbClr val="FFFFFF"/>
                </a:solidFill>
              </a:rPr>
              <a:t>Conservative Revenue Recovery</a:t>
            </a:r>
            <a:endParaRPr lang="en-US" sz="2600" dirty="0"/>
          </a:p>
          <a:p>
            <a:pPr indent="0" marL="0">
              <a:buNone/>
            </a:pPr>
            <a:r>
              <a:rPr lang="en-US" sz="2600" b="1" dirty="0">
                <a:solidFill>
                  <a:srgbClr val="FFFFFF"/>
                </a:solidFill>
              </a:rPr>
              <a:t>Projection — $1M Business Example</a:t>
            </a:r>
            <a:endParaRPr lang="en-US" sz="2600" dirty="0"/>
          </a:p>
        </p:txBody>
      </p:sp>
      <p:sp>
        <p:nvSpPr>
          <p:cNvPr id="5" name="Text 3"/>
          <p:cNvSpPr/>
          <p:nvPr/>
        </p:nvSpPr>
        <p:spPr>
          <a:xfrm>
            <a:off x="411480" y="1481328"/>
            <a:ext cx="8321040" cy="274320"/>
          </a:xfrm>
          <a:prstGeom prst="rect">
            <a:avLst/>
          </a:prstGeom>
          <a:noFill/>
          <a:ln/>
        </p:spPr>
        <p:txBody>
          <a:bodyPr wrap="square" rtlCol="0" anchor="ctr"/>
          <a:lstStyle/>
          <a:p>
            <a:pPr indent="0" marL="0">
              <a:buNone/>
            </a:pPr>
            <a:r>
              <a:rPr lang="en-US" sz="950" i="1" dirty="0">
                <a:solidFill>
                  <a:srgbClr val="64748B"/>
                </a:solidFill>
              </a:rPr>
              <a:t>Based on industry averages. Your actual results depend on database size and response rates.</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874520"/>
          <a:ext cx="8321040" cy="3017520"/>
        </p:xfrm>
        <a:graphic>
          <a:graphicData uri="http://schemas.openxmlformats.org/drawingml/2006/table">
            <a:tbl>
              <a:tblPr/>
              <a:tblGrid>
                <a:gridCol w="2103120"/>
                <a:gridCol w="4297680"/>
                <a:gridCol w="1920240"/>
              </a:tblGrid>
              <a:tr h="377190">
                <a:tc>
                  <a:txBody>
                    <a:bodyPr/>
                    <a:lstStyle/>
                    <a:p>
                      <a:pPr algn="l" indent="0" marL="0">
                        <a:buNone/>
                      </a:pPr>
                      <a:r>
                        <a:rPr lang="en-US" sz="1000" b="1" dirty="0">
                          <a:solidFill>
                            <a:srgbClr val="FFFFFF"/>
                          </a:solidFill>
                        </a:rPr>
                        <a:t>Revenue Source</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algn="l" indent="0" marL="0">
                        <a:buNone/>
                      </a:pPr>
                      <a:r>
                        <a:rPr lang="en-US" sz="1000" b="1" dirty="0">
                          <a:solidFill>
                            <a:srgbClr val="FFFFFF"/>
                          </a:solidFill>
                        </a:rPr>
                        <a:t>Assumption</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algn="r" indent="0" marL="0">
                        <a:buNone/>
                      </a:pPr>
                      <a:r>
                        <a:rPr lang="en-US" sz="1000" b="1" dirty="0">
                          <a:solidFill>
                            <a:srgbClr val="FFFFFF"/>
                          </a:solidFill>
                        </a:rPr>
                        <a:t>Est. Additional Revenue</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r>
              <a:tr h="377190">
                <a:tc>
                  <a:txBody>
                    <a:bodyPr/>
                    <a:lstStyle/>
                    <a:p>
                      <a:pPr algn="l" indent="0" marL="0">
                        <a:buNone/>
                      </a:pPr>
                      <a:r>
                        <a:rPr lang="en-US" sz="1000" dirty="0">
                          <a:solidFill>
                            <a:srgbClr val="CBD5E1"/>
                          </a:solidFill>
                        </a:rPr>
                        <a:t>Old Lead Reactivation</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c>
                  <a:txBody>
                    <a:bodyPr/>
                    <a:lstStyle/>
                    <a:p>
                      <a:pPr algn="l" indent="0" marL="0">
                        <a:buNone/>
                      </a:pPr>
                      <a:r>
                        <a:rPr lang="en-US" sz="1000" dirty="0">
                          <a:solidFill>
                            <a:srgbClr val="CBD5E1"/>
                          </a:solidFill>
                        </a:rPr>
                        <a:t>5% of 200 dormant leads × $450 avg ticket</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c>
                  <a:txBody>
                    <a:bodyPr/>
                    <a:lstStyle/>
                    <a:p>
                      <a:pPr algn="r" indent="0" marL="0">
                        <a:buNone/>
                      </a:pPr>
                      <a:r>
                        <a:rPr lang="en-US" sz="1000" dirty="0">
                          <a:solidFill>
                            <a:srgbClr val="CBD5E1"/>
                          </a:solidFill>
                        </a:rPr>
                        <a:t>$4,500 / mo</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r>
              <a:tr h="377190">
                <a:tc>
                  <a:txBody>
                    <a:bodyPr/>
                    <a:lstStyle/>
                    <a:p>
                      <a:pPr algn="l" indent="0" marL="0">
                        <a:buNone/>
                      </a:pPr>
                      <a:r>
                        <a:rPr lang="en-US" sz="1000" dirty="0">
                          <a:solidFill>
                            <a:srgbClr val="CBD5E1"/>
                          </a:solidFill>
                        </a:rPr>
                        <a:t>Estimate Follow-Up</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c>
                  <a:txBody>
                    <a:bodyPr/>
                    <a:lstStyle/>
                    <a:p>
                      <a:pPr algn="l" indent="0" marL="0">
                        <a:buNone/>
                      </a:pPr>
                      <a:r>
                        <a:rPr lang="en-US" sz="1000" dirty="0">
                          <a:solidFill>
                            <a:srgbClr val="CBD5E1"/>
                          </a:solidFill>
                        </a:rPr>
                        <a:t>8% of 50 open estimates × $1,200 avg</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c>
                  <a:txBody>
                    <a:bodyPr/>
                    <a:lstStyle/>
                    <a:p>
                      <a:pPr algn="r" indent="0" marL="0">
                        <a:buNone/>
                      </a:pPr>
                      <a:r>
                        <a:rPr lang="en-US" sz="1000" dirty="0">
                          <a:solidFill>
                            <a:srgbClr val="CBD5E1"/>
                          </a:solidFill>
                        </a:rPr>
                        <a:t>$4,800 / mo</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r>
              <a:tr h="377190">
                <a:tc>
                  <a:txBody>
                    <a:bodyPr/>
                    <a:lstStyle/>
                    <a:p>
                      <a:pPr algn="l" indent="0" marL="0">
                        <a:buNone/>
                      </a:pPr>
                      <a:r>
                        <a:rPr lang="en-US" sz="1000" dirty="0">
                          <a:solidFill>
                            <a:srgbClr val="CBD5E1"/>
                          </a:solidFill>
                        </a:rPr>
                        <a:t>Repeat Customer Campaigns</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c>
                  <a:txBody>
                    <a:bodyPr/>
                    <a:lstStyle/>
                    <a:p>
                      <a:pPr algn="l" indent="0" marL="0">
                        <a:buNone/>
                      </a:pPr>
                      <a:r>
                        <a:rPr lang="en-US" sz="1000" dirty="0">
                          <a:solidFill>
                            <a:srgbClr val="CBD5E1"/>
                          </a:solidFill>
                        </a:rPr>
                        <a:t>3% of 500 past customers × $380 avg</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c>
                  <a:txBody>
                    <a:bodyPr/>
                    <a:lstStyle/>
                    <a:p>
                      <a:pPr algn="r" indent="0" marL="0">
                        <a:buNone/>
                      </a:pPr>
                      <a:r>
                        <a:rPr lang="en-US" sz="1000" dirty="0">
                          <a:solidFill>
                            <a:srgbClr val="CBD5E1"/>
                          </a:solidFill>
                        </a:rPr>
                        <a:t>$5,700 / mo</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r>
              <a:tr h="377190">
                <a:tc>
                  <a:txBody>
                    <a:bodyPr/>
                    <a:lstStyle/>
                    <a:p>
                      <a:pPr algn="l" indent="0" marL="0">
                        <a:buNone/>
                      </a:pPr>
                      <a:r>
                        <a:rPr lang="en-US" sz="1000" dirty="0">
                          <a:solidFill>
                            <a:srgbClr val="CBD5E1"/>
                          </a:solidFill>
                        </a:rPr>
                        <a:t>Referral Campaigns</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c>
                  <a:txBody>
                    <a:bodyPr/>
                    <a:lstStyle/>
                    <a:p>
                      <a:pPr algn="l" indent="0" marL="0">
                        <a:buNone/>
                      </a:pPr>
                      <a:r>
                        <a:rPr lang="en-US" sz="1000" dirty="0">
                          <a:solidFill>
                            <a:srgbClr val="CBD5E1"/>
                          </a:solidFill>
                        </a:rPr>
                        <a:t>12 referrals × $650 avg ticket</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c>
                  <a:txBody>
                    <a:bodyPr/>
                    <a:lstStyle/>
                    <a:p>
                      <a:pPr algn="r" indent="0" marL="0">
                        <a:buNone/>
                      </a:pPr>
                      <a:r>
                        <a:rPr lang="en-US" sz="1000" dirty="0">
                          <a:solidFill>
                            <a:srgbClr val="CBD5E1"/>
                          </a:solidFill>
                        </a:rPr>
                        <a:t>$7,800 / mo</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r>
              <a:tr h="377190">
                <a:tc>
                  <a:txBody>
                    <a:bodyPr/>
                    <a:lstStyle/>
                    <a:p>
                      <a:pPr algn="l" indent="0" marL="0">
                        <a:buNone/>
                      </a:pPr>
                      <a:r>
                        <a:rPr lang="en-US" sz="1000" dirty="0">
                          <a:solidFill>
                            <a:srgbClr val="CBD5E1"/>
                          </a:solidFill>
                        </a:rPr>
                        <a:t>Membership Renewals</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c>
                  <a:txBody>
                    <a:bodyPr/>
                    <a:lstStyle/>
                    <a:p>
                      <a:pPr algn="l" indent="0" marL="0">
                        <a:buNone/>
                      </a:pPr>
                      <a:r>
                        <a:rPr lang="en-US" sz="1000" dirty="0">
                          <a:solidFill>
                            <a:srgbClr val="CBD5E1"/>
                          </a:solidFill>
                        </a:rPr>
                        <a:t>60% renewal improvement × $180 avg</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c>
                  <a:txBody>
                    <a:bodyPr/>
                    <a:lstStyle/>
                    <a:p>
                      <a:pPr algn="r" indent="0" marL="0">
                        <a:buNone/>
                      </a:pPr>
                      <a:r>
                        <a:rPr lang="en-US" sz="1000" dirty="0">
                          <a:solidFill>
                            <a:srgbClr val="CBD5E1"/>
                          </a:solidFill>
                        </a:rPr>
                        <a:t>$2,160 / mo</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744"/>
                    </a:solidFill>
                  </a:tcPr>
                </a:tc>
              </a:tr>
              <a:tr h="377190">
                <a:tc>
                  <a:txBody>
                    <a:bodyPr/>
                    <a:lstStyle/>
                    <a:p>
                      <a:pPr algn="l" indent="0" marL="0">
                        <a:buNone/>
                      </a:pPr>
                      <a:r>
                        <a:rPr lang="en-US" sz="1000" dirty="0">
                          <a:solidFill>
                            <a:srgbClr val="CBD5E1"/>
                          </a:solidFill>
                        </a:rPr>
                        <a:t>Review-Driven Leads</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c>
                  <a:txBody>
                    <a:bodyPr/>
                    <a:lstStyle/>
                    <a:p>
                      <a:pPr algn="l" indent="0" marL="0">
                        <a:buNone/>
                      </a:pPr>
                      <a:r>
                        <a:rPr lang="en-US" sz="1000" dirty="0">
                          <a:solidFill>
                            <a:srgbClr val="CBD5E1"/>
                          </a:solidFill>
                        </a:rPr>
                        <a:t>3 extra jobs/mo from improved reputation</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c>
                  <a:txBody>
                    <a:bodyPr/>
                    <a:lstStyle/>
                    <a:p>
                      <a:pPr algn="r" indent="0" marL="0">
                        <a:buNone/>
                      </a:pPr>
                      <a:r>
                        <a:rPr lang="en-US" sz="1000" dirty="0">
                          <a:solidFill>
                            <a:srgbClr val="CBD5E1"/>
                          </a:solidFill>
                        </a:rPr>
                        <a:t>$1,350 / mo</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1E35"/>
                    </a:solidFill>
                  </a:tcPr>
                </a:tc>
              </a:tr>
              <a:tr h="377190">
                <a:tc>
                  <a:txBody>
                    <a:bodyPr/>
                    <a:lstStyle/>
                    <a:p>
                      <a:pPr algn="l" indent="0" marL="0">
                        <a:buNone/>
                      </a:pPr>
                      <a:r>
                        <a:rPr lang="en-US" sz="1000" b="1" dirty="0">
                          <a:solidFill>
                            <a:srgbClr val="06D6A0"/>
                          </a:solidFill>
                        </a:rPr>
                        <a:t>TOTAL MONTHLY RECOVERY</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2A1A"/>
                    </a:solidFill>
                  </a:tcPr>
                </a:tc>
                <a:tc>
                  <a:txBody>
                    <a:bodyPr/>
                    <a:lstStyle/>
                    <a:p>
                      <a:pPr algn="l" indent="0" marL="0">
                        <a:buNone/>
                      </a:pP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2A1A"/>
                    </a:solidFill>
                  </a:tcPr>
                </a:tc>
                <a:tc>
                  <a:txBody>
                    <a:bodyPr/>
                    <a:lstStyle/>
                    <a:p>
                      <a:pPr algn="r" indent="0" marL="0">
                        <a:buNone/>
                      </a:pPr>
                      <a:r>
                        <a:rPr lang="en-US" sz="1000" b="1" dirty="0">
                          <a:solidFill>
                            <a:srgbClr val="06D6A0"/>
                          </a:solidFill>
                        </a:rPr>
                        <a:t>$26,310 / mo</a:t>
                      </a:r>
                      <a:endParaRPr lang="en-US" sz="1000" dirty="0"/>
                    </a:p>
                  </a:txBody>
                  <a:tcPr marL="91440" marR="9144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2A1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PROJECTION EXAMPLE</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600" b="1" dirty="0">
                <a:solidFill>
                  <a:srgbClr val="FFFFFF"/>
                </a:solidFill>
              </a:rPr>
              <a:t>Before vs. After:</a:t>
            </a:r>
            <a:endParaRPr lang="en-US" sz="2600" dirty="0"/>
          </a:p>
          <a:p>
            <a:pPr indent="0" marL="0">
              <a:buNone/>
            </a:pPr>
            <a:r>
              <a:rPr lang="en-US" sz="2600" b="1" dirty="0">
                <a:solidFill>
                  <a:srgbClr val="FFFFFF"/>
                </a:solidFill>
              </a:rPr>
              <a:t>A Typical Mid-Size HVAC Company</a:t>
            </a:r>
            <a:endParaRPr lang="en-US" sz="2600" dirty="0"/>
          </a:p>
        </p:txBody>
      </p:sp>
      <p:sp>
        <p:nvSpPr>
          <p:cNvPr id="5" name="Shape 3"/>
          <p:cNvSpPr/>
          <p:nvPr/>
        </p:nvSpPr>
        <p:spPr>
          <a:xfrm>
            <a:off x="411480" y="1572768"/>
            <a:ext cx="3931920" cy="324612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411480" y="1572768"/>
            <a:ext cx="3931920" cy="365760"/>
          </a:xfrm>
          <a:prstGeom prst="rect">
            <a:avLst/>
          </a:prstGeom>
          <a:solidFill>
            <a:srgbClr val="EF233C">
              <a:alpha val="30000"/>
            </a:srgbClr>
          </a:solidFill>
          <a:ln w="12700">
            <a:solidFill>
              <a:srgbClr val="000000"/>
            </a:solidFill>
            <a:prstDash val="solid"/>
          </a:ln>
        </p:spPr>
      </p:sp>
      <p:sp>
        <p:nvSpPr>
          <p:cNvPr id="7" name="Text 5"/>
          <p:cNvSpPr/>
          <p:nvPr/>
        </p:nvSpPr>
        <p:spPr>
          <a:xfrm>
            <a:off x="411480" y="1591056"/>
            <a:ext cx="3931920" cy="329184"/>
          </a:xfrm>
          <a:prstGeom prst="rect">
            <a:avLst/>
          </a:prstGeom>
          <a:noFill/>
          <a:ln/>
        </p:spPr>
        <p:txBody>
          <a:bodyPr wrap="square" rtlCol="0" anchor="ctr"/>
          <a:lstStyle/>
          <a:p>
            <a:pPr algn="ctr" indent="0" marL="0">
              <a:buNone/>
            </a:pPr>
            <a:r>
              <a:rPr lang="en-US" sz="1300" b="1" dirty="0">
                <a:solidFill>
                  <a:srgbClr val="EF233C"/>
                </a:solidFill>
              </a:rPr>
              <a:t>BEFORE</a:t>
            </a:r>
            <a:endParaRPr lang="en-US" sz="1300" dirty="0"/>
          </a:p>
        </p:txBody>
      </p:sp>
      <p:sp>
        <p:nvSpPr>
          <p:cNvPr id="8" name="Text 6"/>
          <p:cNvSpPr/>
          <p:nvPr/>
        </p:nvSpPr>
        <p:spPr>
          <a:xfrm>
            <a:off x="566928" y="2029968"/>
            <a:ext cx="3611880" cy="329184"/>
          </a:xfrm>
          <a:prstGeom prst="rect">
            <a:avLst/>
          </a:prstGeom>
          <a:noFill/>
          <a:ln/>
        </p:spPr>
        <p:txBody>
          <a:bodyPr wrap="square" rtlCol="0" anchor="ctr"/>
          <a:lstStyle/>
          <a:p>
            <a:pPr indent="0" marL="0">
              <a:buNone/>
            </a:pPr>
            <a:r>
              <a:rPr lang="en-US" sz="1050" dirty="0">
                <a:solidFill>
                  <a:srgbClr val="CBD5E1"/>
                </a:solidFill>
              </a:rPr>
              <a:t>✗  Follow-up rate: 12% of leads</a:t>
            </a:r>
            <a:endParaRPr lang="en-US" sz="1050" dirty="0"/>
          </a:p>
        </p:txBody>
      </p:sp>
      <p:sp>
        <p:nvSpPr>
          <p:cNvPr id="9" name="Text 7"/>
          <p:cNvSpPr/>
          <p:nvPr/>
        </p:nvSpPr>
        <p:spPr>
          <a:xfrm>
            <a:off x="566928" y="2432304"/>
            <a:ext cx="3611880" cy="329184"/>
          </a:xfrm>
          <a:prstGeom prst="rect">
            <a:avLst/>
          </a:prstGeom>
          <a:noFill/>
          <a:ln/>
        </p:spPr>
        <p:txBody>
          <a:bodyPr wrap="square" rtlCol="0" anchor="ctr"/>
          <a:lstStyle/>
          <a:p>
            <a:pPr indent="0" marL="0">
              <a:buNone/>
            </a:pPr>
            <a:r>
              <a:rPr lang="en-US" sz="1050" dirty="0">
                <a:solidFill>
                  <a:srgbClr val="CBD5E1"/>
                </a:solidFill>
              </a:rPr>
              <a:t>✗  Avg. Google reviews: 43 total</a:t>
            </a:r>
            <a:endParaRPr lang="en-US" sz="1050" dirty="0"/>
          </a:p>
        </p:txBody>
      </p:sp>
      <p:sp>
        <p:nvSpPr>
          <p:cNvPr id="10" name="Text 8"/>
          <p:cNvSpPr/>
          <p:nvPr/>
        </p:nvSpPr>
        <p:spPr>
          <a:xfrm>
            <a:off x="566928" y="2834640"/>
            <a:ext cx="3611880" cy="329184"/>
          </a:xfrm>
          <a:prstGeom prst="rect">
            <a:avLst/>
          </a:prstGeom>
          <a:noFill/>
          <a:ln/>
        </p:spPr>
        <p:txBody>
          <a:bodyPr wrap="square" rtlCol="0" anchor="ctr"/>
          <a:lstStyle/>
          <a:p>
            <a:pPr indent="0" marL="0">
              <a:buNone/>
            </a:pPr>
            <a:r>
              <a:rPr lang="en-US" sz="1050" dirty="0">
                <a:solidFill>
                  <a:srgbClr val="CBD5E1"/>
                </a:solidFill>
              </a:rPr>
              <a:t>✗  Customer reactivation campaigns: 0</a:t>
            </a:r>
            <a:endParaRPr lang="en-US" sz="1050" dirty="0"/>
          </a:p>
        </p:txBody>
      </p:sp>
      <p:sp>
        <p:nvSpPr>
          <p:cNvPr id="11" name="Text 9"/>
          <p:cNvSpPr/>
          <p:nvPr/>
        </p:nvSpPr>
        <p:spPr>
          <a:xfrm>
            <a:off x="566928" y="3236976"/>
            <a:ext cx="3611880" cy="329184"/>
          </a:xfrm>
          <a:prstGeom prst="rect">
            <a:avLst/>
          </a:prstGeom>
          <a:noFill/>
          <a:ln/>
        </p:spPr>
        <p:txBody>
          <a:bodyPr wrap="square" rtlCol="0" anchor="ctr"/>
          <a:lstStyle/>
          <a:p>
            <a:pPr indent="0" marL="0">
              <a:buNone/>
            </a:pPr>
            <a:r>
              <a:rPr lang="en-US" sz="1050" dirty="0">
                <a:solidFill>
                  <a:srgbClr val="CBD5E1"/>
                </a:solidFill>
              </a:rPr>
              <a:t>✗  Estimate conversion rate: 22%</a:t>
            </a:r>
            <a:endParaRPr lang="en-US" sz="1050" dirty="0"/>
          </a:p>
        </p:txBody>
      </p:sp>
      <p:sp>
        <p:nvSpPr>
          <p:cNvPr id="12" name="Text 10"/>
          <p:cNvSpPr/>
          <p:nvPr/>
        </p:nvSpPr>
        <p:spPr>
          <a:xfrm>
            <a:off x="566928" y="3639312"/>
            <a:ext cx="3611880" cy="329184"/>
          </a:xfrm>
          <a:prstGeom prst="rect">
            <a:avLst/>
          </a:prstGeom>
          <a:noFill/>
          <a:ln/>
        </p:spPr>
        <p:txBody>
          <a:bodyPr wrap="square" rtlCol="0" anchor="ctr"/>
          <a:lstStyle/>
          <a:p>
            <a:pPr indent="0" marL="0">
              <a:buNone/>
            </a:pPr>
            <a:r>
              <a:rPr lang="en-US" sz="1050" dirty="0">
                <a:solidFill>
                  <a:srgbClr val="CBD5E1"/>
                </a:solidFill>
              </a:rPr>
              <a:t>✗  Referral program: None</a:t>
            </a:r>
            <a:endParaRPr lang="en-US" sz="1050" dirty="0"/>
          </a:p>
        </p:txBody>
      </p:sp>
      <p:sp>
        <p:nvSpPr>
          <p:cNvPr id="13" name="Text 11"/>
          <p:cNvSpPr/>
          <p:nvPr/>
        </p:nvSpPr>
        <p:spPr>
          <a:xfrm>
            <a:off x="566928" y="4041648"/>
            <a:ext cx="3611880" cy="329184"/>
          </a:xfrm>
          <a:prstGeom prst="rect">
            <a:avLst/>
          </a:prstGeom>
          <a:noFill/>
          <a:ln/>
        </p:spPr>
        <p:txBody>
          <a:bodyPr wrap="square" rtlCol="0" anchor="ctr"/>
          <a:lstStyle/>
          <a:p>
            <a:pPr indent="0" marL="0">
              <a:buNone/>
            </a:pPr>
            <a:r>
              <a:rPr lang="en-US" sz="1050" dirty="0">
                <a:solidFill>
                  <a:srgbClr val="CBD5E1"/>
                </a:solidFill>
              </a:rPr>
              <a:t>✗  Monthly recurring revenue: $0</a:t>
            </a:r>
            <a:endParaRPr lang="en-US" sz="1050" dirty="0"/>
          </a:p>
        </p:txBody>
      </p:sp>
      <p:sp>
        <p:nvSpPr>
          <p:cNvPr id="14" name="Text 12"/>
          <p:cNvSpPr/>
          <p:nvPr/>
        </p:nvSpPr>
        <p:spPr>
          <a:xfrm>
            <a:off x="566928" y="4443984"/>
            <a:ext cx="3611880" cy="329184"/>
          </a:xfrm>
          <a:prstGeom prst="rect">
            <a:avLst/>
          </a:prstGeom>
          <a:noFill/>
          <a:ln/>
        </p:spPr>
        <p:txBody>
          <a:bodyPr wrap="square" rtlCol="0" anchor="ctr"/>
          <a:lstStyle/>
          <a:p>
            <a:pPr indent="0" marL="0">
              <a:buNone/>
            </a:pPr>
            <a:r>
              <a:rPr lang="en-US" sz="1050" dirty="0">
                <a:solidFill>
                  <a:srgbClr val="CBD5E1"/>
                </a:solidFill>
              </a:rPr>
              <a:t>✗  Missed calls recovered: &lt;10%</a:t>
            </a:r>
            <a:endParaRPr lang="en-US" sz="1050" dirty="0"/>
          </a:p>
        </p:txBody>
      </p:sp>
      <p:sp>
        <p:nvSpPr>
          <p:cNvPr id="15" name="Shape 13"/>
          <p:cNvSpPr/>
          <p:nvPr/>
        </p:nvSpPr>
        <p:spPr>
          <a:xfrm>
            <a:off x="4800600" y="1572768"/>
            <a:ext cx="3931920" cy="324612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4800600" y="1572768"/>
            <a:ext cx="3931920" cy="365760"/>
          </a:xfrm>
          <a:prstGeom prst="rect">
            <a:avLst/>
          </a:prstGeom>
          <a:solidFill>
            <a:srgbClr val="06D6A0">
              <a:alpha val="30000"/>
            </a:srgbClr>
          </a:solidFill>
          <a:ln w="12700">
            <a:solidFill>
              <a:srgbClr val="000000"/>
            </a:solidFill>
            <a:prstDash val="solid"/>
          </a:ln>
        </p:spPr>
      </p:sp>
      <p:sp>
        <p:nvSpPr>
          <p:cNvPr id="17" name="Text 15"/>
          <p:cNvSpPr/>
          <p:nvPr/>
        </p:nvSpPr>
        <p:spPr>
          <a:xfrm>
            <a:off x="4800600" y="1591056"/>
            <a:ext cx="3931920" cy="329184"/>
          </a:xfrm>
          <a:prstGeom prst="rect">
            <a:avLst/>
          </a:prstGeom>
          <a:noFill/>
          <a:ln/>
        </p:spPr>
        <p:txBody>
          <a:bodyPr wrap="square" rtlCol="0" anchor="ctr"/>
          <a:lstStyle/>
          <a:p>
            <a:pPr algn="ctr" indent="0" marL="0">
              <a:buNone/>
            </a:pPr>
            <a:r>
              <a:rPr lang="en-US" sz="1300" b="1" dirty="0">
                <a:solidFill>
                  <a:srgbClr val="06D6A0"/>
                </a:solidFill>
              </a:rPr>
              <a:t>AFTER (90 Days)</a:t>
            </a:r>
            <a:endParaRPr lang="en-US" sz="1300" dirty="0"/>
          </a:p>
        </p:txBody>
      </p:sp>
      <p:sp>
        <p:nvSpPr>
          <p:cNvPr id="18" name="Text 16"/>
          <p:cNvSpPr/>
          <p:nvPr/>
        </p:nvSpPr>
        <p:spPr>
          <a:xfrm>
            <a:off x="4956048" y="2029968"/>
            <a:ext cx="3611880" cy="329184"/>
          </a:xfrm>
          <a:prstGeom prst="rect">
            <a:avLst/>
          </a:prstGeom>
          <a:noFill/>
          <a:ln/>
        </p:spPr>
        <p:txBody>
          <a:bodyPr wrap="square" rtlCol="0" anchor="ctr"/>
          <a:lstStyle/>
          <a:p>
            <a:pPr indent="0" marL="0">
              <a:buNone/>
            </a:pPr>
            <a:r>
              <a:rPr lang="en-US" sz="1050" dirty="0">
                <a:solidFill>
                  <a:srgbClr val="F0F4F8"/>
                </a:solidFill>
              </a:rPr>
              <a:t>✓  Follow-up rate: 100% (automated)</a:t>
            </a:r>
            <a:endParaRPr lang="en-US" sz="1050" dirty="0"/>
          </a:p>
        </p:txBody>
      </p:sp>
      <p:sp>
        <p:nvSpPr>
          <p:cNvPr id="19" name="Text 17"/>
          <p:cNvSpPr/>
          <p:nvPr/>
        </p:nvSpPr>
        <p:spPr>
          <a:xfrm>
            <a:off x="4956048" y="2432304"/>
            <a:ext cx="3611880" cy="329184"/>
          </a:xfrm>
          <a:prstGeom prst="rect">
            <a:avLst/>
          </a:prstGeom>
          <a:noFill/>
          <a:ln/>
        </p:spPr>
        <p:txBody>
          <a:bodyPr wrap="square" rtlCol="0" anchor="ctr"/>
          <a:lstStyle/>
          <a:p>
            <a:pPr indent="0" marL="0">
              <a:buNone/>
            </a:pPr>
            <a:r>
              <a:rPr lang="en-US" sz="1050" dirty="0">
                <a:solidFill>
                  <a:srgbClr val="F0F4F8"/>
                </a:solidFill>
              </a:rPr>
              <a:t>✓  Avg. Google reviews: 127 total</a:t>
            </a:r>
            <a:endParaRPr lang="en-US" sz="1050" dirty="0"/>
          </a:p>
        </p:txBody>
      </p:sp>
      <p:sp>
        <p:nvSpPr>
          <p:cNvPr id="20" name="Text 18"/>
          <p:cNvSpPr/>
          <p:nvPr/>
        </p:nvSpPr>
        <p:spPr>
          <a:xfrm>
            <a:off x="4956048" y="2834640"/>
            <a:ext cx="3611880" cy="329184"/>
          </a:xfrm>
          <a:prstGeom prst="rect">
            <a:avLst/>
          </a:prstGeom>
          <a:noFill/>
          <a:ln/>
        </p:spPr>
        <p:txBody>
          <a:bodyPr wrap="square" rtlCol="0" anchor="ctr"/>
          <a:lstStyle/>
          <a:p>
            <a:pPr indent="0" marL="0">
              <a:buNone/>
            </a:pPr>
            <a:r>
              <a:rPr lang="en-US" sz="1050" dirty="0">
                <a:solidFill>
                  <a:srgbClr val="F0F4F8"/>
                </a:solidFill>
              </a:rPr>
              <a:t>✓  Reactivation campaigns: 6 active</a:t>
            </a:r>
            <a:endParaRPr lang="en-US" sz="1050" dirty="0"/>
          </a:p>
        </p:txBody>
      </p:sp>
      <p:sp>
        <p:nvSpPr>
          <p:cNvPr id="21" name="Text 19"/>
          <p:cNvSpPr/>
          <p:nvPr/>
        </p:nvSpPr>
        <p:spPr>
          <a:xfrm>
            <a:off x="4956048" y="3236976"/>
            <a:ext cx="3611880" cy="329184"/>
          </a:xfrm>
          <a:prstGeom prst="rect">
            <a:avLst/>
          </a:prstGeom>
          <a:noFill/>
          <a:ln/>
        </p:spPr>
        <p:txBody>
          <a:bodyPr wrap="square" rtlCol="0" anchor="ctr"/>
          <a:lstStyle/>
          <a:p>
            <a:pPr indent="0" marL="0">
              <a:buNone/>
            </a:pPr>
            <a:r>
              <a:rPr lang="en-US" sz="1050" dirty="0">
                <a:solidFill>
                  <a:srgbClr val="F0F4F8"/>
                </a:solidFill>
              </a:rPr>
              <a:t>✓  Estimate conversion rate: 34%</a:t>
            </a:r>
            <a:endParaRPr lang="en-US" sz="1050" dirty="0"/>
          </a:p>
        </p:txBody>
      </p:sp>
      <p:sp>
        <p:nvSpPr>
          <p:cNvPr id="22" name="Text 20"/>
          <p:cNvSpPr/>
          <p:nvPr/>
        </p:nvSpPr>
        <p:spPr>
          <a:xfrm>
            <a:off x="4956048" y="3639312"/>
            <a:ext cx="3611880" cy="329184"/>
          </a:xfrm>
          <a:prstGeom prst="rect">
            <a:avLst/>
          </a:prstGeom>
          <a:noFill/>
          <a:ln/>
        </p:spPr>
        <p:txBody>
          <a:bodyPr wrap="square" rtlCol="0" anchor="ctr"/>
          <a:lstStyle/>
          <a:p>
            <a:pPr indent="0" marL="0">
              <a:buNone/>
            </a:pPr>
            <a:r>
              <a:rPr lang="en-US" sz="1050" dirty="0">
                <a:solidFill>
                  <a:srgbClr val="F0F4F8"/>
                </a:solidFill>
              </a:rPr>
              <a:t>✓  Referral program: Generating 8–15/mo</a:t>
            </a:r>
            <a:endParaRPr lang="en-US" sz="1050" dirty="0"/>
          </a:p>
        </p:txBody>
      </p:sp>
      <p:sp>
        <p:nvSpPr>
          <p:cNvPr id="23" name="Text 21"/>
          <p:cNvSpPr/>
          <p:nvPr/>
        </p:nvSpPr>
        <p:spPr>
          <a:xfrm>
            <a:off x="4956048" y="4041648"/>
            <a:ext cx="3611880" cy="329184"/>
          </a:xfrm>
          <a:prstGeom prst="rect">
            <a:avLst/>
          </a:prstGeom>
          <a:noFill/>
          <a:ln/>
        </p:spPr>
        <p:txBody>
          <a:bodyPr wrap="square" rtlCol="0" anchor="ctr"/>
          <a:lstStyle/>
          <a:p>
            <a:pPr indent="0" marL="0">
              <a:buNone/>
            </a:pPr>
            <a:r>
              <a:rPr lang="en-US" sz="1050" dirty="0">
                <a:solidFill>
                  <a:srgbClr val="F0F4F8"/>
                </a:solidFill>
              </a:rPr>
              <a:t>✓  Monthly recurring revenue: $18,400</a:t>
            </a:r>
            <a:endParaRPr lang="en-US" sz="1050" dirty="0"/>
          </a:p>
        </p:txBody>
      </p:sp>
      <p:sp>
        <p:nvSpPr>
          <p:cNvPr id="24" name="Text 22"/>
          <p:cNvSpPr/>
          <p:nvPr/>
        </p:nvSpPr>
        <p:spPr>
          <a:xfrm>
            <a:off x="4956048" y="4443984"/>
            <a:ext cx="3611880" cy="329184"/>
          </a:xfrm>
          <a:prstGeom prst="rect">
            <a:avLst/>
          </a:prstGeom>
          <a:noFill/>
          <a:ln/>
        </p:spPr>
        <p:txBody>
          <a:bodyPr wrap="square" rtlCol="0" anchor="ctr"/>
          <a:lstStyle/>
          <a:p>
            <a:pPr indent="0" marL="0">
              <a:buNone/>
            </a:pPr>
            <a:r>
              <a:rPr lang="en-US" sz="1050" dirty="0">
                <a:solidFill>
                  <a:srgbClr val="F0F4F8"/>
                </a:solidFill>
              </a:rPr>
              <a:t>✓  Missed calls recovered: 78%</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COMPETITIVE POSITION</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600" b="1" dirty="0">
                <a:solidFill>
                  <a:srgbClr val="FFFFFF"/>
                </a:solidFill>
              </a:rPr>
              <a:t>How We're Different From</a:t>
            </a:r>
            <a:endParaRPr lang="en-US" sz="2600" dirty="0"/>
          </a:p>
          <a:p>
            <a:pPr indent="0" marL="0">
              <a:buNone/>
            </a:pPr>
            <a:r>
              <a:rPr lang="en-US" sz="2600" b="1" dirty="0">
                <a:solidFill>
                  <a:srgbClr val="FFFFFF"/>
                </a:solidFill>
              </a:rPr>
              <a:t>Everything Else You've Seen</a:t>
            </a:r>
            <a:endParaRPr lang="en-US" sz="2600" dirty="0"/>
          </a:p>
        </p:txBody>
      </p:sp>
      <p:sp>
        <p:nvSpPr>
          <p:cNvPr id="5" name="Shape 3"/>
          <p:cNvSpPr/>
          <p:nvPr/>
        </p:nvSpPr>
        <p:spPr>
          <a:xfrm>
            <a:off x="411480" y="1536192"/>
            <a:ext cx="2377440" cy="347472"/>
          </a:xfrm>
          <a:prstGeom prst="rect">
            <a:avLst/>
          </a:prstGeom>
          <a:solidFill>
            <a:srgbClr val="0077B6"/>
          </a:solidFill>
          <a:ln w="12700">
            <a:solidFill>
              <a:srgbClr val="000000"/>
            </a:solidFill>
            <a:prstDash val="solid"/>
          </a:ln>
        </p:spPr>
      </p:sp>
      <p:sp>
        <p:nvSpPr>
          <p:cNvPr id="6" name="Text 4"/>
          <p:cNvSpPr/>
          <p:nvPr/>
        </p:nvSpPr>
        <p:spPr>
          <a:xfrm>
            <a:off x="502920" y="1536192"/>
            <a:ext cx="2286000" cy="347472"/>
          </a:xfrm>
          <a:prstGeom prst="rect">
            <a:avLst/>
          </a:prstGeom>
          <a:noFill/>
          <a:ln/>
        </p:spPr>
        <p:txBody>
          <a:bodyPr wrap="square" rtlCol="0" anchor="ctr"/>
          <a:lstStyle/>
          <a:p>
            <a:pPr indent="0" marL="0">
              <a:buNone/>
            </a:pPr>
            <a:r>
              <a:rPr lang="en-US" sz="1100" b="1" dirty="0">
                <a:solidFill>
                  <a:srgbClr val="FFFFFF"/>
                </a:solidFill>
              </a:rPr>
              <a:t>Competitor Category</a:t>
            </a:r>
            <a:endParaRPr lang="en-US" sz="1100" dirty="0"/>
          </a:p>
        </p:txBody>
      </p:sp>
      <p:sp>
        <p:nvSpPr>
          <p:cNvPr id="7" name="Shape 5"/>
          <p:cNvSpPr/>
          <p:nvPr/>
        </p:nvSpPr>
        <p:spPr>
          <a:xfrm>
            <a:off x="2788920" y="1536192"/>
            <a:ext cx="2926080" cy="347472"/>
          </a:xfrm>
          <a:prstGeom prst="rect">
            <a:avLst/>
          </a:prstGeom>
          <a:solidFill>
            <a:srgbClr val="0077B6"/>
          </a:solidFill>
          <a:ln w="12700">
            <a:solidFill>
              <a:srgbClr val="000000"/>
            </a:solidFill>
            <a:prstDash val="solid"/>
          </a:ln>
        </p:spPr>
      </p:sp>
      <p:sp>
        <p:nvSpPr>
          <p:cNvPr id="8" name="Text 6"/>
          <p:cNvSpPr/>
          <p:nvPr/>
        </p:nvSpPr>
        <p:spPr>
          <a:xfrm>
            <a:off x="2880360" y="1536192"/>
            <a:ext cx="2834640" cy="347472"/>
          </a:xfrm>
          <a:prstGeom prst="rect">
            <a:avLst/>
          </a:prstGeom>
          <a:noFill/>
          <a:ln/>
        </p:spPr>
        <p:txBody>
          <a:bodyPr wrap="square" rtlCol="0" anchor="ctr"/>
          <a:lstStyle/>
          <a:p>
            <a:pPr indent="0" marL="0">
              <a:buNone/>
            </a:pPr>
            <a:r>
              <a:rPr lang="en-US" sz="1100" b="1" dirty="0">
                <a:solidFill>
                  <a:srgbClr val="FFFFFF"/>
                </a:solidFill>
              </a:rPr>
              <a:t>What They Do</a:t>
            </a:r>
            <a:endParaRPr lang="en-US" sz="1100" dirty="0"/>
          </a:p>
        </p:txBody>
      </p:sp>
      <p:sp>
        <p:nvSpPr>
          <p:cNvPr id="9" name="Shape 7"/>
          <p:cNvSpPr/>
          <p:nvPr/>
        </p:nvSpPr>
        <p:spPr>
          <a:xfrm>
            <a:off x="5715000" y="1536192"/>
            <a:ext cx="2926080" cy="347472"/>
          </a:xfrm>
          <a:prstGeom prst="rect">
            <a:avLst/>
          </a:prstGeom>
          <a:solidFill>
            <a:srgbClr val="0077B6"/>
          </a:solidFill>
          <a:ln w="12700">
            <a:solidFill>
              <a:srgbClr val="000000"/>
            </a:solidFill>
            <a:prstDash val="solid"/>
          </a:ln>
        </p:spPr>
      </p:sp>
      <p:sp>
        <p:nvSpPr>
          <p:cNvPr id="10" name="Text 8"/>
          <p:cNvSpPr/>
          <p:nvPr/>
        </p:nvSpPr>
        <p:spPr>
          <a:xfrm>
            <a:off x="5806440" y="1536192"/>
            <a:ext cx="2834640" cy="347472"/>
          </a:xfrm>
          <a:prstGeom prst="rect">
            <a:avLst/>
          </a:prstGeom>
          <a:noFill/>
          <a:ln/>
        </p:spPr>
        <p:txBody>
          <a:bodyPr wrap="square" rtlCol="0" anchor="ctr"/>
          <a:lstStyle/>
          <a:p>
            <a:pPr indent="0" marL="0">
              <a:buNone/>
            </a:pPr>
            <a:r>
              <a:rPr lang="en-US" sz="1100" b="1" dirty="0">
                <a:solidFill>
                  <a:srgbClr val="FFFFFF"/>
                </a:solidFill>
              </a:rPr>
              <a:t>What We Do</a:t>
            </a:r>
            <a:endParaRPr lang="en-US" sz="1100" dirty="0"/>
          </a:p>
        </p:txBody>
      </p:sp>
      <p:sp>
        <p:nvSpPr>
          <p:cNvPr id="11" name="Shape 9"/>
          <p:cNvSpPr/>
          <p:nvPr/>
        </p:nvSpPr>
        <p:spPr>
          <a:xfrm>
            <a:off x="411480" y="1920240"/>
            <a:ext cx="2377440" cy="749808"/>
          </a:xfrm>
          <a:prstGeom prst="rect">
            <a:avLst/>
          </a:prstGeom>
          <a:solidFill>
            <a:srgbClr val="131E35"/>
          </a:solidFill>
          <a:ln w="6350">
            <a:solidFill>
              <a:srgbClr val="1E3A5F"/>
            </a:solidFill>
            <a:prstDash val="solid"/>
          </a:ln>
        </p:spPr>
      </p:sp>
      <p:sp>
        <p:nvSpPr>
          <p:cNvPr id="12" name="Shape 10"/>
          <p:cNvSpPr/>
          <p:nvPr/>
        </p:nvSpPr>
        <p:spPr>
          <a:xfrm>
            <a:off x="2788920" y="1920240"/>
            <a:ext cx="2926080" cy="749808"/>
          </a:xfrm>
          <a:prstGeom prst="rect">
            <a:avLst/>
          </a:prstGeom>
          <a:solidFill>
            <a:srgbClr val="131E35"/>
          </a:solidFill>
          <a:ln w="6350">
            <a:solidFill>
              <a:srgbClr val="1E3A5F"/>
            </a:solidFill>
            <a:prstDash val="solid"/>
          </a:ln>
        </p:spPr>
      </p:sp>
      <p:sp>
        <p:nvSpPr>
          <p:cNvPr id="13" name="Shape 11"/>
          <p:cNvSpPr/>
          <p:nvPr/>
        </p:nvSpPr>
        <p:spPr>
          <a:xfrm>
            <a:off x="5715000" y="1920240"/>
            <a:ext cx="2926080" cy="749808"/>
          </a:xfrm>
          <a:prstGeom prst="rect">
            <a:avLst/>
          </a:prstGeom>
          <a:solidFill>
            <a:srgbClr val="0A2520"/>
          </a:solidFill>
          <a:ln w="6350">
            <a:solidFill>
              <a:srgbClr val="1E3A5F"/>
            </a:solidFill>
            <a:prstDash val="solid"/>
          </a:ln>
        </p:spPr>
      </p:sp>
      <p:sp>
        <p:nvSpPr>
          <p:cNvPr id="14" name="Text 12"/>
          <p:cNvSpPr/>
          <p:nvPr/>
        </p:nvSpPr>
        <p:spPr>
          <a:xfrm>
            <a:off x="502920" y="1993392"/>
            <a:ext cx="2267712" cy="594360"/>
          </a:xfrm>
          <a:prstGeom prst="rect">
            <a:avLst/>
          </a:prstGeom>
          <a:noFill/>
          <a:ln/>
        </p:spPr>
        <p:txBody>
          <a:bodyPr wrap="square" rtlCol="0" anchor="ctr"/>
          <a:lstStyle/>
          <a:p>
            <a:pPr indent="0" marL="0">
              <a:buNone/>
            </a:pPr>
            <a:r>
              <a:rPr lang="en-US" sz="950" dirty="0">
                <a:solidFill>
                  <a:srgbClr val="CBD5E1"/>
                </a:solidFill>
              </a:rPr>
              <a:t>Reputation Mgmt</a:t>
            </a:r>
            <a:endParaRPr lang="en-US" sz="950" dirty="0"/>
          </a:p>
          <a:p>
            <a:pPr indent="0" marL="0">
              <a:buNone/>
            </a:pPr>
            <a:r>
              <a:rPr lang="en-US" sz="950" dirty="0">
                <a:solidFill>
                  <a:srgbClr val="CBD5E1"/>
                </a:solidFill>
              </a:rPr>
              <a:t>(Birdeye, Podium)</a:t>
            </a:r>
            <a:endParaRPr lang="en-US" sz="950" dirty="0"/>
          </a:p>
        </p:txBody>
      </p:sp>
      <p:sp>
        <p:nvSpPr>
          <p:cNvPr id="15" name="Text 13"/>
          <p:cNvSpPr/>
          <p:nvPr/>
        </p:nvSpPr>
        <p:spPr>
          <a:xfrm>
            <a:off x="2880360" y="1993392"/>
            <a:ext cx="2816352" cy="594360"/>
          </a:xfrm>
          <a:prstGeom prst="rect">
            <a:avLst/>
          </a:prstGeom>
          <a:noFill/>
          <a:ln/>
        </p:spPr>
        <p:txBody>
          <a:bodyPr wrap="square" rtlCol="0" anchor="ctr"/>
          <a:lstStyle/>
          <a:p>
            <a:pPr indent="0" marL="0">
              <a:buNone/>
            </a:pPr>
            <a:r>
              <a:rPr lang="en-US" sz="950" dirty="0">
                <a:solidFill>
                  <a:srgbClr val="CBD5E1"/>
                </a:solidFill>
              </a:rPr>
              <a:t>✗  Review collection only</a:t>
            </a:r>
            <a:endParaRPr lang="en-US" sz="950" dirty="0"/>
          </a:p>
        </p:txBody>
      </p:sp>
      <p:sp>
        <p:nvSpPr>
          <p:cNvPr id="16" name="Text 14"/>
          <p:cNvSpPr/>
          <p:nvPr/>
        </p:nvSpPr>
        <p:spPr>
          <a:xfrm>
            <a:off x="5806440" y="1993392"/>
            <a:ext cx="2816352" cy="594360"/>
          </a:xfrm>
          <a:prstGeom prst="rect">
            <a:avLst/>
          </a:prstGeom>
          <a:noFill/>
          <a:ln/>
        </p:spPr>
        <p:txBody>
          <a:bodyPr wrap="square" rtlCol="0" anchor="ctr"/>
          <a:lstStyle/>
          <a:p>
            <a:pPr indent="0" marL="0">
              <a:buNone/>
            </a:pPr>
            <a:r>
              <a:rPr lang="en-US" sz="950" dirty="0">
                <a:solidFill>
                  <a:srgbClr val="06D6A0"/>
                </a:solidFill>
              </a:rPr>
              <a:t>✓  Reviews + full lifecycle + revenue recovery</a:t>
            </a:r>
            <a:endParaRPr lang="en-US" sz="950" dirty="0"/>
          </a:p>
        </p:txBody>
      </p:sp>
      <p:sp>
        <p:nvSpPr>
          <p:cNvPr id="17" name="Shape 15"/>
          <p:cNvSpPr/>
          <p:nvPr/>
        </p:nvSpPr>
        <p:spPr>
          <a:xfrm>
            <a:off x="411480" y="2743200"/>
            <a:ext cx="2377440" cy="749808"/>
          </a:xfrm>
          <a:prstGeom prst="rect">
            <a:avLst/>
          </a:prstGeom>
          <a:solidFill>
            <a:srgbClr val="1A2744"/>
          </a:solidFill>
          <a:ln w="6350">
            <a:solidFill>
              <a:srgbClr val="1E3A5F"/>
            </a:solidFill>
            <a:prstDash val="solid"/>
          </a:ln>
        </p:spPr>
      </p:sp>
      <p:sp>
        <p:nvSpPr>
          <p:cNvPr id="18" name="Shape 16"/>
          <p:cNvSpPr/>
          <p:nvPr/>
        </p:nvSpPr>
        <p:spPr>
          <a:xfrm>
            <a:off x="2788920" y="2743200"/>
            <a:ext cx="2926080" cy="749808"/>
          </a:xfrm>
          <a:prstGeom prst="rect">
            <a:avLst/>
          </a:prstGeom>
          <a:solidFill>
            <a:srgbClr val="1A2744"/>
          </a:solidFill>
          <a:ln w="6350">
            <a:solidFill>
              <a:srgbClr val="1E3A5F"/>
            </a:solidFill>
            <a:prstDash val="solid"/>
          </a:ln>
        </p:spPr>
      </p:sp>
      <p:sp>
        <p:nvSpPr>
          <p:cNvPr id="19" name="Shape 17"/>
          <p:cNvSpPr/>
          <p:nvPr/>
        </p:nvSpPr>
        <p:spPr>
          <a:xfrm>
            <a:off x="5715000" y="2743200"/>
            <a:ext cx="2926080" cy="749808"/>
          </a:xfrm>
          <a:prstGeom prst="rect">
            <a:avLst/>
          </a:prstGeom>
          <a:solidFill>
            <a:srgbClr val="0A2520"/>
          </a:solidFill>
          <a:ln w="6350">
            <a:solidFill>
              <a:srgbClr val="1E3A5F"/>
            </a:solidFill>
            <a:prstDash val="solid"/>
          </a:ln>
        </p:spPr>
      </p:sp>
      <p:sp>
        <p:nvSpPr>
          <p:cNvPr id="20" name="Text 18"/>
          <p:cNvSpPr/>
          <p:nvPr/>
        </p:nvSpPr>
        <p:spPr>
          <a:xfrm>
            <a:off x="502920" y="2816352"/>
            <a:ext cx="2267712" cy="594360"/>
          </a:xfrm>
          <a:prstGeom prst="rect">
            <a:avLst/>
          </a:prstGeom>
          <a:noFill/>
          <a:ln/>
        </p:spPr>
        <p:txBody>
          <a:bodyPr wrap="square" rtlCol="0" anchor="ctr"/>
          <a:lstStyle/>
          <a:p>
            <a:pPr indent="0" marL="0">
              <a:buNone/>
            </a:pPr>
            <a:r>
              <a:rPr lang="en-US" sz="950" dirty="0">
                <a:solidFill>
                  <a:srgbClr val="CBD5E1"/>
                </a:solidFill>
              </a:rPr>
              <a:t>CRM Agencies</a:t>
            </a:r>
            <a:endParaRPr lang="en-US" sz="950" dirty="0"/>
          </a:p>
          <a:p>
            <a:pPr indent="0" marL="0">
              <a:buNone/>
            </a:pPr>
            <a:r>
              <a:rPr lang="en-US" sz="950" dirty="0">
                <a:solidFill>
                  <a:srgbClr val="CBD5E1"/>
                </a:solidFill>
              </a:rPr>
              <a:t>(Generic)</a:t>
            </a:r>
            <a:endParaRPr lang="en-US" sz="950" dirty="0"/>
          </a:p>
        </p:txBody>
      </p:sp>
      <p:sp>
        <p:nvSpPr>
          <p:cNvPr id="21" name="Text 19"/>
          <p:cNvSpPr/>
          <p:nvPr/>
        </p:nvSpPr>
        <p:spPr>
          <a:xfrm>
            <a:off x="2880360" y="2816352"/>
            <a:ext cx="2816352" cy="594360"/>
          </a:xfrm>
          <a:prstGeom prst="rect">
            <a:avLst/>
          </a:prstGeom>
          <a:noFill/>
          <a:ln/>
        </p:spPr>
        <p:txBody>
          <a:bodyPr wrap="square" rtlCol="0" anchor="ctr"/>
          <a:lstStyle/>
          <a:p>
            <a:pPr indent="0" marL="0">
              <a:buNone/>
            </a:pPr>
            <a:r>
              <a:rPr lang="en-US" sz="950" dirty="0">
                <a:solidFill>
                  <a:srgbClr val="CBD5E1"/>
                </a:solidFill>
              </a:rPr>
              <a:t>✗  Setup + training, no execution</a:t>
            </a:r>
            <a:endParaRPr lang="en-US" sz="950" dirty="0"/>
          </a:p>
        </p:txBody>
      </p:sp>
      <p:sp>
        <p:nvSpPr>
          <p:cNvPr id="22" name="Text 20"/>
          <p:cNvSpPr/>
          <p:nvPr/>
        </p:nvSpPr>
        <p:spPr>
          <a:xfrm>
            <a:off x="5806440" y="2816352"/>
            <a:ext cx="2816352" cy="594360"/>
          </a:xfrm>
          <a:prstGeom prst="rect">
            <a:avLst/>
          </a:prstGeom>
          <a:noFill/>
          <a:ln/>
        </p:spPr>
        <p:txBody>
          <a:bodyPr wrap="square" rtlCol="0" anchor="ctr"/>
          <a:lstStyle/>
          <a:p>
            <a:pPr indent="0" marL="0">
              <a:buNone/>
            </a:pPr>
            <a:r>
              <a:rPr lang="en-US" sz="950" dirty="0">
                <a:solidFill>
                  <a:srgbClr val="06D6A0"/>
                </a:solidFill>
              </a:rPr>
              <a:t>✓  Done-for-you operation, zero staff workload</a:t>
            </a:r>
            <a:endParaRPr lang="en-US" sz="950" dirty="0"/>
          </a:p>
        </p:txBody>
      </p:sp>
      <p:sp>
        <p:nvSpPr>
          <p:cNvPr id="23" name="Shape 21"/>
          <p:cNvSpPr/>
          <p:nvPr/>
        </p:nvSpPr>
        <p:spPr>
          <a:xfrm>
            <a:off x="411480" y="3566160"/>
            <a:ext cx="2377440" cy="749808"/>
          </a:xfrm>
          <a:prstGeom prst="rect">
            <a:avLst/>
          </a:prstGeom>
          <a:solidFill>
            <a:srgbClr val="131E35"/>
          </a:solidFill>
          <a:ln w="6350">
            <a:solidFill>
              <a:srgbClr val="1E3A5F"/>
            </a:solidFill>
            <a:prstDash val="solid"/>
          </a:ln>
        </p:spPr>
      </p:sp>
      <p:sp>
        <p:nvSpPr>
          <p:cNvPr id="24" name="Shape 22"/>
          <p:cNvSpPr/>
          <p:nvPr/>
        </p:nvSpPr>
        <p:spPr>
          <a:xfrm>
            <a:off x="2788920" y="3566160"/>
            <a:ext cx="2926080" cy="749808"/>
          </a:xfrm>
          <a:prstGeom prst="rect">
            <a:avLst/>
          </a:prstGeom>
          <a:solidFill>
            <a:srgbClr val="131E35"/>
          </a:solidFill>
          <a:ln w="6350">
            <a:solidFill>
              <a:srgbClr val="1E3A5F"/>
            </a:solidFill>
            <a:prstDash val="solid"/>
          </a:ln>
        </p:spPr>
      </p:sp>
      <p:sp>
        <p:nvSpPr>
          <p:cNvPr id="25" name="Shape 23"/>
          <p:cNvSpPr/>
          <p:nvPr/>
        </p:nvSpPr>
        <p:spPr>
          <a:xfrm>
            <a:off x="5715000" y="3566160"/>
            <a:ext cx="2926080" cy="749808"/>
          </a:xfrm>
          <a:prstGeom prst="rect">
            <a:avLst/>
          </a:prstGeom>
          <a:solidFill>
            <a:srgbClr val="0A2520"/>
          </a:solidFill>
          <a:ln w="6350">
            <a:solidFill>
              <a:srgbClr val="1E3A5F"/>
            </a:solidFill>
            <a:prstDash val="solid"/>
          </a:ln>
        </p:spPr>
      </p:sp>
      <p:sp>
        <p:nvSpPr>
          <p:cNvPr id="26" name="Text 24"/>
          <p:cNvSpPr/>
          <p:nvPr/>
        </p:nvSpPr>
        <p:spPr>
          <a:xfrm>
            <a:off x="502920" y="3639312"/>
            <a:ext cx="2267712" cy="594360"/>
          </a:xfrm>
          <a:prstGeom prst="rect">
            <a:avLst/>
          </a:prstGeom>
          <a:noFill/>
          <a:ln/>
        </p:spPr>
        <p:txBody>
          <a:bodyPr wrap="square" rtlCol="0" anchor="ctr"/>
          <a:lstStyle/>
          <a:p>
            <a:pPr indent="0" marL="0">
              <a:buNone/>
            </a:pPr>
            <a:r>
              <a:rPr lang="en-US" sz="950" dirty="0">
                <a:solidFill>
                  <a:srgbClr val="CBD5E1"/>
                </a:solidFill>
              </a:rPr>
              <a:t>Marketing Agencies</a:t>
            </a:r>
            <a:endParaRPr lang="en-US" sz="950" dirty="0"/>
          </a:p>
        </p:txBody>
      </p:sp>
      <p:sp>
        <p:nvSpPr>
          <p:cNvPr id="27" name="Text 25"/>
          <p:cNvSpPr/>
          <p:nvPr/>
        </p:nvSpPr>
        <p:spPr>
          <a:xfrm>
            <a:off x="2880360" y="3639312"/>
            <a:ext cx="2816352" cy="594360"/>
          </a:xfrm>
          <a:prstGeom prst="rect">
            <a:avLst/>
          </a:prstGeom>
          <a:noFill/>
          <a:ln/>
        </p:spPr>
        <p:txBody>
          <a:bodyPr wrap="square" rtlCol="0" anchor="ctr"/>
          <a:lstStyle/>
          <a:p>
            <a:pPr indent="0" marL="0">
              <a:buNone/>
            </a:pPr>
            <a:r>
              <a:rPr lang="en-US" sz="950" dirty="0">
                <a:solidFill>
                  <a:srgbClr val="CBD5E1"/>
                </a:solidFill>
              </a:rPr>
              <a:t>✗  New lead generation only</a:t>
            </a:r>
            <a:endParaRPr lang="en-US" sz="950" dirty="0"/>
          </a:p>
        </p:txBody>
      </p:sp>
      <p:sp>
        <p:nvSpPr>
          <p:cNvPr id="28" name="Text 26"/>
          <p:cNvSpPr/>
          <p:nvPr/>
        </p:nvSpPr>
        <p:spPr>
          <a:xfrm>
            <a:off x="5806440" y="3639312"/>
            <a:ext cx="2816352" cy="594360"/>
          </a:xfrm>
          <a:prstGeom prst="rect">
            <a:avLst/>
          </a:prstGeom>
          <a:noFill/>
          <a:ln/>
        </p:spPr>
        <p:txBody>
          <a:bodyPr wrap="square" rtlCol="0" anchor="ctr"/>
          <a:lstStyle/>
          <a:p>
            <a:pPr indent="0" marL="0">
              <a:buNone/>
            </a:pPr>
            <a:r>
              <a:rPr lang="en-US" sz="950" dirty="0">
                <a:solidFill>
                  <a:srgbClr val="06D6A0"/>
                </a:solidFill>
              </a:rPr>
              <a:t>✓  Monetizes existing database first</a:t>
            </a:r>
            <a:endParaRPr lang="en-US" sz="950" dirty="0"/>
          </a:p>
        </p:txBody>
      </p:sp>
      <p:sp>
        <p:nvSpPr>
          <p:cNvPr id="29" name="Shape 27"/>
          <p:cNvSpPr/>
          <p:nvPr/>
        </p:nvSpPr>
        <p:spPr>
          <a:xfrm>
            <a:off x="411480" y="4389120"/>
            <a:ext cx="2377440" cy="749808"/>
          </a:xfrm>
          <a:prstGeom prst="rect">
            <a:avLst/>
          </a:prstGeom>
          <a:solidFill>
            <a:srgbClr val="1A2744"/>
          </a:solidFill>
          <a:ln w="6350">
            <a:solidFill>
              <a:srgbClr val="1E3A5F"/>
            </a:solidFill>
            <a:prstDash val="solid"/>
          </a:ln>
        </p:spPr>
      </p:sp>
      <p:sp>
        <p:nvSpPr>
          <p:cNvPr id="30" name="Shape 28"/>
          <p:cNvSpPr/>
          <p:nvPr/>
        </p:nvSpPr>
        <p:spPr>
          <a:xfrm>
            <a:off x="2788920" y="4389120"/>
            <a:ext cx="2926080" cy="749808"/>
          </a:xfrm>
          <a:prstGeom prst="rect">
            <a:avLst/>
          </a:prstGeom>
          <a:solidFill>
            <a:srgbClr val="1A2744"/>
          </a:solidFill>
          <a:ln w="6350">
            <a:solidFill>
              <a:srgbClr val="1E3A5F"/>
            </a:solidFill>
            <a:prstDash val="solid"/>
          </a:ln>
        </p:spPr>
      </p:sp>
      <p:sp>
        <p:nvSpPr>
          <p:cNvPr id="31" name="Shape 29"/>
          <p:cNvSpPr/>
          <p:nvPr/>
        </p:nvSpPr>
        <p:spPr>
          <a:xfrm>
            <a:off x="5715000" y="4389120"/>
            <a:ext cx="2926080" cy="749808"/>
          </a:xfrm>
          <a:prstGeom prst="rect">
            <a:avLst/>
          </a:prstGeom>
          <a:solidFill>
            <a:srgbClr val="0A2520"/>
          </a:solidFill>
          <a:ln w="6350">
            <a:solidFill>
              <a:srgbClr val="1E3A5F"/>
            </a:solidFill>
            <a:prstDash val="solid"/>
          </a:ln>
        </p:spPr>
      </p:sp>
      <p:sp>
        <p:nvSpPr>
          <p:cNvPr id="32" name="Text 30"/>
          <p:cNvSpPr/>
          <p:nvPr/>
        </p:nvSpPr>
        <p:spPr>
          <a:xfrm>
            <a:off x="502920" y="4462272"/>
            <a:ext cx="2267712" cy="594360"/>
          </a:xfrm>
          <a:prstGeom prst="rect">
            <a:avLst/>
          </a:prstGeom>
          <a:noFill/>
          <a:ln/>
        </p:spPr>
        <p:txBody>
          <a:bodyPr wrap="square" rtlCol="0" anchor="ctr"/>
          <a:lstStyle/>
          <a:p>
            <a:pPr indent="0" marL="0">
              <a:buNone/>
            </a:pPr>
            <a:r>
              <a:rPr lang="en-US" sz="950" dirty="0">
                <a:solidFill>
                  <a:srgbClr val="CBD5E1"/>
                </a:solidFill>
              </a:rPr>
              <a:t>Generic AI Tools</a:t>
            </a:r>
            <a:endParaRPr lang="en-US" sz="950" dirty="0"/>
          </a:p>
          <a:p>
            <a:pPr indent="0" marL="0">
              <a:buNone/>
            </a:pPr>
            <a:r>
              <a:rPr lang="en-US" sz="950" dirty="0">
                <a:solidFill>
                  <a:srgbClr val="CBD5E1"/>
                </a:solidFill>
              </a:rPr>
              <a:t>(Zapier, Make.com)</a:t>
            </a:r>
            <a:endParaRPr lang="en-US" sz="950" dirty="0"/>
          </a:p>
        </p:txBody>
      </p:sp>
      <p:sp>
        <p:nvSpPr>
          <p:cNvPr id="33" name="Text 31"/>
          <p:cNvSpPr/>
          <p:nvPr/>
        </p:nvSpPr>
        <p:spPr>
          <a:xfrm>
            <a:off x="2880360" y="4462272"/>
            <a:ext cx="2816352" cy="594360"/>
          </a:xfrm>
          <a:prstGeom prst="rect">
            <a:avLst/>
          </a:prstGeom>
          <a:noFill/>
          <a:ln/>
        </p:spPr>
        <p:txBody>
          <a:bodyPr wrap="square" rtlCol="0" anchor="ctr"/>
          <a:lstStyle/>
          <a:p>
            <a:pPr indent="0" marL="0">
              <a:buNone/>
            </a:pPr>
            <a:r>
              <a:rPr lang="en-US" sz="950" dirty="0">
                <a:solidFill>
                  <a:srgbClr val="CBD5E1"/>
                </a:solidFill>
              </a:rPr>
              <a:t>✗  Requires manual buildout</a:t>
            </a:r>
            <a:endParaRPr lang="en-US" sz="950" dirty="0"/>
          </a:p>
        </p:txBody>
      </p:sp>
      <p:sp>
        <p:nvSpPr>
          <p:cNvPr id="34" name="Text 32"/>
          <p:cNvSpPr/>
          <p:nvPr/>
        </p:nvSpPr>
        <p:spPr>
          <a:xfrm>
            <a:off x="5806440" y="4462272"/>
            <a:ext cx="2816352" cy="594360"/>
          </a:xfrm>
          <a:prstGeom prst="rect">
            <a:avLst/>
          </a:prstGeom>
          <a:noFill/>
          <a:ln/>
        </p:spPr>
        <p:txBody>
          <a:bodyPr wrap="square" rtlCol="0" anchor="ctr"/>
          <a:lstStyle/>
          <a:p>
            <a:pPr indent="0" marL="0">
              <a:buNone/>
            </a:pPr>
            <a:r>
              <a:rPr lang="en-US" sz="950" dirty="0">
                <a:solidFill>
                  <a:srgbClr val="06D6A0"/>
                </a:solidFill>
              </a:rPr>
              <a:t>✓  Pre-built HVAC-specific workflows, live in days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FUTURE CAPABILITIES</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800" b="1" dirty="0">
                <a:solidFill>
                  <a:srgbClr val="FFFFFF"/>
                </a:solidFill>
              </a:rPr>
              <a:t>Built to Grow With You:</a:t>
            </a:r>
            <a:endParaRPr lang="en-US" sz="2800" dirty="0"/>
          </a:p>
          <a:p>
            <a:pPr indent="0" marL="0">
              <a:buNone/>
            </a:pPr>
            <a:r>
              <a:rPr lang="en-US" sz="2800" b="1" dirty="0">
                <a:solidFill>
                  <a:srgbClr val="FFFFFF"/>
                </a:solidFill>
              </a:rPr>
              <a:t>The Roadmap Ahead</a:t>
            </a:r>
            <a:endParaRPr lang="en-US" sz="2800" dirty="0"/>
          </a:p>
        </p:txBody>
      </p:sp>
      <p:sp>
        <p:nvSpPr>
          <p:cNvPr id="5" name="Shape 3"/>
          <p:cNvSpPr/>
          <p:nvPr/>
        </p:nvSpPr>
        <p:spPr>
          <a:xfrm>
            <a:off x="411480" y="1572768"/>
            <a:ext cx="2697480" cy="32004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411480" y="1572768"/>
            <a:ext cx="2697480" cy="384048"/>
          </a:xfrm>
          <a:prstGeom prst="rect">
            <a:avLst/>
          </a:prstGeom>
          <a:solidFill>
            <a:srgbClr val="06D6A0">
              <a:alpha val="25000"/>
            </a:srgbClr>
          </a:solidFill>
          <a:ln w="12700">
            <a:solidFill>
              <a:srgbClr val="000000"/>
            </a:solidFill>
            <a:prstDash val="solid"/>
          </a:ln>
        </p:spPr>
      </p:sp>
      <p:sp>
        <p:nvSpPr>
          <p:cNvPr id="7" name="Text 5"/>
          <p:cNvSpPr/>
          <p:nvPr/>
        </p:nvSpPr>
        <p:spPr>
          <a:xfrm>
            <a:off x="411480" y="1591056"/>
            <a:ext cx="2697480" cy="347472"/>
          </a:xfrm>
          <a:prstGeom prst="rect">
            <a:avLst/>
          </a:prstGeom>
          <a:noFill/>
          <a:ln/>
        </p:spPr>
        <p:txBody>
          <a:bodyPr wrap="square" rtlCol="0" anchor="ctr"/>
          <a:lstStyle/>
          <a:p>
            <a:pPr algn="ctr" indent="0" marL="0">
              <a:buNone/>
            </a:pPr>
            <a:r>
              <a:rPr lang="en-US" sz="1200" b="1" dirty="0">
                <a:solidFill>
                  <a:srgbClr val="06D6A0"/>
                </a:solidFill>
              </a:rPr>
              <a:t>NOW LIVE</a:t>
            </a:r>
            <a:endParaRPr lang="en-US" sz="1200" dirty="0"/>
          </a:p>
        </p:txBody>
      </p:sp>
      <p:sp>
        <p:nvSpPr>
          <p:cNvPr id="8" name="Text 6"/>
          <p:cNvSpPr/>
          <p:nvPr/>
        </p:nvSpPr>
        <p:spPr>
          <a:xfrm>
            <a:off x="548640" y="2084832"/>
            <a:ext cx="2423160" cy="530352"/>
          </a:xfrm>
          <a:prstGeom prst="rect">
            <a:avLst/>
          </a:prstGeom>
          <a:noFill/>
          <a:ln/>
        </p:spPr>
        <p:txBody>
          <a:bodyPr wrap="square" rtlCol="0" anchor="ctr"/>
          <a:lstStyle/>
          <a:p>
            <a:pPr indent="0" marL="0">
              <a:buNone/>
            </a:pPr>
            <a:r>
              <a:rPr lang="en-US" sz="1050" dirty="0">
                <a:solidFill>
                  <a:srgbClr val="CBD5E1"/>
                </a:solidFill>
              </a:rPr>
              <a:t>→  AI SMS &amp; email follow-ups</a:t>
            </a:r>
            <a:endParaRPr lang="en-US" sz="1050" dirty="0"/>
          </a:p>
        </p:txBody>
      </p:sp>
      <p:sp>
        <p:nvSpPr>
          <p:cNvPr id="9" name="Text 7"/>
          <p:cNvSpPr/>
          <p:nvPr/>
        </p:nvSpPr>
        <p:spPr>
          <a:xfrm>
            <a:off x="548640" y="2761488"/>
            <a:ext cx="2423160" cy="530352"/>
          </a:xfrm>
          <a:prstGeom prst="rect">
            <a:avLst/>
          </a:prstGeom>
          <a:noFill/>
          <a:ln/>
        </p:spPr>
        <p:txBody>
          <a:bodyPr wrap="square" rtlCol="0" anchor="ctr"/>
          <a:lstStyle/>
          <a:p>
            <a:pPr indent="0" marL="0">
              <a:buNone/>
            </a:pPr>
            <a:r>
              <a:rPr lang="en-US" sz="1050" dirty="0">
                <a:solidFill>
                  <a:srgbClr val="CBD5E1"/>
                </a:solidFill>
              </a:rPr>
              <a:t>→  Review collection automation</a:t>
            </a:r>
            <a:endParaRPr lang="en-US" sz="1050" dirty="0"/>
          </a:p>
        </p:txBody>
      </p:sp>
      <p:sp>
        <p:nvSpPr>
          <p:cNvPr id="10" name="Text 8"/>
          <p:cNvSpPr/>
          <p:nvPr/>
        </p:nvSpPr>
        <p:spPr>
          <a:xfrm>
            <a:off x="548640" y="3438144"/>
            <a:ext cx="2423160" cy="530352"/>
          </a:xfrm>
          <a:prstGeom prst="rect">
            <a:avLst/>
          </a:prstGeom>
          <a:noFill/>
          <a:ln/>
        </p:spPr>
        <p:txBody>
          <a:bodyPr wrap="square" rtlCol="0" anchor="ctr"/>
          <a:lstStyle/>
          <a:p>
            <a:pPr indent="0" marL="0">
              <a:buNone/>
            </a:pPr>
            <a:r>
              <a:rPr lang="en-US" sz="1050" dirty="0">
                <a:solidFill>
                  <a:srgbClr val="CBD5E1"/>
                </a:solidFill>
              </a:rPr>
              <a:t>→  Lead reactivation campaigns</a:t>
            </a:r>
            <a:endParaRPr lang="en-US" sz="1050" dirty="0"/>
          </a:p>
        </p:txBody>
      </p:sp>
      <p:sp>
        <p:nvSpPr>
          <p:cNvPr id="11" name="Text 9"/>
          <p:cNvSpPr/>
          <p:nvPr/>
        </p:nvSpPr>
        <p:spPr>
          <a:xfrm>
            <a:off x="548640" y="4114800"/>
            <a:ext cx="2423160" cy="530352"/>
          </a:xfrm>
          <a:prstGeom prst="rect">
            <a:avLst/>
          </a:prstGeom>
          <a:noFill/>
          <a:ln/>
        </p:spPr>
        <p:txBody>
          <a:bodyPr wrap="square" rtlCol="0" anchor="ctr"/>
          <a:lstStyle/>
          <a:p>
            <a:pPr indent="0" marL="0">
              <a:buNone/>
            </a:pPr>
            <a:r>
              <a:rPr lang="en-US" sz="1050" dirty="0">
                <a:solidFill>
                  <a:srgbClr val="CBD5E1"/>
                </a:solidFill>
              </a:rPr>
              <a:t>→  Missed-call text-back</a:t>
            </a:r>
            <a:endParaRPr lang="en-US" sz="1050" dirty="0"/>
          </a:p>
        </p:txBody>
      </p:sp>
      <p:sp>
        <p:nvSpPr>
          <p:cNvPr id="12" name="Shape 10"/>
          <p:cNvSpPr/>
          <p:nvPr/>
        </p:nvSpPr>
        <p:spPr>
          <a:xfrm>
            <a:off x="3291840" y="1572768"/>
            <a:ext cx="2697480" cy="32004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3291840" y="1572768"/>
            <a:ext cx="2697480" cy="384048"/>
          </a:xfrm>
          <a:prstGeom prst="rect">
            <a:avLst/>
          </a:prstGeom>
          <a:solidFill>
            <a:srgbClr val="00B4D8">
              <a:alpha val="25000"/>
            </a:srgbClr>
          </a:solidFill>
          <a:ln w="12700">
            <a:solidFill>
              <a:srgbClr val="000000"/>
            </a:solidFill>
            <a:prstDash val="solid"/>
          </a:ln>
        </p:spPr>
      </p:sp>
      <p:sp>
        <p:nvSpPr>
          <p:cNvPr id="14" name="Text 12"/>
          <p:cNvSpPr/>
          <p:nvPr/>
        </p:nvSpPr>
        <p:spPr>
          <a:xfrm>
            <a:off x="3291840" y="1591056"/>
            <a:ext cx="2697480" cy="347472"/>
          </a:xfrm>
          <a:prstGeom prst="rect">
            <a:avLst/>
          </a:prstGeom>
          <a:noFill/>
          <a:ln/>
        </p:spPr>
        <p:txBody>
          <a:bodyPr wrap="square" rtlCol="0" anchor="ctr"/>
          <a:lstStyle/>
          <a:p>
            <a:pPr algn="ctr" indent="0" marL="0">
              <a:buNone/>
            </a:pPr>
            <a:r>
              <a:rPr lang="en-US" sz="1200" b="1" dirty="0">
                <a:solidFill>
                  <a:srgbClr val="00B4D8"/>
                </a:solidFill>
              </a:rPr>
              <a:t>Q3 2025</a:t>
            </a:r>
            <a:endParaRPr lang="en-US" sz="1200" dirty="0"/>
          </a:p>
        </p:txBody>
      </p:sp>
      <p:sp>
        <p:nvSpPr>
          <p:cNvPr id="15" name="Text 13"/>
          <p:cNvSpPr/>
          <p:nvPr/>
        </p:nvSpPr>
        <p:spPr>
          <a:xfrm>
            <a:off x="3429000" y="2084832"/>
            <a:ext cx="2423160" cy="530352"/>
          </a:xfrm>
          <a:prstGeom prst="rect">
            <a:avLst/>
          </a:prstGeom>
          <a:noFill/>
          <a:ln/>
        </p:spPr>
        <p:txBody>
          <a:bodyPr wrap="square" rtlCol="0" anchor="ctr"/>
          <a:lstStyle/>
          <a:p>
            <a:pPr indent="0" marL="0">
              <a:buNone/>
            </a:pPr>
            <a:r>
              <a:rPr lang="en-US" sz="1050" dirty="0">
                <a:solidFill>
                  <a:srgbClr val="CBD5E1"/>
                </a:solidFill>
              </a:rPr>
              <a:t>→  AI Voice Receptionist</a:t>
            </a:r>
            <a:endParaRPr lang="en-US" sz="1050" dirty="0"/>
          </a:p>
        </p:txBody>
      </p:sp>
      <p:sp>
        <p:nvSpPr>
          <p:cNvPr id="16" name="Text 14"/>
          <p:cNvSpPr/>
          <p:nvPr/>
        </p:nvSpPr>
        <p:spPr>
          <a:xfrm>
            <a:off x="3429000" y="2761488"/>
            <a:ext cx="2423160" cy="530352"/>
          </a:xfrm>
          <a:prstGeom prst="rect">
            <a:avLst/>
          </a:prstGeom>
          <a:noFill/>
          <a:ln/>
        </p:spPr>
        <p:txBody>
          <a:bodyPr wrap="square" rtlCol="0" anchor="ctr"/>
          <a:lstStyle/>
          <a:p>
            <a:pPr indent="0" marL="0">
              <a:buNone/>
            </a:pPr>
            <a:r>
              <a:rPr lang="en-US" sz="1050" dirty="0">
                <a:solidFill>
                  <a:srgbClr val="CBD5E1"/>
                </a:solidFill>
              </a:rPr>
              <a:t>→  Predictive maintenance reminders</a:t>
            </a:r>
            <a:endParaRPr lang="en-US" sz="1050" dirty="0"/>
          </a:p>
        </p:txBody>
      </p:sp>
      <p:sp>
        <p:nvSpPr>
          <p:cNvPr id="17" name="Text 15"/>
          <p:cNvSpPr/>
          <p:nvPr/>
        </p:nvSpPr>
        <p:spPr>
          <a:xfrm>
            <a:off x="3429000" y="3438144"/>
            <a:ext cx="2423160" cy="530352"/>
          </a:xfrm>
          <a:prstGeom prst="rect">
            <a:avLst/>
          </a:prstGeom>
          <a:noFill/>
          <a:ln/>
        </p:spPr>
        <p:txBody>
          <a:bodyPr wrap="square" rtlCol="0" anchor="ctr"/>
          <a:lstStyle/>
          <a:p>
            <a:pPr indent="0" marL="0">
              <a:buNone/>
            </a:pPr>
            <a:r>
              <a:rPr lang="en-US" sz="1050" dirty="0">
                <a:solidFill>
                  <a:srgbClr val="CBD5E1"/>
                </a:solidFill>
              </a:rPr>
              <a:t>→  Multi-location dashboard</a:t>
            </a:r>
            <a:endParaRPr lang="en-US" sz="1050" dirty="0"/>
          </a:p>
        </p:txBody>
      </p:sp>
      <p:sp>
        <p:nvSpPr>
          <p:cNvPr id="18" name="Text 16"/>
          <p:cNvSpPr/>
          <p:nvPr/>
        </p:nvSpPr>
        <p:spPr>
          <a:xfrm>
            <a:off x="3429000" y="4114800"/>
            <a:ext cx="2423160" cy="530352"/>
          </a:xfrm>
          <a:prstGeom prst="rect">
            <a:avLst/>
          </a:prstGeom>
          <a:noFill/>
          <a:ln/>
        </p:spPr>
        <p:txBody>
          <a:bodyPr wrap="square" rtlCol="0" anchor="ctr"/>
          <a:lstStyle/>
          <a:p>
            <a:pPr indent="0" marL="0">
              <a:buNone/>
            </a:pPr>
            <a:r>
              <a:rPr lang="en-US" sz="1050" dirty="0">
                <a:solidFill>
                  <a:srgbClr val="CBD5E1"/>
                </a:solidFill>
              </a:rPr>
              <a:t>→  Seasonal trigger campaigns</a:t>
            </a:r>
            <a:endParaRPr lang="en-US" sz="1050" dirty="0"/>
          </a:p>
        </p:txBody>
      </p:sp>
      <p:sp>
        <p:nvSpPr>
          <p:cNvPr id="19" name="Shape 17"/>
          <p:cNvSpPr/>
          <p:nvPr/>
        </p:nvSpPr>
        <p:spPr>
          <a:xfrm>
            <a:off x="6172200" y="1572768"/>
            <a:ext cx="2697480" cy="320040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6172200" y="1572768"/>
            <a:ext cx="2697480" cy="384048"/>
          </a:xfrm>
          <a:prstGeom prst="rect">
            <a:avLst/>
          </a:prstGeom>
          <a:solidFill>
            <a:srgbClr val="F4C430">
              <a:alpha val="25000"/>
            </a:srgbClr>
          </a:solidFill>
          <a:ln w="12700">
            <a:solidFill>
              <a:srgbClr val="000000"/>
            </a:solidFill>
            <a:prstDash val="solid"/>
          </a:ln>
        </p:spPr>
      </p:sp>
      <p:sp>
        <p:nvSpPr>
          <p:cNvPr id="21" name="Text 19"/>
          <p:cNvSpPr/>
          <p:nvPr/>
        </p:nvSpPr>
        <p:spPr>
          <a:xfrm>
            <a:off x="6172200" y="1591056"/>
            <a:ext cx="2697480" cy="347472"/>
          </a:xfrm>
          <a:prstGeom prst="rect">
            <a:avLst/>
          </a:prstGeom>
          <a:noFill/>
          <a:ln/>
        </p:spPr>
        <p:txBody>
          <a:bodyPr wrap="square" rtlCol="0" anchor="ctr"/>
          <a:lstStyle/>
          <a:p>
            <a:pPr algn="ctr" indent="0" marL="0">
              <a:buNone/>
            </a:pPr>
            <a:r>
              <a:rPr lang="en-US" sz="1200" b="1" dirty="0">
                <a:solidFill>
                  <a:srgbClr val="F4C430"/>
                </a:solidFill>
              </a:rPr>
              <a:t>2026+</a:t>
            </a:r>
            <a:endParaRPr lang="en-US" sz="1200" dirty="0"/>
          </a:p>
        </p:txBody>
      </p:sp>
      <p:sp>
        <p:nvSpPr>
          <p:cNvPr id="22" name="Text 20"/>
          <p:cNvSpPr/>
          <p:nvPr/>
        </p:nvSpPr>
        <p:spPr>
          <a:xfrm>
            <a:off x="6309360" y="2084832"/>
            <a:ext cx="2423160" cy="530352"/>
          </a:xfrm>
          <a:prstGeom prst="rect">
            <a:avLst/>
          </a:prstGeom>
          <a:noFill/>
          <a:ln/>
        </p:spPr>
        <p:txBody>
          <a:bodyPr wrap="square" rtlCol="0" anchor="ctr"/>
          <a:lstStyle/>
          <a:p>
            <a:pPr indent="0" marL="0">
              <a:buNone/>
            </a:pPr>
            <a:r>
              <a:rPr lang="en-US" sz="1050" dirty="0">
                <a:solidFill>
                  <a:srgbClr val="CBD5E1"/>
                </a:solidFill>
              </a:rPr>
              <a:t>→  Dispatch optimization AI</a:t>
            </a:r>
            <a:endParaRPr lang="en-US" sz="1050" dirty="0"/>
          </a:p>
        </p:txBody>
      </p:sp>
      <p:sp>
        <p:nvSpPr>
          <p:cNvPr id="23" name="Text 21"/>
          <p:cNvSpPr/>
          <p:nvPr/>
        </p:nvSpPr>
        <p:spPr>
          <a:xfrm>
            <a:off x="6309360" y="2761488"/>
            <a:ext cx="2423160" cy="530352"/>
          </a:xfrm>
          <a:prstGeom prst="rect">
            <a:avLst/>
          </a:prstGeom>
          <a:noFill/>
          <a:ln/>
        </p:spPr>
        <p:txBody>
          <a:bodyPr wrap="square" rtlCol="0" anchor="ctr"/>
          <a:lstStyle/>
          <a:p>
            <a:pPr indent="0" marL="0">
              <a:buNone/>
            </a:pPr>
            <a:r>
              <a:rPr lang="en-US" sz="1050" dirty="0">
                <a:solidFill>
                  <a:srgbClr val="CBD5E1"/>
                </a:solidFill>
              </a:rPr>
              <a:t>→  Technician performance analytics</a:t>
            </a:r>
            <a:endParaRPr lang="en-US" sz="1050" dirty="0"/>
          </a:p>
        </p:txBody>
      </p:sp>
      <p:sp>
        <p:nvSpPr>
          <p:cNvPr id="24" name="Text 22"/>
          <p:cNvSpPr/>
          <p:nvPr/>
        </p:nvSpPr>
        <p:spPr>
          <a:xfrm>
            <a:off x="6309360" y="3438144"/>
            <a:ext cx="2423160" cy="530352"/>
          </a:xfrm>
          <a:prstGeom prst="rect">
            <a:avLst/>
          </a:prstGeom>
          <a:noFill/>
          <a:ln/>
        </p:spPr>
        <p:txBody>
          <a:bodyPr wrap="square" rtlCol="0" anchor="ctr"/>
          <a:lstStyle/>
          <a:p>
            <a:pPr indent="0" marL="0">
              <a:buNone/>
            </a:pPr>
            <a:r>
              <a:rPr lang="en-US" sz="1050" dirty="0">
                <a:solidFill>
                  <a:srgbClr val="CBD5E1"/>
                </a:solidFill>
              </a:rPr>
              <a:t>→  Revenue forecasting models</a:t>
            </a:r>
            <a:endParaRPr lang="en-US" sz="1050" dirty="0"/>
          </a:p>
        </p:txBody>
      </p:sp>
      <p:sp>
        <p:nvSpPr>
          <p:cNvPr id="25" name="Text 23"/>
          <p:cNvSpPr/>
          <p:nvPr/>
        </p:nvSpPr>
        <p:spPr>
          <a:xfrm>
            <a:off x="6309360" y="4114800"/>
            <a:ext cx="2423160" cy="530352"/>
          </a:xfrm>
          <a:prstGeom prst="rect">
            <a:avLst/>
          </a:prstGeom>
          <a:noFill/>
          <a:ln/>
        </p:spPr>
        <p:txBody>
          <a:bodyPr wrap="square" rtlCol="0" anchor="ctr"/>
          <a:lstStyle/>
          <a:p>
            <a:pPr indent="0" marL="0">
              <a:buNone/>
            </a:pPr>
            <a:r>
              <a:rPr lang="en-US" sz="1050" dirty="0">
                <a:solidFill>
                  <a:srgbClr val="CBD5E1"/>
                </a:solidFill>
              </a:rPr>
              <a:t>→  Franchise-level reporting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ONBOARDING TIMELINE</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600" b="1" dirty="0">
                <a:solidFill>
                  <a:srgbClr val="FFFFFF"/>
                </a:solidFill>
              </a:rPr>
              <a:t>From Signed Agreement to</a:t>
            </a:r>
            <a:endParaRPr lang="en-US" sz="2600" dirty="0"/>
          </a:p>
          <a:p>
            <a:pPr indent="0" marL="0">
              <a:buNone/>
            </a:pPr>
            <a:r>
              <a:rPr lang="en-US" sz="2600" b="1" dirty="0">
                <a:solidFill>
                  <a:srgbClr val="FFFFFF"/>
                </a:solidFill>
              </a:rPr>
              <a:t>Revenue Recovery in 21 Days</a:t>
            </a:r>
            <a:endParaRPr lang="en-US" sz="2600" dirty="0"/>
          </a:p>
        </p:txBody>
      </p:sp>
      <p:sp>
        <p:nvSpPr>
          <p:cNvPr id="5" name="Shape 3"/>
          <p:cNvSpPr/>
          <p:nvPr/>
        </p:nvSpPr>
        <p:spPr>
          <a:xfrm>
            <a:off x="548640" y="2304288"/>
            <a:ext cx="8046720" cy="45720"/>
          </a:xfrm>
          <a:prstGeom prst="rect">
            <a:avLst/>
          </a:prstGeom>
          <a:solidFill>
            <a:srgbClr val="0077B6"/>
          </a:solidFill>
          <a:ln w="12700">
            <a:solidFill>
              <a:srgbClr val="000000"/>
            </a:solidFill>
            <a:prstDash val="solid"/>
          </a:ln>
        </p:spPr>
      </p:sp>
      <p:sp>
        <p:nvSpPr>
          <p:cNvPr id="6" name="Shape 4"/>
          <p:cNvSpPr/>
          <p:nvPr/>
        </p:nvSpPr>
        <p:spPr>
          <a:xfrm>
            <a:off x="850392" y="2176272"/>
            <a:ext cx="292608" cy="292608"/>
          </a:xfrm>
          <a:prstGeom prst="oval">
            <a:avLst/>
          </a:prstGeom>
          <a:solidFill>
            <a:srgbClr val="00B4D8"/>
          </a:solidFill>
          <a:ln w="12700">
            <a:solidFill>
              <a:srgbClr val="000000"/>
            </a:solidFill>
            <a:prstDash val="solid"/>
          </a:ln>
        </p:spPr>
      </p:sp>
      <p:sp>
        <p:nvSpPr>
          <p:cNvPr id="7" name="Text 5"/>
          <p:cNvSpPr/>
          <p:nvPr/>
        </p:nvSpPr>
        <p:spPr>
          <a:xfrm>
            <a:off x="411480" y="1664208"/>
            <a:ext cx="1325880" cy="320040"/>
          </a:xfrm>
          <a:prstGeom prst="rect">
            <a:avLst/>
          </a:prstGeom>
          <a:noFill/>
          <a:ln/>
        </p:spPr>
        <p:txBody>
          <a:bodyPr wrap="square" rtlCol="0" anchor="ctr"/>
          <a:lstStyle/>
          <a:p>
            <a:pPr algn="ctr" indent="0" marL="0">
              <a:buNone/>
            </a:pPr>
            <a:r>
              <a:rPr lang="en-US" sz="850" b="1" dirty="0">
                <a:solidFill>
                  <a:srgbClr val="00B4D8"/>
                </a:solidFill>
              </a:rPr>
              <a:t>Days 1–3</a:t>
            </a:r>
            <a:endParaRPr lang="en-US" sz="850" dirty="0"/>
          </a:p>
        </p:txBody>
      </p:sp>
      <p:sp>
        <p:nvSpPr>
          <p:cNvPr id="8" name="Shape 6"/>
          <p:cNvSpPr/>
          <p:nvPr/>
        </p:nvSpPr>
        <p:spPr>
          <a:xfrm>
            <a:off x="411480" y="2633472"/>
            <a:ext cx="1298448" cy="193852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466344" y="2688336"/>
            <a:ext cx="1188720" cy="320040"/>
          </a:xfrm>
          <a:prstGeom prst="rect">
            <a:avLst/>
          </a:prstGeom>
          <a:noFill/>
          <a:ln/>
        </p:spPr>
        <p:txBody>
          <a:bodyPr wrap="square" rtlCol="0" anchor="ctr"/>
          <a:lstStyle/>
          <a:p>
            <a:pPr algn="ctr" indent="0" marL="0">
              <a:buNone/>
            </a:pPr>
            <a:r>
              <a:rPr lang="en-US" sz="950" b="1" dirty="0">
                <a:solidFill>
                  <a:srgbClr val="FFFFFF"/>
                </a:solidFill>
              </a:rPr>
              <a:t>Onboarding Call</a:t>
            </a:r>
            <a:endParaRPr lang="en-US" sz="950" dirty="0"/>
          </a:p>
        </p:txBody>
      </p:sp>
      <p:sp>
        <p:nvSpPr>
          <p:cNvPr id="10" name="Text 8"/>
          <p:cNvSpPr/>
          <p:nvPr/>
        </p:nvSpPr>
        <p:spPr>
          <a:xfrm>
            <a:off x="466344" y="3017520"/>
            <a:ext cx="1188720" cy="1280160"/>
          </a:xfrm>
          <a:prstGeom prst="rect">
            <a:avLst/>
          </a:prstGeom>
          <a:noFill/>
          <a:ln/>
        </p:spPr>
        <p:txBody>
          <a:bodyPr wrap="square" rtlCol="0" anchor="ctr"/>
          <a:lstStyle/>
          <a:p>
            <a:pPr algn="ctr" indent="0" marL="0">
              <a:buNone/>
            </a:pPr>
            <a:r>
              <a:rPr lang="en-US" sz="850" dirty="0">
                <a:solidFill>
                  <a:srgbClr val="CBD5E1"/>
                </a:solidFill>
              </a:rPr>
              <a:t>CRM access granted. Business goals defined. Customer database reviewed.</a:t>
            </a:r>
            <a:endParaRPr lang="en-US" sz="850" dirty="0"/>
          </a:p>
        </p:txBody>
      </p:sp>
      <p:sp>
        <p:nvSpPr>
          <p:cNvPr id="11" name="Shape 9"/>
          <p:cNvSpPr/>
          <p:nvPr/>
        </p:nvSpPr>
        <p:spPr>
          <a:xfrm>
            <a:off x="2240280" y="2176272"/>
            <a:ext cx="292608" cy="292608"/>
          </a:xfrm>
          <a:prstGeom prst="oval">
            <a:avLst/>
          </a:prstGeom>
          <a:solidFill>
            <a:srgbClr val="00B4D8"/>
          </a:solidFill>
          <a:ln w="12700">
            <a:solidFill>
              <a:srgbClr val="000000"/>
            </a:solidFill>
            <a:prstDash val="solid"/>
          </a:ln>
        </p:spPr>
      </p:sp>
      <p:sp>
        <p:nvSpPr>
          <p:cNvPr id="12" name="Text 10"/>
          <p:cNvSpPr/>
          <p:nvPr/>
        </p:nvSpPr>
        <p:spPr>
          <a:xfrm>
            <a:off x="1801368" y="1664208"/>
            <a:ext cx="1325880" cy="320040"/>
          </a:xfrm>
          <a:prstGeom prst="rect">
            <a:avLst/>
          </a:prstGeom>
          <a:noFill/>
          <a:ln/>
        </p:spPr>
        <p:txBody>
          <a:bodyPr wrap="square" rtlCol="0" anchor="ctr"/>
          <a:lstStyle/>
          <a:p>
            <a:pPr algn="ctr" indent="0" marL="0">
              <a:buNone/>
            </a:pPr>
            <a:r>
              <a:rPr lang="en-US" sz="850" b="1" dirty="0">
                <a:solidFill>
                  <a:srgbClr val="00B4D8"/>
                </a:solidFill>
              </a:rPr>
              <a:t>Days 4–7</a:t>
            </a:r>
            <a:endParaRPr lang="en-US" sz="850" dirty="0"/>
          </a:p>
        </p:txBody>
      </p:sp>
      <p:sp>
        <p:nvSpPr>
          <p:cNvPr id="13" name="Shape 11"/>
          <p:cNvSpPr/>
          <p:nvPr/>
        </p:nvSpPr>
        <p:spPr>
          <a:xfrm>
            <a:off x="1801368" y="2633472"/>
            <a:ext cx="1298448" cy="193852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1856232" y="2688336"/>
            <a:ext cx="1188720" cy="320040"/>
          </a:xfrm>
          <a:prstGeom prst="rect">
            <a:avLst/>
          </a:prstGeom>
          <a:noFill/>
          <a:ln/>
        </p:spPr>
        <p:txBody>
          <a:bodyPr wrap="square" rtlCol="0" anchor="ctr"/>
          <a:lstStyle/>
          <a:p>
            <a:pPr algn="ctr" indent="0" marL="0">
              <a:buNone/>
            </a:pPr>
            <a:r>
              <a:rPr lang="en-US" sz="950" b="1" dirty="0">
                <a:solidFill>
                  <a:srgbClr val="FFFFFF"/>
                </a:solidFill>
              </a:rPr>
              <a:t>System Integration</a:t>
            </a:r>
            <a:endParaRPr lang="en-US" sz="950" dirty="0"/>
          </a:p>
        </p:txBody>
      </p:sp>
      <p:sp>
        <p:nvSpPr>
          <p:cNvPr id="15" name="Text 13"/>
          <p:cNvSpPr/>
          <p:nvPr/>
        </p:nvSpPr>
        <p:spPr>
          <a:xfrm>
            <a:off x="1856232" y="3017520"/>
            <a:ext cx="1188720" cy="1280160"/>
          </a:xfrm>
          <a:prstGeom prst="rect">
            <a:avLst/>
          </a:prstGeom>
          <a:noFill/>
          <a:ln/>
        </p:spPr>
        <p:txBody>
          <a:bodyPr wrap="square" rtlCol="0" anchor="ctr"/>
          <a:lstStyle/>
          <a:p>
            <a:pPr algn="ctr" indent="0" marL="0">
              <a:buNone/>
            </a:pPr>
            <a:r>
              <a:rPr lang="en-US" sz="850" dirty="0">
                <a:solidFill>
                  <a:srgbClr val="CBD5E1"/>
                </a:solidFill>
              </a:rPr>
              <a:t>CRM connected. Contact segmentation complete. Phone/SMS routing configured.</a:t>
            </a:r>
            <a:endParaRPr lang="en-US" sz="850" dirty="0"/>
          </a:p>
        </p:txBody>
      </p:sp>
      <p:sp>
        <p:nvSpPr>
          <p:cNvPr id="16" name="Shape 14"/>
          <p:cNvSpPr/>
          <p:nvPr/>
        </p:nvSpPr>
        <p:spPr>
          <a:xfrm>
            <a:off x="3630168" y="2176272"/>
            <a:ext cx="292608" cy="292608"/>
          </a:xfrm>
          <a:prstGeom prst="oval">
            <a:avLst/>
          </a:prstGeom>
          <a:solidFill>
            <a:srgbClr val="00B4D8"/>
          </a:solidFill>
          <a:ln w="12700">
            <a:solidFill>
              <a:srgbClr val="000000"/>
            </a:solidFill>
            <a:prstDash val="solid"/>
          </a:ln>
        </p:spPr>
      </p:sp>
      <p:sp>
        <p:nvSpPr>
          <p:cNvPr id="17" name="Text 15"/>
          <p:cNvSpPr/>
          <p:nvPr/>
        </p:nvSpPr>
        <p:spPr>
          <a:xfrm>
            <a:off x="3191256" y="1664208"/>
            <a:ext cx="1325880" cy="320040"/>
          </a:xfrm>
          <a:prstGeom prst="rect">
            <a:avLst/>
          </a:prstGeom>
          <a:noFill/>
          <a:ln/>
        </p:spPr>
        <p:txBody>
          <a:bodyPr wrap="square" rtlCol="0" anchor="ctr"/>
          <a:lstStyle/>
          <a:p>
            <a:pPr algn="ctr" indent="0" marL="0">
              <a:buNone/>
            </a:pPr>
            <a:r>
              <a:rPr lang="en-US" sz="850" b="1" dirty="0">
                <a:solidFill>
                  <a:srgbClr val="00B4D8"/>
                </a:solidFill>
              </a:rPr>
              <a:t>Days 8–12</a:t>
            </a:r>
            <a:endParaRPr lang="en-US" sz="850" dirty="0"/>
          </a:p>
        </p:txBody>
      </p:sp>
      <p:sp>
        <p:nvSpPr>
          <p:cNvPr id="18" name="Shape 16"/>
          <p:cNvSpPr/>
          <p:nvPr/>
        </p:nvSpPr>
        <p:spPr>
          <a:xfrm>
            <a:off x="3191256" y="2633472"/>
            <a:ext cx="1298448" cy="193852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9" name="Text 17"/>
          <p:cNvSpPr/>
          <p:nvPr/>
        </p:nvSpPr>
        <p:spPr>
          <a:xfrm>
            <a:off x="3246120" y="2688336"/>
            <a:ext cx="1188720" cy="320040"/>
          </a:xfrm>
          <a:prstGeom prst="rect">
            <a:avLst/>
          </a:prstGeom>
          <a:noFill/>
          <a:ln/>
        </p:spPr>
        <p:txBody>
          <a:bodyPr wrap="square" rtlCol="0" anchor="ctr"/>
          <a:lstStyle/>
          <a:p>
            <a:pPr algn="ctr" indent="0" marL="0">
              <a:buNone/>
            </a:pPr>
            <a:r>
              <a:rPr lang="en-US" sz="950" b="1" dirty="0">
                <a:solidFill>
                  <a:srgbClr val="FFFFFF"/>
                </a:solidFill>
              </a:rPr>
              <a:t>Campaign Build</a:t>
            </a:r>
            <a:endParaRPr lang="en-US" sz="950" dirty="0"/>
          </a:p>
        </p:txBody>
      </p:sp>
      <p:sp>
        <p:nvSpPr>
          <p:cNvPr id="20" name="Text 18"/>
          <p:cNvSpPr/>
          <p:nvPr/>
        </p:nvSpPr>
        <p:spPr>
          <a:xfrm>
            <a:off x="3246120" y="3017520"/>
            <a:ext cx="1188720" cy="1280160"/>
          </a:xfrm>
          <a:prstGeom prst="rect">
            <a:avLst/>
          </a:prstGeom>
          <a:noFill/>
          <a:ln/>
        </p:spPr>
        <p:txBody>
          <a:bodyPr wrap="square" rtlCol="0" anchor="ctr"/>
          <a:lstStyle/>
          <a:p>
            <a:pPr algn="ctr" indent="0" marL="0">
              <a:buNone/>
            </a:pPr>
            <a:r>
              <a:rPr lang="en-US" sz="850" dirty="0">
                <a:solidFill>
                  <a:srgbClr val="CBD5E1"/>
                </a:solidFill>
              </a:rPr>
              <a:t>Reactivation, review, referral, and follow-up campaigns custom-built and approved.</a:t>
            </a:r>
            <a:endParaRPr lang="en-US" sz="850" dirty="0"/>
          </a:p>
        </p:txBody>
      </p:sp>
      <p:sp>
        <p:nvSpPr>
          <p:cNvPr id="21" name="Shape 19"/>
          <p:cNvSpPr/>
          <p:nvPr/>
        </p:nvSpPr>
        <p:spPr>
          <a:xfrm>
            <a:off x="5020056" y="2176272"/>
            <a:ext cx="292608" cy="292608"/>
          </a:xfrm>
          <a:prstGeom prst="oval">
            <a:avLst/>
          </a:prstGeom>
          <a:solidFill>
            <a:srgbClr val="00B4D8"/>
          </a:solidFill>
          <a:ln w="12700">
            <a:solidFill>
              <a:srgbClr val="000000"/>
            </a:solidFill>
            <a:prstDash val="solid"/>
          </a:ln>
        </p:spPr>
      </p:sp>
      <p:sp>
        <p:nvSpPr>
          <p:cNvPr id="22" name="Text 20"/>
          <p:cNvSpPr/>
          <p:nvPr/>
        </p:nvSpPr>
        <p:spPr>
          <a:xfrm>
            <a:off x="4581144" y="1664208"/>
            <a:ext cx="1325880" cy="320040"/>
          </a:xfrm>
          <a:prstGeom prst="rect">
            <a:avLst/>
          </a:prstGeom>
          <a:noFill/>
          <a:ln/>
        </p:spPr>
        <p:txBody>
          <a:bodyPr wrap="square" rtlCol="0" anchor="ctr"/>
          <a:lstStyle/>
          <a:p>
            <a:pPr algn="ctr" indent="0" marL="0">
              <a:buNone/>
            </a:pPr>
            <a:r>
              <a:rPr lang="en-US" sz="850" b="1" dirty="0">
                <a:solidFill>
                  <a:srgbClr val="00B4D8"/>
                </a:solidFill>
              </a:rPr>
              <a:t>Days 13–15</a:t>
            </a:r>
            <a:endParaRPr lang="en-US" sz="850" dirty="0"/>
          </a:p>
        </p:txBody>
      </p:sp>
      <p:sp>
        <p:nvSpPr>
          <p:cNvPr id="23" name="Shape 21"/>
          <p:cNvSpPr/>
          <p:nvPr/>
        </p:nvSpPr>
        <p:spPr>
          <a:xfrm>
            <a:off x="4581144" y="2633472"/>
            <a:ext cx="1298448" cy="193852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4" name="Text 22"/>
          <p:cNvSpPr/>
          <p:nvPr/>
        </p:nvSpPr>
        <p:spPr>
          <a:xfrm>
            <a:off x="4636008" y="2688336"/>
            <a:ext cx="1188720" cy="320040"/>
          </a:xfrm>
          <a:prstGeom prst="rect">
            <a:avLst/>
          </a:prstGeom>
          <a:noFill/>
          <a:ln/>
        </p:spPr>
        <p:txBody>
          <a:bodyPr wrap="square" rtlCol="0" anchor="ctr"/>
          <a:lstStyle/>
          <a:p>
            <a:pPr algn="ctr" indent="0" marL="0">
              <a:buNone/>
            </a:pPr>
            <a:r>
              <a:rPr lang="en-US" sz="950" b="1" dirty="0">
                <a:solidFill>
                  <a:srgbClr val="FFFFFF"/>
                </a:solidFill>
              </a:rPr>
              <a:t>Soft Launch</a:t>
            </a:r>
            <a:endParaRPr lang="en-US" sz="950" dirty="0"/>
          </a:p>
        </p:txBody>
      </p:sp>
      <p:sp>
        <p:nvSpPr>
          <p:cNvPr id="25" name="Text 23"/>
          <p:cNvSpPr/>
          <p:nvPr/>
        </p:nvSpPr>
        <p:spPr>
          <a:xfrm>
            <a:off x="4636008" y="3017520"/>
            <a:ext cx="1188720" cy="1280160"/>
          </a:xfrm>
          <a:prstGeom prst="rect">
            <a:avLst/>
          </a:prstGeom>
          <a:noFill/>
          <a:ln/>
        </p:spPr>
        <p:txBody>
          <a:bodyPr wrap="square" rtlCol="0" anchor="ctr"/>
          <a:lstStyle/>
          <a:p>
            <a:pPr algn="ctr" indent="0" marL="0">
              <a:buNone/>
            </a:pPr>
            <a:r>
              <a:rPr lang="en-US" sz="850" dirty="0">
                <a:solidFill>
                  <a:srgbClr val="CBD5E1"/>
                </a:solidFill>
              </a:rPr>
              <a:t>Campaigns go live. First 48-hour response monitoring and tuning.</a:t>
            </a:r>
            <a:endParaRPr lang="en-US" sz="850" dirty="0"/>
          </a:p>
        </p:txBody>
      </p:sp>
      <p:sp>
        <p:nvSpPr>
          <p:cNvPr id="26" name="Shape 24"/>
          <p:cNvSpPr/>
          <p:nvPr/>
        </p:nvSpPr>
        <p:spPr>
          <a:xfrm>
            <a:off x="6409944" y="2176272"/>
            <a:ext cx="292608" cy="292608"/>
          </a:xfrm>
          <a:prstGeom prst="oval">
            <a:avLst/>
          </a:prstGeom>
          <a:solidFill>
            <a:srgbClr val="00B4D8"/>
          </a:solidFill>
          <a:ln w="12700">
            <a:solidFill>
              <a:srgbClr val="000000"/>
            </a:solidFill>
            <a:prstDash val="solid"/>
          </a:ln>
        </p:spPr>
      </p:sp>
      <p:sp>
        <p:nvSpPr>
          <p:cNvPr id="27" name="Text 25"/>
          <p:cNvSpPr/>
          <p:nvPr/>
        </p:nvSpPr>
        <p:spPr>
          <a:xfrm>
            <a:off x="5971032" y="1664208"/>
            <a:ext cx="1325880" cy="320040"/>
          </a:xfrm>
          <a:prstGeom prst="rect">
            <a:avLst/>
          </a:prstGeom>
          <a:noFill/>
          <a:ln/>
        </p:spPr>
        <p:txBody>
          <a:bodyPr wrap="square" rtlCol="0" anchor="ctr"/>
          <a:lstStyle/>
          <a:p>
            <a:pPr algn="ctr" indent="0" marL="0">
              <a:buNone/>
            </a:pPr>
            <a:r>
              <a:rPr lang="en-US" sz="850" b="1" dirty="0">
                <a:solidFill>
                  <a:srgbClr val="00B4D8"/>
                </a:solidFill>
              </a:rPr>
              <a:t>Days 16–21</a:t>
            </a:r>
            <a:endParaRPr lang="en-US" sz="850" dirty="0"/>
          </a:p>
        </p:txBody>
      </p:sp>
      <p:sp>
        <p:nvSpPr>
          <p:cNvPr id="28" name="Shape 26"/>
          <p:cNvSpPr/>
          <p:nvPr/>
        </p:nvSpPr>
        <p:spPr>
          <a:xfrm>
            <a:off x="5971032" y="2633472"/>
            <a:ext cx="1298448" cy="193852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9" name="Text 27"/>
          <p:cNvSpPr/>
          <p:nvPr/>
        </p:nvSpPr>
        <p:spPr>
          <a:xfrm>
            <a:off x="6025896" y="2688336"/>
            <a:ext cx="1188720" cy="320040"/>
          </a:xfrm>
          <a:prstGeom prst="rect">
            <a:avLst/>
          </a:prstGeom>
          <a:noFill/>
          <a:ln/>
        </p:spPr>
        <p:txBody>
          <a:bodyPr wrap="square" rtlCol="0" anchor="ctr"/>
          <a:lstStyle/>
          <a:p>
            <a:pPr algn="ctr" indent="0" marL="0">
              <a:buNone/>
            </a:pPr>
            <a:r>
              <a:rPr lang="en-US" sz="950" b="1" dirty="0">
                <a:solidFill>
                  <a:srgbClr val="FFFFFF"/>
                </a:solidFill>
              </a:rPr>
              <a:t>Full Activation</a:t>
            </a:r>
            <a:endParaRPr lang="en-US" sz="950" dirty="0"/>
          </a:p>
        </p:txBody>
      </p:sp>
      <p:sp>
        <p:nvSpPr>
          <p:cNvPr id="30" name="Text 28"/>
          <p:cNvSpPr/>
          <p:nvPr/>
        </p:nvSpPr>
        <p:spPr>
          <a:xfrm>
            <a:off x="6025896" y="3017520"/>
            <a:ext cx="1188720" cy="1280160"/>
          </a:xfrm>
          <a:prstGeom prst="rect">
            <a:avLst/>
          </a:prstGeom>
          <a:noFill/>
          <a:ln/>
        </p:spPr>
        <p:txBody>
          <a:bodyPr wrap="square" rtlCol="0" anchor="ctr"/>
          <a:lstStyle/>
          <a:p>
            <a:pPr algn="ctr" indent="0" marL="0">
              <a:buNone/>
            </a:pPr>
            <a:r>
              <a:rPr lang="en-US" sz="850" dirty="0">
                <a:solidFill>
                  <a:srgbClr val="CBD5E1"/>
                </a:solidFill>
              </a:rPr>
              <a:t>All automations running. First leads engaged. Initial reporting live.</a:t>
            </a:r>
            <a:endParaRPr lang="en-US" sz="850" dirty="0"/>
          </a:p>
        </p:txBody>
      </p:sp>
      <p:sp>
        <p:nvSpPr>
          <p:cNvPr id="31" name="Shape 29"/>
          <p:cNvSpPr/>
          <p:nvPr/>
        </p:nvSpPr>
        <p:spPr>
          <a:xfrm>
            <a:off x="7799832" y="2176272"/>
            <a:ext cx="292608" cy="292608"/>
          </a:xfrm>
          <a:prstGeom prst="oval">
            <a:avLst/>
          </a:prstGeom>
          <a:solidFill>
            <a:srgbClr val="00B4D8"/>
          </a:solidFill>
          <a:ln w="12700">
            <a:solidFill>
              <a:srgbClr val="000000"/>
            </a:solidFill>
            <a:prstDash val="solid"/>
          </a:ln>
        </p:spPr>
      </p:sp>
      <p:sp>
        <p:nvSpPr>
          <p:cNvPr id="32" name="Text 30"/>
          <p:cNvSpPr/>
          <p:nvPr/>
        </p:nvSpPr>
        <p:spPr>
          <a:xfrm>
            <a:off x="7360920" y="1664208"/>
            <a:ext cx="1325880" cy="320040"/>
          </a:xfrm>
          <a:prstGeom prst="rect">
            <a:avLst/>
          </a:prstGeom>
          <a:noFill/>
          <a:ln/>
        </p:spPr>
        <p:txBody>
          <a:bodyPr wrap="square" rtlCol="0" anchor="ctr"/>
          <a:lstStyle/>
          <a:p>
            <a:pPr algn="ctr" indent="0" marL="0">
              <a:buNone/>
            </a:pPr>
            <a:r>
              <a:rPr lang="en-US" sz="850" b="1" dirty="0">
                <a:solidFill>
                  <a:srgbClr val="00B4D8"/>
                </a:solidFill>
              </a:rPr>
              <a:t>Day 30+</a:t>
            </a:r>
            <a:endParaRPr lang="en-US" sz="850" dirty="0"/>
          </a:p>
        </p:txBody>
      </p:sp>
      <p:sp>
        <p:nvSpPr>
          <p:cNvPr id="33" name="Shape 31"/>
          <p:cNvSpPr/>
          <p:nvPr/>
        </p:nvSpPr>
        <p:spPr>
          <a:xfrm>
            <a:off x="7360920" y="2633472"/>
            <a:ext cx="1298448" cy="1938528"/>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34" name="Text 32"/>
          <p:cNvSpPr/>
          <p:nvPr/>
        </p:nvSpPr>
        <p:spPr>
          <a:xfrm>
            <a:off x="7415784" y="2688336"/>
            <a:ext cx="1188720" cy="320040"/>
          </a:xfrm>
          <a:prstGeom prst="rect">
            <a:avLst/>
          </a:prstGeom>
          <a:noFill/>
          <a:ln/>
        </p:spPr>
        <p:txBody>
          <a:bodyPr wrap="square" rtlCol="0" anchor="ctr"/>
          <a:lstStyle/>
          <a:p>
            <a:pPr algn="ctr" indent="0" marL="0">
              <a:buNone/>
            </a:pPr>
            <a:r>
              <a:rPr lang="en-US" sz="950" b="1" dirty="0">
                <a:solidFill>
                  <a:srgbClr val="FFFFFF"/>
                </a:solidFill>
              </a:rPr>
              <a:t>Optimization</a:t>
            </a:r>
            <a:endParaRPr lang="en-US" sz="950" dirty="0"/>
          </a:p>
        </p:txBody>
      </p:sp>
      <p:sp>
        <p:nvSpPr>
          <p:cNvPr id="35" name="Text 33"/>
          <p:cNvSpPr/>
          <p:nvPr/>
        </p:nvSpPr>
        <p:spPr>
          <a:xfrm>
            <a:off x="7415784" y="3017520"/>
            <a:ext cx="1188720" cy="1280160"/>
          </a:xfrm>
          <a:prstGeom prst="rect">
            <a:avLst/>
          </a:prstGeom>
          <a:noFill/>
          <a:ln/>
        </p:spPr>
        <p:txBody>
          <a:bodyPr wrap="square" rtlCol="0" anchor="ctr"/>
          <a:lstStyle/>
          <a:p>
            <a:pPr algn="ctr" indent="0" marL="0">
              <a:buNone/>
            </a:pPr>
            <a:r>
              <a:rPr lang="en-US" sz="850" dirty="0">
                <a:solidFill>
                  <a:srgbClr val="CBD5E1"/>
                </a:solidFill>
              </a:rPr>
              <a:t>Monthly review of performance. Campaign adjustments. New segments activated.</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IMPLEMENTATION</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800" b="1" dirty="0">
                <a:solidFill>
                  <a:srgbClr val="FFFFFF"/>
                </a:solidFill>
              </a:rPr>
              <a:t>What We Need From You:</a:t>
            </a:r>
            <a:endParaRPr lang="en-US" sz="2800" dirty="0"/>
          </a:p>
          <a:p>
            <a:pPr indent="0" marL="0">
              <a:buNone/>
            </a:pPr>
            <a:r>
              <a:rPr lang="en-US" sz="2800" b="1" dirty="0">
                <a:solidFill>
                  <a:srgbClr val="FFFFFF"/>
                </a:solidFill>
              </a:rPr>
              <a:t>Almost Nothing.</a:t>
            </a:r>
            <a:endParaRPr lang="en-US" sz="2800" dirty="0"/>
          </a:p>
        </p:txBody>
      </p:sp>
      <p:sp>
        <p:nvSpPr>
          <p:cNvPr id="5" name="Shape 3"/>
          <p:cNvSpPr/>
          <p:nvPr/>
        </p:nvSpPr>
        <p:spPr>
          <a:xfrm>
            <a:off x="411480" y="1572768"/>
            <a:ext cx="5303520" cy="7315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502920" y="1664208"/>
            <a:ext cx="530352"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1097280" y="1664208"/>
            <a:ext cx="2560320" cy="274320"/>
          </a:xfrm>
          <a:prstGeom prst="rect">
            <a:avLst/>
          </a:prstGeom>
          <a:noFill/>
          <a:ln/>
        </p:spPr>
        <p:txBody>
          <a:bodyPr wrap="square" rtlCol="0" anchor="ctr"/>
          <a:lstStyle/>
          <a:p>
            <a:pPr indent="0" marL="0">
              <a:buNone/>
            </a:pPr>
            <a:r>
              <a:rPr lang="en-US" sz="1200" b="1" dirty="0">
                <a:solidFill>
                  <a:srgbClr val="FFFFFF"/>
                </a:solidFill>
              </a:rPr>
              <a:t>CRM Login Credentials</a:t>
            </a:r>
            <a:endParaRPr lang="en-US" sz="1200" dirty="0"/>
          </a:p>
        </p:txBody>
      </p:sp>
      <p:sp>
        <p:nvSpPr>
          <p:cNvPr id="8" name="Text 6"/>
          <p:cNvSpPr/>
          <p:nvPr/>
        </p:nvSpPr>
        <p:spPr>
          <a:xfrm>
            <a:off x="1097280" y="1956816"/>
            <a:ext cx="4480560" cy="274320"/>
          </a:xfrm>
          <a:prstGeom prst="rect">
            <a:avLst/>
          </a:prstGeom>
          <a:noFill/>
          <a:ln/>
        </p:spPr>
        <p:txBody>
          <a:bodyPr wrap="square" rtlCol="0" anchor="ctr"/>
          <a:lstStyle/>
          <a:p>
            <a:pPr indent="0" marL="0">
              <a:buNone/>
            </a:pPr>
            <a:r>
              <a:rPr lang="en-US" sz="1000" dirty="0">
                <a:solidFill>
                  <a:srgbClr val="CBD5E1"/>
                </a:solidFill>
              </a:rPr>
              <a:t>Read/write access to contacts and jobs — we handle all data work</a:t>
            </a:r>
            <a:endParaRPr lang="en-US" sz="1000" dirty="0"/>
          </a:p>
        </p:txBody>
      </p:sp>
      <p:sp>
        <p:nvSpPr>
          <p:cNvPr id="9" name="Shape 7"/>
          <p:cNvSpPr/>
          <p:nvPr/>
        </p:nvSpPr>
        <p:spPr>
          <a:xfrm>
            <a:off x="411480" y="2450592"/>
            <a:ext cx="5303520" cy="7315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0" name="Text 8"/>
          <p:cNvSpPr/>
          <p:nvPr/>
        </p:nvSpPr>
        <p:spPr>
          <a:xfrm>
            <a:off x="502920" y="2542032"/>
            <a:ext cx="530352"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1097280" y="2542032"/>
            <a:ext cx="2560320" cy="274320"/>
          </a:xfrm>
          <a:prstGeom prst="rect">
            <a:avLst/>
          </a:prstGeom>
          <a:noFill/>
          <a:ln/>
        </p:spPr>
        <p:txBody>
          <a:bodyPr wrap="square" rtlCol="0" anchor="ctr"/>
          <a:lstStyle/>
          <a:p>
            <a:pPr indent="0" marL="0">
              <a:buNone/>
            </a:pPr>
            <a:r>
              <a:rPr lang="en-US" sz="1200" b="1" dirty="0">
                <a:solidFill>
                  <a:srgbClr val="FFFFFF"/>
                </a:solidFill>
              </a:rPr>
              <a:t>Phone Number Configuration</a:t>
            </a:r>
            <a:endParaRPr lang="en-US" sz="1200" dirty="0"/>
          </a:p>
        </p:txBody>
      </p:sp>
      <p:sp>
        <p:nvSpPr>
          <p:cNvPr id="12" name="Text 10"/>
          <p:cNvSpPr/>
          <p:nvPr/>
        </p:nvSpPr>
        <p:spPr>
          <a:xfrm>
            <a:off x="1097280" y="2834640"/>
            <a:ext cx="4480560" cy="274320"/>
          </a:xfrm>
          <a:prstGeom prst="rect">
            <a:avLst/>
          </a:prstGeom>
          <a:noFill/>
          <a:ln/>
        </p:spPr>
        <p:txBody>
          <a:bodyPr wrap="square" rtlCol="0" anchor="ctr"/>
          <a:lstStyle/>
          <a:p>
            <a:pPr indent="0" marL="0">
              <a:buNone/>
            </a:pPr>
            <a:r>
              <a:rPr lang="en-US" sz="1000" dirty="0">
                <a:solidFill>
                  <a:srgbClr val="CBD5E1"/>
                </a:solidFill>
              </a:rPr>
              <a:t>15-minute call with your office manager to configure missed-call routing</a:t>
            </a:r>
            <a:endParaRPr lang="en-US" sz="1000" dirty="0"/>
          </a:p>
        </p:txBody>
      </p:sp>
      <p:sp>
        <p:nvSpPr>
          <p:cNvPr id="13" name="Shape 11"/>
          <p:cNvSpPr/>
          <p:nvPr/>
        </p:nvSpPr>
        <p:spPr>
          <a:xfrm>
            <a:off x="411480" y="3328416"/>
            <a:ext cx="5303520" cy="7315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502920" y="3419856"/>
            <a:ext cx="530352"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1097280" y="3419856"/>
            <a:ext cx="2560320" cy="274320"/>
          </a:xfrm>
          <a:prstGeom prst="rect">
            <a:avLst/>
          </a:prstGeom>
          <a:noFill/>
          <a:ln/>
        </p:spPr>
        <p:txBody>
          <a:bodyPr wrap="square" rtlCol="0" anchor="ctr"/>
          <a:lstStyle/>
          <a:p>
            <a:pPr indent="0" marL="0">
              <a:buNone/>
            </a:pPr>
            <a:r>
              <a:rPr lang="en-US" sz="1200" b="1" dirty="0">
                <a:solidFill>
                  <a:srgbClr val="FFFFFF"/>
                </a:solidFill>
              </a:rPr>
              <a:t>Brand Assets</a:t>
            </a:r>
            <a:endParaRPr lang="en-US" sz="1200" dirty="0"/>
          </a:p>
        </p:txBody>
      </p:sp>
      <p:sp>
        <p:nvSpPr>
          <p:cNvPr id="16" name="Text 14"/>
          <p:cNvSpPr/>
          <p:nvPr/>
        </p:nvSpPr>
        <p:spPr>
          <a:xfrm>
            <a:off x="1097280" y="3712464"/>
            <a:ext cx="4480560" cy="274320"/>
          </a:xfrm>
          <a:prstGeom prst="rect">
            <a:avLst/>
          </a:prstGeom>
          <a:noFill/>
          <a:ln/>
        </p:spPr>
        <p:txBody>
          <a:bodyPr wrap="square" rtlCol="0" anchor="ctr"/>
          <a:lstStyle/>
          <a:p>
            <a:pPr indent="0" marL="0">
              <a:buNone/>
            </a:pPr>
            <a:r>
              <a:rPr lang="en-US" sz="1000" dirty="0">
                <a:solidFill>
                  <a:srgbClr val="CBD5E1"/>
                </a:solidFill>
              </a:rPr>
              <a:t>Logo, brand colors, company name — shared once at onboarding</a:t>
            </a:r>
            <a:endParaRPr lang="en-US" sz="1000" dirty="0"/>
          </a:p>
        </p:txBody>
      </p:sp>
      <p:sp>
        <p:nvSpPr>
          <p:cNvPr id="17" name="Shape 15"/>
          <p:cNvSpPr/>
          <p:nvPr/>
        </p:nvSpPr>
        <p:spPr>
          <a:xfrm>
            <a:off x="411480" y="4206240"/>
            <a:ext cx="5303520" cy="73152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8" name="Text 16"/>
          <p:cNvSpPr/>
          <p:nvPr/>
        </p:nvSpPr>
        <p:spPr>
          <a:xfrm>
            <a:off x="502920" y="4297680"/>
            <a:ext cx="530352"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1097280" y="4297680"/>
            <a:ext cx="2560320" cy="274320"/>
          </a:xfrm>
          <a:prstGeom prst="rect">
            <a:avLst/>
          </a:prstGeom>
          <a:noFill/>
          <a:ln/>
        </p:spPr>
        <p:txBody>
          <a:bodyPr wrap="square" rtlCol="0" anchor="ctr"/>
          <a:lstStyle/>
          <a:p>
            <a:pPr indent="0" marL="0">
              <a:buNone/>
            </a:pPr>
            <a:r>
              <a:rPr lang="en-US" sz="1200" b="1" dirty="0">
                <a:solidFill>
                  <a:srgbClr val="FFFFFF"/>
                </a:solidFill>
              </a:rPr>
              <a:t>Campaign Approval</a:t>
            </a:r>
            <a:endParaRPr lang="en-US" sz="1200" dirty="0"/>
          </a:p>
        </p:txBody>
      </p:sp>
      <p:sp>
        <p:nvSpPr>
          <p:cNvPr id="20" name="Text 18"/>
          <p:cNvSpPr/>
          <p:nvPr/>
        </p:nvSpPr>
        <p:spPr>
          <a:xfrm>
            <a:off x="1097280" y="4590288"/>
            <a:ext cx="4480560" cy="274320"/>
          </a:xfrm>
          <a:prstGeom prst="rect">
            <a:avLst/>
          </a:prstGeom>
          <a:noFill/>
          <a:ln/>
        </p:spPr>
        <p:txBody>
          <a:bodyPr wrap="square" rtlCol="0" anchor="ctr"/>
          <a:lstStyle/>
          <a:p>
            <a:pPr indent="0" marL="0">
              <a:buNone/>
            </a:pPr>
            <a:r>
              <a:rPr lang="en-US" sz="1000" dirty="0">
                <a:solidFill>
                  <a:srgbClr val="CBD5E1"/>
                </a:solidFill>
              </a:rPr>
              <a:t>You review and approve all messages before anything sends to customers</a:t>
            </a:r>
            <a:endParaRPr lang="en-US" sz="1000" dirty="0"/>
          </a:p>
        </p:txBody>
      </p:sp>
      <p:sp>
        <p:nvSpPr>
          <p:cNvPr id="21" name="Shape 19"/>
          <p:cNvSpPr/>
          <p:nvPr/>
        </p:nvSpPr>
        <p:spPr>
          <a:xfrm>
            <a:off x="5989320" y="1572768"/>
            <a:ext cx="2743200" cy="329184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5989320" y="1572768"/>
            <a:ext cx="2743200" cy="365760"/>
          </a:xfrm>
          <a:prstGeom prst="rect">
            <a:avLst/>
          </a:prstGeom>
          <a:solidFill>
            <a:srgbClr val="06D6A0">
              <a:alpha val="25000"/>
            </a:srgbClr>
          </a:solidFill>
          <a:ln w="12700">
            <a:solidFill>
              <a:srgbClr val="000000"/>
            </a:solidFill>
            <a:prstDash val="solid"/>
          </a:ln>
        </p:spPr>
      </p:sp>
      <p:sp>
        <p:nvSpPr>
          <p:cNvPr id="23" name="Text 21"/>
          <p:cNvSpPr/>
          <p:nvPr/>
        </p:nvSpPr>
        <p:spPr>
          <a:xfrm>
            <a:off x="6080760" y="1591056"/>
            <a:ext cx="2560320" cy="329184"/>
          </a:xfrm>
          <a:prstGeom prst="rect">
            <a:avLst/>
          </a:prstGeom>
          <a:noFill/>
          <a:ln/>
        </p:spPr>
        <p:txBody>
          <a:bodyPr wrap="square" rtlCol="0" anchor="ctr"/>
          <a:lstStyle/>
          <a:p>
            <a:pPr indent="0" marL="0">
              <a:buNone/>
            </a:pPr>
            <a:r>
              <a:rPr lang="en-US" sz="1000" b="1" dirty="0">
                <a:solidFill>
                  <a:srgbClr val="06D6A0"/>
                </a:solidFill>
              </a:rPr>
              <a:t>We Handle Everything Else</a:t>
            </a:r>
            <a:endParaRPr lang="en-US" sz="1000" dirty="0"/>
          </a:p>
        </p:txBody>
      </p:sp>
      <p:sp>
        <p:nvSpPr>
          <p:cNvPr id="24" name="Text 22"/>
          <p:cNvSpPr/>
          <p:nvPr/>
        </p:nvSpPr>
        <p:spPr>
          <a:xfrm>
            <a:off x="6144768" y="2048256"/>
            <a:ext cx="2468880" cy="329184"/>
          </a:xfrm>
          <a:prstGeom prst="rect">
            <a:avLst/>
          </a:prstGeom>
          <a:noFill/>
          <a:ln/>
        </p:spPr>
        <p:txBody>
          <a:bodyPr wrap="square" rtlCol="0" anchor="ctr"/>
          <a:lstStyle/>
          <a:p>
            <a:pPr indent="0" marL="0">
              <a:buNone/>
            </a:pPr>
            <a:r>
              <a:rPr lang="en-US" sz="1000" dirty="0">
                <a:solidFill>
                  <a:srgbClr val="CBD5E1"/>
                </a:solidFill>
              </a:rPr>
              <a:t>✓  Full system configuration</a:t>
            </a:r>
            <a:endParaRPr lang="en-US" sz="1000" dirty="0"/>
          </a:p>
        </p:txBody>
      </p:sp>
      <p:sp>
        <p:nvSpPr>
          <p:cNvPr id="25" name="Text 23"/>
          <p:cNvSpPr/>
          <p:nvPr/>
        </p:nvSpPr>
        <p:spPr>
          <a:xfrm>
            <a:off x="6144768" y="2450592"/>
            <a:ext cx="2468880" cy="329184"/>
          </a:xfrm>
          <a:prstGeom prst="rect">
            <a:avLst/>
          </a:prstGeom>
          <a:noFill/>
          <a:ln/>
        </p:spPr>
        <p:txBody>
          <a:bodyPr wrap="square" rtlCol="0" anchor="ctr"/>
          <a:lstStyle/>
          <a:p>
            <a:pPr indent="0" marL="0">
              <a:buNone/>
            </a:pPr>
            <a:r>
              <a:rPr lang="en-US" sz="1000" dirty="0">
                <a:solidFill>
                  <a:srgbClr val="CBD5E1"/>
                </a:solidFill>
              </a:rPr>
              <a:t>✓  CRM segmentation &amp; tagging</a:t>
            </a:r>
            <a:endParaRPr lang="en-US" sz="1000" dirty="0"/>
          </a:p>
        </p:txBody>
      </p:sp>
      <p:sp>
        <p:nvSpPr>
          <p:cNvPr id="26" name="Text 24"/>
          <p:cNvSpPr/>
          <p:nvPr/>
        </p:nvSpPr>
        <p:spPr>
          <a:xfrm>
            <a:off x="6144768" y="2852928"/>
            <a:ext cx="2468880" cy="329184"/>
          </a:xfrm>
          <a:prstGeom prst="rect">
            <a:avLst/>
          </a:prstGeom>
          <a:noFill/>
          <a:ln/>
        </p:spPr>
        <p:txBody>
          <a:bodyPr wrap="square" rtlCol="0" anchor="ctr"/>
          <a:lstStyle/>
          <a:p>
            <a:pPr indent="0" marL="0">
              <a:buNone/>
            </a:pPr>
            <a:r>
              <a:rPr lang="en-US" sz="1000" dirty="0">
                <a:solidFill>
                  <a:srgbClr val="CBD5E1"/>
                </a:solidFill>
              </a:rPr>
              <a:t>✓  Campaign copywriting</a:t>
            </a:r>
            <a:endParaRPr lang="en-US" sz="1000" dirty="0"/>
          </a:p>
        </p:txBody>
      </p:sp>
      <p:sp>
        <p:nvSpPr>
          <p:cNvPr id="27" name="Text 25"/>
          <p:cNvSpPr/>
          <p:nvPr/>
        </p:nvSpPr>
        <p:spPr>
          <a:xfrm>
            <a:off x="6144768" y="3255264"/>
            <a:ext cx="2468880" cy="329184"/>
          </a:xfrm>
          <a:prstGeom prst="rect">
            <a:avLst/>
          </a:prstGeom>
          <a:noFill/>
          <a:ln/>
        </p:spPr>
        <p:txBody>
          <a:bodyPr wrap="square" rtlCol="0" anchor="ctr"/>
          <a:lstStyle/>
          <a:p>
            <a:pPr indent="0" marL="0">
              <a:buNone/>
            </a:pPr>
            <a:r>
              <a:rPr lang="en-US" sz="1000" dirty="0">
                <a:solidFill>
                  <a:srgbClr val="CBD5E1"/>
                </a:solidFill>
              </a:rPr>
              <a:t>✓  Automation setup &amp; testing</a:t>
            </a:r>
            <a:endParaRPr lang="en-US" sz="1000" dirty="0"/>
          </a:p>
        </p:txBody>
      </p:sp>
      <p:sp>
        <p:nvSpPr>
          <p:cNvPr id="28" name="Text 26"/>
          <p:cNvSpPr/>
          <p:nvPr/>
        </p:nvSpPr>
        <p:spPr>
          <a:xfrm>
            <a:off x="6144768" y="3657600"/>
            <a:ext cx="2468880" cy="329184"/>
          </a:xfrm>
          <a:prstGeom prst="rect">
            <a:avLst/>
          </a:prstGeom>
          <a:noFill/>
          <a:ln/>
        </p:spPr>
        <p:txBody>
          <a:bodyPr wrap="square" rtlCol="0" anchor="ctr"/>
          <a:lstStyle/>
          <a:p>
            <a:pPr indent="0" marL="0">
              <a:buNone/>
            </a:pPr>
            <a:r>
              <a:rPr lang="en-US" sz="1000" dirty="0">
                <a:solidFill>
                  <a:srgbClr val="CBD5E1"/>
                </a:solidFill>
              </a:rPr>
              <a:t>✓  Ongoing campaign management</a:t>
            </a:r>
            <a:endParaRPr lang="en-US" sz="1000" dirty="0"/>
          </a:p>
        </p:txBody>
      </p:sp>
      <p:sp>
        <p:nvSpPr>
          <p:cNvPr id="29" name="Text 27"/>
          <p:cNvSpPr/>
          <p:nvPr/>
        </p:nvSpPr>
        <p:spPr>
          <a:xfrm>
            <a:off x="6144768" y="4059936"/>
            <a:ext cx="2468880" cy="329184"/>
          </a:xfrm>
          <a:prstGeom prst="rect">
            <a:avLst/>
          </a:prstGeom>
          <a:noFill/>
          <a:ln/>
        </p:spPr>
        <p:txBody>
          <a:bodyPr wrap="square" rtlCol="0" anchor="ctr"/>
          <a:lstStyle/>
          <a:p>
            <a:pPr indent="0" marL="0">
              <a:buNone/>
            </a:pPr>
            <a:r>
              <a:rPr lang="en-US" sz="1000" dirty="0">
                <a:solidFill>
                  <a:srgbClr val="CBD5E1"/>
                </a:solidFill>
              </a:rPr>
              <a:t>✓  Weekly performance reporting</a:t>
            </a:r>
            <a:endParaRPr lang="en-US" sz="1000" dirty="0"/>
          </a:p>
        </p:txBody>
      </p:sp>
      <p:sp>
        <p:nvSpPr>
          <p:cNvPr id="30" name="Text 28"/>
          <p:cNvSpPr/>
          <p:nvPr/>
        </p:nvSpPr>
        <p:spPr>
          <a:xfrm>
            <a:off x="6144768" y="4462272"/>
            <a:ext cx="2468880" cy="329184"/>
          </a:xfrm>
          <a:prstGeom prst="rect">
            <a:avLst/>
          </a:prstGeom>
          <a:noFill/>
          <a:ln/>
        </p:spPr>
        <p:txBody>
          <a:bodyPr wrap="square" rtlCol="0" anchor="ctr"/>
          <a:lstStyle/>
          <a:p>
            <a:pPr indent="0" marL="0">
              <a:buNone/>
            </a:pPr>
            <a:r>
              <a:rPr lang="en-US" sz="1000" dirty="0">
                <a:solidFill>
                  <a:srgbClr val="CBD5E1"/>
                </a:solidFill>
              </a:rPr>
              <a:t>✓  Campaign optimization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TRUST &amp; COMPLIANCE</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600" b="1" dirty="0">
                <a:solidFill>
                  <a:srgbClr val="FFFFFF"/>
                </a:solidFill>
              </a:rPr>
              <a:t>Your Customer Data Is Safe.</a:t>
            </a:r>
            <a:endParaRPr lang="en-US" sz="2600" dirty="0"/>
          </a:p>
          <a:p>
            <a:pPr indent="0" marL="0">
              <a:buNone/>
            </a:pPr>
            <a:r>
              <a:rPr lang="en-US" sz="2600" b="1" dirty="0">
                <a:solidFill>
                  <a:srgbClr val="FFFFFF"/>
                </a:solidFill>
              </a:rPr>
              <a:t>Your Reputation Is Protected.</a:t>
            </a:r>
            <a:endParaRPr lang="en-US" sz="2600" dirty="0"/>
          </a:p>
        </p:txBody>
      </p:sp>
      <p:sp>
        <p:nvSpPr>
          <p:cNvPr id="5" name="Shape 3"/>
          <p:cNvSpPr/>
          <p:nvPr/>
        </p:nvSpPr>
        <p:spPr>
          <a:xfrm>
            <a:off x="411480" y="1572768"/>
            <a:ext cx="2651760" cy="1261872"/>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11480" y="1664208"/>
            <a:ext cx="2651760"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411480" y="2048256"/>
            <a:ext cx="2651760" cy="274320"/>
          </a:xfrm>
          <a:prstGeom prst="rect">
            <a:avLst/>
          </a:prstGeom>
          <a:noFill/>
          <a:ln/>
        </p:spPr>
        <p:txBody>
          <a:bodyPr wrap="square" rtlCol="0" anchor="ctr"/>
          <a:lstStyle/>
          <a:p>
            <a:pPr algn="ctr" indent="0" marL="0">
              <a:buNone/>
            </a:pPr>
            <a:r>
              <a:rPr lang="en-US" sz="1150" b="1" dirty="0">
                <a:solidFill>
                  <a:srgbClr val="00B4D8"/>
                </a:solidFill>
              </a:rPr>
              <a:t>Data Security</a:t>
            </a:r>
            <a:endParaRPr lang="en-US" sz="1150" dirty="0"/>
          </a:p>
        </p:txBody>
      </p:sp>
      <p:sp>
        <p:nvSpPr>
          <p:cNvPr id="8" name="Text 6"/>
          <p:cNvSpPr/>
          <p:nvPr/>
        </p:nvSpPr>
        <p:spPr>
          <a:xfrm>
            <a:off x="502920" y="2322576"/>
            <a:ext cx="2468880" cy="438912"/>
          </a:xfrm>
          <a:prstGeom prst="rect">
            <a:avLst/>
          </a:prstGeom>
          <a:noFill/>
          <a:ln/>
        </p:spPr>
        <p:txBody>
          <a:bodyPr wrap="square" rtlCol="0" anchor="ctr"/>
          <a:lstStyle/>
          <a:p>
            <a:pPr algn="ctr" indent="0" marL="0">
              <a:buNone/>
            </a:pPr>
            <a:r>
              <a:rPr lang="en-US" sz="900" dirty="0">
                <a:solidFill>
                  <a:srgbClr val="CBD5E1"/>
                </a:solidFill>
              </a:rPr>
              <a:t>All customer data is encrypted in transit and at rest. We operate under strict data handling agreements.</a:t>
            </a:r>
            <a:endParaRPr lang="en-US" sz="900" dirty="0"/>
          </a:p>
        </p:txBody>
      </p:sp>
      <p:sp>
        <p:nvSpPr>
          <p:cNvPr id="9" name="Shape 7"/>
          <p:cNvSpPr/>
          <p:nvPr/>
        </p:nvSpPr>
        <p:spPr>
          <a:xfrm>
            <a:off x="3291840" y="1572768"/>
            <a:ext cx="2651760" cy="1261872"/>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0" name="Text 8"/>
          <p:cNvSpPr/>
          <p:nvPr/>
        </p:nvSpPr>
        <p:spPr>
          <a:xfrm>
            <a:off x="3291840" y="1664208"/>
            <a:ext cx="2651760"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3291840" y="2048256"/>
            <a:ext cx="2651760" cy="274320"/>
          </a:xfrm>
          <a:prstGeom prst="rect">
            <a:avLst/>
          </a:prstGeom>
          <a:noFill/>
          <a:ln/>
        </p:spPr>
        <p:txBody>
          <a:bodyPr wrap="square" rtlCol="0" anchor="ctr"/>
          <a:lstStyle/>
          <a:p>
            <a:pPr algn="ctr" indent="0" marL="0">
              <a:buNone/>
            </a:pPr>
            <a:r>
              <a:rPr lang="en-US" sz="1150" b="1" dirty="0">
                <a:solidFill>
                  <a:srgbClr val="00B4D8"/>
                </a:solidFill>
              </a:rPr>
              <a:t>Regulatory Compliance</a:t>
            </a:r>
            <a:endParaRPr lang="en-US" sz="1150" dirty="0"/>
          </a:p>
        </p:txBody>
      </p:sp>
      <p:sp>
        <p:nvSpPr>
          <p:cNvPr id="12" name="Text 10"/>
          <p:cNvSpPr/>
          <p:nvPr/>
        </p:nvSpPr>
        <p:spPr>
          <a:xfrm>
            <a:off x="3383280" y="2322576"/>
            <a:ext cx="2468880" cy="438912"/>
          </a:xfrm>
          <a:prstGeom prst="rect">
            <a:avLst/>
          </a:prstGeom>
          <a:noFill/>
          <a:ln/>
        </p:spPr>
        <p:txBody>
          <a:bodyPr wrap="square" rtlCol="0" anchor="ctr"/>
          <a:lstStyle/>
          <a:p>
            <a:pPr algn="ctr" indent="0" marL="0">
              <a:buNone/>
            </a:pPr>
            <a:r>
              <a:rPr lang="en-US" sz="900" dirty="0">
                <a:solidFill>
                  <a:srgbClr val="CBD5E1"/>
                </a:solidFill>
              </a:rPr>
              <a:t>All SMS and email campaigns follow TCPA, CAN-SPAM, and FCC guidelines. Consent records maintained.</a:t>
            </a:r>
            <a:endParaRPr lang="en-US" sz="900" dirty="0"/>
          </a:p>
        </p:txBody>
      </p:sp>
      <p:sp>
        <p:nvSpPr>
          <p:cNvPr id="13" name="Shape 11"/>
          <p:cNvSpPr/>
          <p:nvPr/>
        </p:nvSpPr>
        <p:spPr>
          <a:xfrm>
            <a:off x="6172200" y="1572768"/>
            <a:ext cx="2651760" cy="1261872"/>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6172200" y="1664208"/>
            <a:ext cx="2651760"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6172200" y="2048256"/>
            <a:ext cx="2651760" cy="274320"/>
          </a:xfrm>
          <a:prstGeom prst="rect">
            <a:avLst/>
          </a:prstGeom>
          <a:noFill/>
          <a:ln/>
        </p:spPr>
        <p:txBody>
          <a:bodyPr wrap="square" rtlCol="0" anchor="ctr"/>
          <a:lstStyle/>
          <a:p>
            <a:pPr algn="ctr" indent="0" marL="0">
              <a:buNone/>
            </a:pPr>
            <a:r>
              <a:rPr lang="en-US" sz="1150" b="1" dirty="0">
                <a:solidFill>
                  <a:srgbClr val="00B4D8"/>
                </a:solidFill>
              </a:rPr>
              <a:t>Opt-Out Respect</a:t>
            </a:r>
            <a:endParaRPr lang="en-US" sz="1150" dirty="0"/>
          </a:p>
        </p:txBody>
      </p:sp>
      <p:sp>
        <p:nvSpPr>
          <p:cNvPr id="16" name="Text 14"/>
          <p:cNvSpPr/>
          <p:nvPr/>
        </p:nvSpPr>
        <p:spPr>
          <a:xfrm>
            <a:off x="6263640" y="2322576"/>
            <a:ext cx="2468880" cy="438912"/>
          </a:xfrm>
          <a:prstGeom prst="rect">
            <a:avLst/>
          </a:prstGeom>
          <a:noFill/>
          <a:ln/>
        </p:spPr>
        <p:txBody>
          <a:bodyPr wrap="square" rtlCol="0" anchor="ctr"/>
          <a:lstStyle/>
          <a:p>
            <a:pPr algn="ctr" indent="0" marL="0">
              <a:buNone/>
            </a:pPr>
            <a:r>
              <a:rPr lang="en-US" sz="900" dirty="0">
                <a:solidFill>
                  <a:srgbClr val="CBD5E1"/>
                </a:solidFill>
              </a:rPr>
              <a:t>Every message includes a simple opt-out. We honor opt-outs immediately and log all preferences.</a:t>
            </a:r>
            <a:endParaRPr lang="en-US" sz="900" dirty="0"/>
          </a:p>
        </p:txBody>
      </p:sp>
      <p:sp>
        <p:nvSpPr>
          <p:cNvPr id="17" name="Shape 15"/>
          <p:cNvSpPr/>
          <p:nvPr/>
        </p:nvSpPr>
        <p:spPr>
          <a:xfrm>
            <a:off x="411480" y="2990088"/>
            <a:ext cx="2651760" cy="1261872"/>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8" name="Text 16"/>
          <p:cNvSpPr/>
          <p:nvPr/>
        </p:nvSpPr>
        <p:spPr>
          <a:xfrm>
            <a:off x="411480" y="3081528"/>
            <a:ext cx="2651760"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411480" y="3465576"/>
            <a:ext cx="2651760" cy="274320"/>
          </a:xfrm>
          <a:prstGeom prst="rect">
            <a:avLst/>
          </a:prstGeom>
          <a:noFill/>
          <a:ln/>
        </p:spPr>
        <p:txBody>
          <a:bodyPr wrap="square" rtlCol="0" anchor="ctr"/>
          <a:lstStyle/>
          <a:p>
            <a:pPr algn="ctr" indent="0" marL="0">
              <a:buNone/>
            </a:pPr>
            <a:r>
              <a:rPr lang="en-US" sz="1150" b="1" dirty="0">
                <a:solidFill>
                  <a:srgbClr val="00B4D8"/>
                </a:solidFill>
              </a:rPr>
              <a:t>Human Oversight</a:t>
            </a:r>
            <a:endParaRPr lang="en-US" sz="1150" dirty="0"/>
          </a:p>
        </p:txBody>
      </p:sp>
      <p:sp>
        <p:nvSpPr>
          <p:cNvPr id="20" name="Text 18"/>
          <p:cNvSpPr/>
          <p:nvPr/>
        </p:nvSpPr>
        <p:spPr>
          <a:xfrm>
            <a:off x="502920" y="3739896"/>
            <a:ext cx="2468880" cy="438912"/>
          </a:xfrm>
          <a:prstGeom prst="rect">
            <a:avLst/>
          </a:prstGeom>
          <a:noFill/>
          <a:ln/>
        </p:spPr>
        <p:txBody>
          <a:bodyPr wrap="square" rtlCol="0" anchor="ctr"/>
          <a:lstStyle/>
          <a:p>
            <a:pPr algn="ctr" indent="0" marL="0">
              <a:buNone/>
            </a:pPr>
            <a:r>
              <a:rPr lang="en-US" sz="900" dirty="0">
                <a:solidFill>
                  <a:srgbClr val="CBD5E1"/>
                </a:solidFill>
              </a:rPr>
              <a:t>You approve all campaigns before launch. No message reaches your customers without your sign-off.</a:t>
            </a:r>
            <a:endParaRPr lang="en-US" sz="900" dirty="0"/>
          </a:p>
        </p:txBody>
      </p:sp>
      <p:sp>
        <p:nvSpPr>
          <p:cNvPr id="21" name="Shape 19"/>
          <p:cNvSpPr/>
          <p:nvPr/>
        </p:nvSpPr>
        <p:spPr>
          <a:xfrm>
            <a:off x="3291840" y="2990088"/>
            <a:ext cx="2651760" cy="1261872"/>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2" name="Text 20"/>
          <p:cNvSpPr/>
          <p:nvPr/>
        </p:nvSpPr>
        <p:spPr>
          <a:xfrm>
            <a:off x="3291840" y="3081528"/>
            <a:ext cx="2651760"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3291840" y="3465576"/>
            <a:ext cx="2651760" cy="274320"/>
          </a:xfrm>
          <a:prstGeom prst="rect">
            <a:avLst/>
          </a:prstGeom>
          <a:noFill/>
          <a:ln/>
        </p:spPr>
        <p:txBody>
          <a:bodyPr wrap="square" rtlCol="0" anchor="ctr"/>
          <a:lstStyle/>
          <a:p>
            <a:pPr algn="ctr" indent="0" marL="0">
              <a:buNone/>
            </a:pPr>
            <a:r>
              <a:rPr lang="en-US" sz="1150" b="1" dirty="0">
                <a:solidFill>
                  <a:srgbClr val="00B4D8"/>
                </a:solidFill>
              </a:rPr>
              <a:t>Brand Protection</a:t>
            </a:r>
            <a:endParaRPr lang="en-US" sz="1150" dirty="0"/>
          </a:p>
        </p:txBody>
      </p:sp>
      <p:sp>
        <p:nvSpPr>
          <p:cNvPr id="24" name="Text 22"/>
          <p:cNvSpPr/>
          <p:nvPr/>
        </p:nvSpPr>
        <p:spPr>
          <a:xfrm>
            <a:off x="3383280" y="3739896"/>
            <a:ext cx="2468880" cy="438912"/>
          </a:xfrm>
          <a:prstGeom prst="rect">
            <a:avLst/>
          </a:prstGeom>
          <a:noFill/>
          <a:ln/>
        </p:spPr>
        <p:txBody>
          <a:bodyPr wrap="square" rtlCol="0" anchor="ctr"/>
          <a:lstStyle/>
          <a:p>
            <a:pPr algn="ctr" indent="0" marL="0">
              <a:buNone/>
            </a:pPr>
            <a:r>
              <a:rPr lang="en-US" sz="900" dirty="0">
                <a:solidFill>
                  <a:srgbClr val="CBD5E1"/>
                </a:solidFill>
              </a:rPr>
              <a:t>All messaging is written in your brand voice. We never send anything that could embarrass your business.</a:t>
            </a:r>
            <a:endParaRPr lang="en-US" sz="900" dirty="0"/>
          </a:p>
        </p:txBody>
      </p:sp>
      <p:sp>
        <p:nvSpPr>
          <p:cNvPr id="25" name="Shape 23"/>
          <p:cNvSpPr/>
          <p:nvPr/>
        </p:nvSpPr>
        <p:spPr>
          <a:xfrm>
            <a:off x="6172200" y="2990088"/>
            <a:ext cx="2651760" cy="1261872"/>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6" name="Text 24"/>
          <p:cNvSpPr/>
          <p:nvPr/>
        </p:nvSpPr>
        <p:spPr>
          <a:xfrm>
            <a:off x="6172200" y="3081528"/>
            <a:ext cx="2651760"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6172200" y="3465576"/>
            <a:ext cx="2651760" cy="274320"/>
          </a:xfrm>
          <a:prstGeom prst="rect">
            <a:avLst/>
          </a:prstGeom>
          <a:noFill/>
          <a:ln/>
        </p:spPr>
        <p:txBody>
          <a:bodyPr wrap="square" rtlCol="0" anchor="ctr"/>
          <a:lstStyle/>
          <a:p>
            <a:pPr algn="ctr" indent="0" marL="0">
              <a:buNone/>
            </a:pPr>
            <a:r>
              <a:rPr lang="en-US" sz="1150" b="1" dirty="0">
                <a:solidFill>
                  <a:srgbClr val="00B4D8"/>
                </a:solidFill>
              </a:rPr>
              <a:t>Full Transparency</a:t>
            </a:r>
            <a:endParaRPr lang="en-US" sz="1150" dirty="0"/>
          </a:p>
        </p:txBody>
      </p:sp>
      <p:sp>
        <p:nvSpPr>
          <p:cNvPr id="28" name="Text 26"/>
          <p:cNvSpPr/>
          <p:nvPr/>
        </p:nvSpPr>
        <p:spPr>
          <a:xfrm>
            <a:off x="6263640" y="3739896"/>
            <a:ext cx="2468880" cy="438912"/>
          </a:xfrm>
          <a:prstGeom prst="rect">
            <a:avLst/>
          </a:prstGeom>
          <a:noFill/>
          <a:ln/>
        </p:spPr>
        <p:txBody>
          <a:bodyPr wrap="square" rtlCol="0" anchor="ctr"/>
          <a:lstStyle/>
          <a:p>
            <a:pPr algn="ctr" indent="0" marL="0">
              <a:buNone/>
            </a:pPr>
            <a:r>
              <a:rPr lang="en-US" sz="900" dirty="0">
                <a:solidFill>
                  <a:srgbClr val="CBD5E1"/>
                </a:solidFill>
              </a:rPr>
              <a:t>You have access to every message sent, every response received, and every campaign metric — always.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11480" y="256032"/>
            <a:ext cx="1463040" cy="237744"/>
          </a:xfrm>
          <a:prstGeom prst="rect">
            <a:avLst/>
          </a:prstGeom>
          <a:solidFill>
            <a:srgbClr val="00B4D8"/>
          </a:solidFill>
          <a:ln w="12700">
            <a:solidFill>
              <a:srgbClr val="00B4D8"/>
            </a:solidFill>
            <a:prstDash val="solid"/>
          </a:ln>
        </p:spPr>
      </p:sp>
      <p:sp>
        <p:nvSpPr>
          <p:cNvPr id="3" name="Text 1"/>
          <p:cNvSpPr/>
          <p:nvPr/>
        </p:nvSpPr>
        <p:spPr>
          <a:xfrm>
            <a:off x="411480" y="256032"/>
            <a:ext cx="1463040" cy="237744"/>
          </a:xfrm>
          <a:prstGeom prst="rect">
            <a:avLst/>
          </a:prstGeom>
          <a:noFill/>
          <a:ln/>
        </p:spPr>
        <p:txBody>
          <a:bodyPr wrap="square" lIns="0" tIns="0" rIns="0" bIns="0" rtlCol="0" anchor="ctr"/>
          <a:lstStyle/>
          <a:p>
            <a:pPr algn="ctr" indent="0" marL="0">
              <a:buNone/>
            </a:pPr>
            <a:r>
              <a:rPr lang="en-US" sz="800" b="1" dirty="0">
                <a:solidFill>
                  <a:srgbClr val="0A0F1E"/>
                </a:solidFill>
              </a:rPr>
              <a:t>INVESTMENT</a:t>
            </a:r>
            <a:endParaRPr lang="en-US" sz="800" dirty="0"/>
          </a:p>
        </p:txBody>
      </p:sp>
      <p:sp>
        <p:nvSpPr>
          <p:cNvPr id="4" name="Text 2"/>
          <p:cNvSpPr/>
          <p:nvPr/>
        </p:nvSpPr>
        <p:spPr>
          <a:xfrm>
            <a:off x="411480" y="530352"/>
            <a:ext cx="8321040" cy="914400"/>
          </a:xfrm>
          <a:prstGeom prst="rect">
            <a:avLst/>
          </a:prstGeom>
          <a:noFill/>
          <a:ln/>
        </p:spPr>
        <p:txBody>
          <a:bodyPr wrap="square" rtlCol="0" anchor="ctr"/>
          <a:lstStyle/>
          <a:p>
            <a:pPr indent="0" marL="0">
              <a:buNone/>
            </a:pPr>
            <a:r>
              <a:rPr lang="en-US" sz="2800" b="1" dirty="0">
                <a:solidFill>
                  <a:srgbClr val="FFFFFF"/>
                </a:solidFill>
              </a:rPr>
              <a:t>Simple, Transparent Pricing.</a:t>
            </a:r>
            <a:endParaRPr lang="en-US" sz="2800" dirty="0"/>
          </a:p>
          <a:p>
            <a:pPr indent="0" marL="0">
              <a:buNone/>
            </a:pPr>
            <a:r>
              <a:rPr lang="en-US" sz="2800" b="1" dirty="0">
                <a:solidFill>
                  <a:srgbClr val="FFFFFF"/>
                </a:solidFill>
              </a:rPr>
              <a:t>No Hidden Fees.</a:t>
            </a:r>
            <a:endParaRPr lang="en-US" sz="2800" dirty="0"/>
          </a:p>
        </p:txBody>
      </p:sp>
      <p:sp>
        <p:nvSpPr>
          <p:cNvPr id="5" name="Shape 3"/>
          <p:cNvSpPr/>
          <p:nvPr/>
        </p:nvSpPr>
        <p:spPr>
          <a:xfrm>
            <a:off x="411480" y="1572768"/>
            <a:ext cx="2651760" cy="329184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11480" y="1664208"/>
            <a:ext cx="2651760" cy="347472"/>
          </a:xfrm>
          <a:prstGeom prst="rect">
            <a:avLst/>
          </a:prstGeom>
          <a:noFill/>
          <a:ln/>
        </p:spPr>
        <p:txBody>
          <a:bodyPr wrap="square" rtlCol="0" anchor="ctr"/>
          <a:lstStyle/>
          <a:p>
            <a:pPr algn="ctr" indent="0" marL="0">
              <a:buNone/>
            </a:pPr>
            <a:r>
              <a:rPr lang="en-US" sz="1500" b="1" dirty="0">
                <a:solidFill>
                  <a:srgbClr val="0077B6"/>
                </a:solidFill>
              </a:rPr>
              <a:t>Foundation</a:t>
            </a:r>
            <a:endParaRPr lang="en-US" sz="1500" dirty="0"/>
          </a:p>
        </p:txBody>
      </p:sp>
      <p:sp>
        <p:nvSpPr>
          <p:cNvPr id="7" name="Text 5"/>
          <p:cNvSpPr/>
          <p:nvPr/>
        </p:nvSpPr>
        <p:spPr>
          <a:xfrm>
            <a:off x="411480" y="2029968"/>
            <a:ext cx="2651760" cy="365760"/>
          </a:xfrm>
          <a:prstGeom prst="rect">
            <a:avLst/>
          </a:prstGeom>
          <a:noFill/>
          <a:ln/>
        </p:spPr>
        <p:txBody>
          <a:bodyPr wrap="square" rtlCol="0" anchor="ctr"/>
          <a:lstStyle/>
          <a:p>
            <a:pPr algn="ctr" indent="0" marL="0">
              <a:buNone/>
            </a:pPr>
            <a:r>
              <a:rPr lang="en-US" sz="1800" b="1" dirty="0">
                <a:solidFill>
                  <a:srgbClr val="FFFFFF"/>
                </a:solidFill>
              </a:rPr>
              <a:t>$997/mo</a:t>
            </a:r>
            <a:endParaRPr lang="en-US" sz="1800" dirty="0"/>
          </a:p>
        </p:txBody>
      </p:sp>
      <p:sp>
        <p:nvSpPr>
          <p:cNvPr id="8" name="Text 6"/>
          <p:cNvSpPr/>
          <p:nvPr/>
        </p:nvSpPr>
        <p:spPr>
          <a:xfrm>
            <a:off x="411480" y="2395728"/>
            <a:ext cx="2651760" cy="256032"/>
          </a:xfrm>
          <a:prstGeom prst="rect">
            <a:avLst/>
          </a:prstGeom>
          <a:noFill/>
          <a:ln/>
        </p:spPr>
        <p:txBody>
          <a:bodyPr wrap="square" rtlCol="0" anchor="ctr"/>
          <a:lstStyle/>
          <a:p>
            <a:pPr algn="ctr" indent="0" marL="0">
              <a:buNone/>
            </a:pPr>
            <a:r>
              <a:rPr lang="en-US" sz="950" dirty="0">
                <a:solidFill>
                  <a:srgbClr val="64748B"/>
                </a:solidFill>
              </a:rPr>
              <a:t>Setup: $1,500</a:t>
            </a:r>
            <a:endParaRPr lang="en-US" sz="950" dirty="0"/>
          </a:p>
        </p:txBody>
      </p:sp>
      <p:sp>
        <p:nvSpPr>
          <p:cNvPr id="9" name="Text 7"/>
          <p:cNvSpPr/>
          <p:nvPr/>
        </p:nvSpPr>
        <p:spPr>
          <a:xfrm>
            <a:off x="548640" y="2670048"/>
            <a:ext cx="2377440" cy="329184"/>
          </a:xfrm>
          <a:prstGeom prst="rect">
            <a:avLst/>
          </a:prstGeom>
          <a:noFill/>
          <a:ln/>
        </p:spPr>
        <p:txBody>
          <a:bodyPr wrap="square" rtlCol="0" anchor="ctr"/>
          <a:lstStyle/>
          <a:p>
            <a:pPr indent="0" marL="0">
              <a:buNone/>
            </a:pPr>
            <a:r>
              <a:rPr lang="en-US" sz="850" dirty="0">
                <a:solidFill>
                  <a:srgbClr val="CBD5E1"/>
                </a:solidFill>
              </a:rPr>
              <a:t>✓  CRM integration &amp; cleanup</a:t>
            </a:r>
            <a:endParaRPr lang="en-US" sz="850" dirty="0"/>
          </a:p>
        </p:txBody>
      </p:sp>
      <p:sp>
        <p:nvSpPr>
          <p:cNvPr id="10" name="Text 8"/>
          <p:cNvSpPr/>
          <p:nvPr/>
        </p:nvSpPr>
        <p:spPr>
          <a:xfrm>
            <a:off x="548640" y="3054096"/>
            <a:ext cx="2377440" cy="329184"/>
          </a:xfrm>
          <a:prstGeom prst="rect">
            <a:avLst/>
          </a:prstGeom>
          <a:noFill/>
          <a:ln/>
        </p:spPr>
        <p:txBody>
          <a:bodyPr wrap="square" rtlCol="0" anchor="ctr"/>
          <a:lstStyle/>
          <a:p>
            <a:pPr indent="0" marL="0">
              <a:buNone/>
            </a:pPr>
            <a:r>
              <a:rPr lang="en-US" sz="850" dirty="0">
                <a:solidFill>
                  <a:srgbClr val="CBD5E1"/>
                </a:solidFill>
              </a:rPr>
              <a:t>✓  Lead reactivation campaigns</a:t>
            </a:r>
            <a:endParaRPr lang="en-US" sz="850" dirty="0"/>
          </a:p>
        </p:txBody>
      </p:sp>
      <p:sp>
        <p:nvSpPr>
          <p:cNvPr id="11" name="Text 9"/>
          <p:cNvSpPr/>
          <p:nvPr/>
        </p:nvSpPr>
        <p:spPr>
          <a:xfrm>
            <a:off x="548640" y="3438144"/>
            <a:ext cx="2377440" cy="329184"/>
          </a:xfrm>
          <a:prstGeom prst="rect">
            <a:avLst/>
          </a:prstGeom>
          <a:noFill/>
          <a:ln/>
        </p:spPr>
        <p:txBody>
          <a:bodyPr wrap="square" rtlCol="0" anchor="ctr"/>
          <a:lstStyle/>
          <a:p>
            <a:pPr indent="0" marL="0">
              <a:buNone/>
            </a:pPr>
            <a:r>
              <a:rPr lang="en-US" sz="850" dirty="0">
                <a:solidFill>
                  <a:srgbClr val="CBD5E1"/>
                </a:solidFill>
              </a:rPr>
              <a:t>✓  Missed-call text-back</a:t>
            </a:r>
            <a:endParaRPr lang="en-US" sz="850" dirty="0"/>
          </a:p>
        </p:txBody>
      </p:sp>
      <p:sp>
        <p:nvSpPr>
          <p:cNvPr id="12" name="Text 10"/>
          <p:cNvSpPr/>
          <p:nvPr/>
        </p:nvSpPr>
        <p:spPr>
          <a:xfrm>
            <a:off x="548640" y="3822192"/>
            <a:ext cx="2377440" cy="329184"/>
          </a:xfrm>
          <a:prstGeom prst="rect">
            <a:avLst/>
          </a:prstGeom>
          <a:noFill/>
          <a:ln/>
        </p:spPr>
        <p:txBody>
          <a:bodyPr wrap="square" rtlCol="0" anchor="ctr"/>
          <a:lstStyle/>
          <a:p>
            <a:pPr indent="0" marL="0">
              <a:buNone/>
            </a:pPr>
            <a:r>
              <a:rPr lang="en-US" sz="850" dirty="0">
                <a:solidFill>
                  <a:srgbClr val="CBD5E1"/>
                </a:solidFill>
              </a:rPr>
              <a:t>✓  Review collection automation</a:t>
            </a:r>
            <a:endParaRPr lang="en-US" sz="850" dirty="0"/>
          </a:p>
        </p:txBody>
      </p:sp>
      <p:sp>
        <p:nvSpPr>
          <p:cNvPr id="13" name="Text 11"/>
          <p:cNvSpPr/>
          <p:nvPr/>
        </p:nvSpPr>
        <p:spPr>
          <a:xfrm>
            <a:off x="548640" y="4206240"/>
            <a:ext cx="2377440" cy="329184"/>
          </a:xfrm>
          <a:prstGeom prst="rect">
            <a:avLst/>
          </a:prstGeom>
          <a:noFill/>
          <a:ln/>
        </p:spPr>
        <p:txBody>
          <a:bodyPr wrap="square" rtlCol="0" anchor="ctr"/>
          <a:lstStyle/>
          <a:p>
            <a:pPr indent="0" marL="0">
              <a:buNone/>
            </a:pPr>
            <a:r>
              <a:rPr lang="en-US" sz="850" dirty="0">
                <a:solidFill>
                  <a:srgbClr val="CBD5E1"/>
                </a:solidFill>
              </a:rPr>
              <a:t>✓  Monthly reporting</a:t>
            </a:r>
            <a:endParaRPr lang="en-US" sz="850" dirty="0"/>
          </a:p>
        </p:txBody>
      </p:sp>
      <p:sp>
        <p:nvSpPr>
          <p:cNvPr id="14" name="Text 12"/>
          <p:cNvSpPr/>
          <p:nvPr/>
        </p:nvSpPr>
        <p:spPr>
          <a:xfrm>
            <a:off x="548640" y="4590288"/>
            <a:ext cx="2377440" cy="329184"/>
          </a:xfrm>
          <a:prstGeom prst="rect">
            <a:avLst/>
          </a:prstGeom>
          <a:noFill/>
          <a:ln/>
        </p:spPr>
        <p:txBody>
          <a:bodyPr wrap="square" rtlCol="0" anchor="ctr"/>
          <a:lstStyle/>
          <a:p>
            <a:pPr indent="0" marL="0">
              <a:buNone/>
            </a:pPr>
            <a:r>
              <a:rPr lang="en-US" sz="850" dirty="0">
                <a:solidFill>
                  <a:srgbClr val="CBD5E1"/>
                </a:solidFill>
              </a:rPr>
              <a:t>✓  2 active campaign sequences</a:t>
            </a:r>
            <a:endParaRPr lang="en-US" sz="850" dirty="0"/>
          </a:p>
        </p:txBody>
      </p:sp>
      <p:sp>
        <p:nvSpPr>
          <p:cNvPr id="15" name="Shape 13"/>
          <p:cNvSpPr/>
          <p:nvPr/>
        </p:nvSpPr>
        <p:spPr>
          <a:xfrm>
            <a:off x="3291840" y="1572768"/>
            <a:ext cx="2651760" cy="3291840"/>
          </a:xfrm>
          <a:prstGeom prst="rect">
            <a:avLst/>
          </a:prstGeom>
          <a:solidFill>
            <a:srgbClr val="1A2744"/>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3291840" y="1572768"/>
            <a:ext cx="2651760" cy="45720"/>
          </a:xfrm>
          <a:prstGeom prst="rect">
            <a:avLst/>
          </a:prstGeom>
          <a:solidFill>
            <a:srgbClr val="00B4D8"/>
          </a:solidFill>
          <a:ln w="12700">
            <a:solidFill>
              <a:srgbClr val="000000"/>
            </a:solidFill>
            <a:prstDash val="solid"/>
          </a:ln>
        </p:spPr>
      </p:sp>
      <p:sp>
        <p:nvSpPr>
          <p:cNvPr id="17" name="Text 15"/>
          <p:cNvSpPr/>
          <p:nvPr/>
        </p:nvSpPr>
        <p:spPr>
          <a:xfrm>
            <a:off x="3291840" y="1618488"/>
            <a:ext cx="2651760" cy="237744"/>
          </a:xfrm>
          <a:prstGeom prst="rect">
            <a:avLst/>
          </a:prstGeom>
          <a:noFill/>
          <a:ln/>
        </p:spPr>
        <p:txBody>
          <a:bodyPr wrap="square" rtlCol="0" anchor="ctr"/>
          <a:lstStyle/>
          <a:p>
            <a:pPr algn="ctr" indent="0" marL="0">
              <a:buNone/>
            </a:pPr>
            <a:r>
              <a:rPr lang="en-US" sz="800" b="1" dirty="0">
                <a:solidFill>
                  <a:srgbClr val="00B4D8"/>
                </a:solidFill>
              </a:rPr>
              <a:t>MOST POPULAR</a:t>
            </a:r>
            <a:endParaRPr lang="en-US" sz="800" dirty="0"/>
          </a:p>
        </p:txBody>
      </p:sp>
      <p:sp>
        <p:nvSpPr>
          <p:cNvPr id="18" name="Text 16"/>
          <p:cNvSpPr/>
          <p:nvPr/>
        </p:nvSpPr>
        <p:spPr>
          <a:xfrm>
            <a:off x="3291840" y="1901952"/>
            <a:ext cx="2651760" cy="347472"/>
          </a:xfrm>
          <a:prstGeom prst="rect">
            <a:avLst/>
          </a:prstGeom>
          <a:noFill/>
          <a:ln/>
        </p:spPr>
        <p:txBody>
          <a:bodyPr wrap="square" rtlCol="0" anchor="ctr"/>
          <a:lstStyle/>
          <a:p>
            <a:pPr algn="ctr" indent="0" marL="0">
              <a:buNone/>
            </a:pPr>
            <a:r>
              <a:rPr lang="en-US" sz="1500" b="1" dirty="0">
                <a:solidFill>
                  <a:srgbClr val="00B4D8"/>
                </a:solidFill>
              </a:rPr>
              <a:t>Growth</a:t>
            </a:r>
            <a:endParaRPr lang="en-US" sz="1500" dirty="0"/>
          </a:p>
        </p:txBody>
      </p:sp>
      <p:sp>
        <p:nvSpPr>
          <p:cNvPr id="19" name="Text 17"/>
          <p:cNvSpPr/>
          <p:nvPr/>
        </p:nvSpPr>
        <p:spPr>
          <a:xfrm>
            <a:off x="3291840" y="2267712"/>
            <a:ext cx="2651760" cy="365760"/>
          </a:xfrm>
          <a:prstGeom prst="rect">
            <a:avLst/>
          </a:prstGeom>
          <a:noFill/>
          <a:ln/>
        </p:spPr>
        <p:txBody>
          <a:bodyPr wrap="square" rtlCol="0" anchor="ctr"/>
          <a:lstStyle/>
          <a:p>
            <a:pPr algn="ctr" indent="0" marL="0">
              <a:buNone/>
            </a:pPr>
            <a:r>
              <a:rPr lang="en-US" sz="1800" b="1" dirty="0">
                <a:solidFill>
                  <a:srgbClr val="FFFFFF"/>
                </a:solidFill>
              </a:rPr>
              <a:t>$1,797/mo</a:t>
            </a:r>
            <a:endParaRPr lang="en-US" sz="1800" dirty="0"/>
          </a:p>
        </p:txBody>
      </p:sp>
      <p:sp>
        <p:nvSpPr>
          <p:cNvPr id="20" name="Text 18"/>
          <p:cNvSpPr/>
          <p:nvPr/>
        </p:nvSpPr>
        <p:spPr>
          <a:xfrm>
            <a:off x="3291840" y="2633472"/>
            <a:ext cx="2651760" cy="256032"/>
          </a:xfrm>
          <a:prstGeom prst="rect">
            <a:avLst/>
          </a:prstGeom>
          <a:noFill/>
          <a:ln/>
        </p:spPr>
        <p:txBody>
          <a:bodyPr wrap="square" rtlCol="0" anchor="ctr"/>
          <a:lstStyle/>
          <a:p>
            <a:pPr algn="ctr" indent="0" marL="0">
              <a:buNone/>
            </a:pPr>
            <a:r>
              <a:rPr lang="en-US" sz="950" dirty="0">
                <a:solidFill>
                  <a:srgbClr val="64748B"/>
                </a:solidFill>
              </a:rPr>
              <a:t>Setup: $2,500</a:t>
            </a:r>
            <a:endParaRPr lang="en-US" sz="950" dirty="0"/>
          </a:p>
        </p:txBody>
      </p:sp>
      <p:sp>
        <p:nvSpPr>
          <p:cNvPr id="21" name="Text 19"/>
          <p:cNvSpPr/>
          <p:nvPr/>
        </p:nvSpPr>
        <p:spPr>
          <a:xfrm>
            <a:off x="3429000" y="2926080"/>
            <a:ext cx="2377440" cy="329184"/>
          </a:xfrm>
          <a:prstGeom prst="rect">
            <a:avLst/>
          </a:prstGeom>
          <a:noFill/>
          <a:ln/>
        </p:spPr>
        <p:txBody>
          <a:bodyPr wrap="square" rtlCol="0" anchor="ctr"/>
          <a:lstStyle/>
          <a:p>
            <a:pPr indent="0" marL="0">
              <a:buNone/>
            </a:pPr>
            <a:r>
              <a:rPr lang="en-US" sz="850" dirty="0">
                <a:solidFill>
                  <a:srgbClr val="CBD5E1"/>
                </a:solidFill>
              </a:rPr>
              <a:t>✓  Everything in Foundation</a:t>
            </a:r>
            <a:endParaRPr lang="en-US" sz="850" dirty="0"/>
          </a:p>
        </p:txBody>
      </p:sp>
      <p:sp>
        <p:nvSpPr>
          <p:cNvPr id="22" name="Text 20"/>
          <p:cNvSpPr/>
          <p:nvPr/>
        </p:nvSpPr>
        <p:spPr>
          <a:xfrm>
            <a:off x="3429000" y="3310128"/>
            <a:ext cx="2377440" cy="329184"/>
          </a:xfrm>
          <a:prstGeom prst="rect">
            <a:avLst/>
          </a:prstGeom>
          <a:noFill/>
          <a:ln/>
        </p:spPr>
        <p:txBody>
          <a:bodyPr wrap="square" rtlCol="0" anchor="ctr"/>
          <a:lstStyle/>
          <a:p>
            <a:pPr indent="0" marL="0">
              <a:buNone/>
            </a:pPr>
            <a:r>
              <a:rPr lang="en-US" sz="850" dirty="0">
                <a:solidFill>
                  <a:srgbClr val="CBD5E1"/>
                </a:solidFill>
              </a:rPr>
              <a:t>✓  Estimate follow-up automation</a:t>
            </a:r>
            <a:endParaRPr lang="en-US" sz="850" dirty="0"/>
          </a:p>
        </p:txBody>
      </p:sp>
      <p:sp>
        <p:nvSpPr>
          <p:cNvPr id="23" name="Text 21"/>
          <p:cNvSpPr/>
          <p:nvPr/>
        </p:nvSpPr>
        <p:spPr>
          <a:xfrm>
            <a:off x="3429000" y="3694176"/>
            <a:ext cx="2377440" cy="329184"/>
          </a:xfrm>
          <a:prstGeom prst="rect">
            <a:avLst/>
          </a:prstGeom>
          <a:noFill/>
          <a:ln/>
        </p:spPr>
        <p:txBody>
          <a:bodyPr wrap="square" rtlCol="0" anchor="ctr"/>
          <a:lstStyle/>
          <a:p>
            <a:pPr indent="0" marL="0">
              <a:buNone/>
            </a:pPr>
            <a:r>
              <a:rPr lang="en-US" sz="850" dirty="0">
                <a:solidFill>
                  <a:srgbClr val="CBD5E1"/>
                </a:solidFill>
              </a:rPr>
              <a:t>✓  Referral campaign system</a:t>
            </a:r>
            <a:endParaRPr lang="en-US" sz="850" dirty="0"/>
          </a:p>
        </p:txBody>
      </p:sp>
      <p:sp>
        <p:nvSpPr>
          <p:cNvPr id="24" name="Text 22"/>
          <p:cNvSpPr/>
          <p:nvPr/>
        </p:nvSpPr>
        <p:spPr>
          <a:xfrm>
            <a:off x="3429000" y="4078224"/>
            <a:ext cx="2377440" cy="329184"/>
          </a:xfrm>
          <a:prstGeom prst="rect">
            <a:avLst/>
          </a:prstGeom>
          <a:noFill/>
          <a:ln/>
        </p:spPr>
        <p:txBody>
          <a:bodyPr wrap="square" rtlCol="0" anchor="ctr"/>
          <a:lstStyle/>
          <a:p>
            <a:pPr indent="0" marL="0">
              <a:buNone/>
            </a:pPr>
            <a:r>
              <a:rPr lang="en-US" sz="850" dirty="0">
                <a:solidFill>
                  <a:srgbClr val="CBD5E1"/>
                </a:solidFill>
              </a:rPr>
              <a:t>✓  Maintenance reminder sequences</a:t>
            </a:r>
            <a:endParaRPr lang="en-US" sz="850" dirty="0"/>
          </a:p>
        </p:txBody>
      </p:sp>
      <p:sp>
        <p:nvSpPr>
          <p:cNvPr id="25" name="Text 23"/>
          <p:cNvSpPr/>
          <p:nvPr/>
        </p:nvSpPr>
        <p:spPr>
          <a:xfrm>
            <a:off x="3429000" y="4462272"/>
            <a:ext cx="2377440" cy="329184"/>
          </a:xfrm>
          <a:prstGeom prst="rect">
            <a:avLst/>
          </a:prstGeom>
          <a:noFill/>
          <a:ln/>
        </p:spPr>
        <p:txBody>
          <a:bodyPr wrap="square" rtlCol="0" anchor="ctr"/>
          <a:lstStyle/>
          <a:p>
            <a:pPr indent="0" marL="0">
              <a:buNone/>
            </a:pPr>
            <a:r>
              <a:rPr lang="en-US" sz="850" dirty="0">
                <a:solidFill>
                  <a:srgbClr val="CBD5E1"/>
                </a:solidFill>
              </a:rPr>
              <a:t>✓  Membership renewal automation</a:t>
            </a:r>
            <a:endParaRPr lang="en-US" sz="850" dirty="0"/>
          </a:p>
        </p:txBody>
      </p:sp>
      <p:sp>
        <p:nvSpPr>
          <p:cNvPr id="26" name="Text 24"/>
          <p:cNvSpPr/>
          <p:nvPr/>
        </p:nvSpPr>
        <p:spPr>
          <a:xfrm>
            <a:off x="3429000" y="4846320"/>
            <a:ext cx="2377440" cy="329184"/>
          </a:xfrm>
          <a:prstGeom prst="rect">
            <a:avLst/>
          </a:prstGeom>
          <a:noFill/>
          <a:ln/>
        </p:spPr>
        <p:txBody>
          <a:bodyPr wrap="square" rtlCol="0" anchor="ctr"/>
          <a:lstStyle/>
          <a:p>
            <a:pPr indent="0" marL="0">
              <a:buNone/>
            </a:pPr>
            <a:r>
              <a:rPr lang="en-US" sz="850" dirty="0">
                <a:solidFill>
                  <a:srgbClr val="CBD5E1"/>
                </a:solidFill>
              </a:rPr>
              <a:t>✓  Seasonal campaign calendar</a:t>
            </a:r>
            <a:endParaRPr lang="en-US" sz="850" dirty="0"/>
          </a:p>
        </p:txBody>
      </p:sp>
      <p:sp>
        <p:nvSpPr>
          <p:cNvPr id="27" name="Shape 25"/>
          <p:cNvSpPr/>
          <p:nvPr/>
        </p:nvSpPr>
        <p:spPr>
          <a:xfrm>
            <a:off x="6172200" y="1572768"/>
            <a:ext cx="2651760" cy="3291840"/>
          </a:xfrm>
          <a:prstGeom prst="rect">
            <a:avLst/>
          </a:prstGeom>
          <a:solidFill>
            <a:srgbClr val="131E35"/>
          </a:solidFill>
          <a:ln w="6350">
            <a:solidFill>
              <a:srgbClr val="0077B6"/>
            </a:solidFill>
            <a:prstDash val="solid"/>
          </a:ln>
          <a:effectLst>
            <a:outerShdw sx="100000" sy="100000" kx="0" ky="0" algn="bl" rotWithShape="0" blurRad="101600" dist="38100" dir="8100000">
              <a:srgbClr val="000000">
                <a:alpha val="25000"/>
              </a:srgbClr>
            </a:outerShdw>
          </a:effectLst>
        </p:spPr>
      </p:sp>
      <p:sp>
        <p:nvSpPr>
          <p:cNvPr id="28" name="Text 26"/>
          <p:cNvSpPr/>
          <p:nvPr/>
        </p:nvSpPr>
        <p:spPr>
          <a:xfrm>
            <a:off x="6172200" y="1664208"/>
            <a:ext cx="2651760" cy="347472"/>
          </a:xfrm>
          <a:prstGeom prst="rect">
            <a:avLst/>
          </a:prstGeom>
          <a:noFill/>
          <a:ln/>
        </p:spPr>
        <p:txBody>
          <a:bodyPr wrap="square" rtlCol="0" anchor="ctr"/>
          <a:lstStyle/>
          <a:p>
            <a:pPr algn="ctr" indent="0" marL="0">
              <a:buNone/>
            </a:pPr>
            <a:r>
              <a:rPr lang="en-US" sz="1500" b="1" dirty="0">
                <a:solidFill>
                  <a:srgbClr val="F4C430"/>
                </a:solidFill>
              </a:rPr>
              <a:t>Performance</a:t>
            </a:r>
            <a:endParaRPr lang="en-US" sz="1500" dirty="0"/>
          </a:p>
        </p:txBody>
      </p:sp>
      <p:sp>
        <p:nvSpPr>
          <p:cNvPr id="29" name="Text 27"/>
          <p:cNvSpPr/>
          <p:nvPr/>
        </p:nvSpPr>
        <p:spPr>
          <a:xfrm>
            <a:off x="6172200" y="2029968"/>
            <a:ext cx="2651760" cy="365760"/>
          </a:xfrm>
          <a:prstGeom prst="rect">
            <a:avLst/>
          </a:prstGeom>
          <a:noFill/>
          <a:ln/>
        </p:spPr>
        <p:txBody>
          <a:bodyPr wrap="square" rtlCol="0" anchor="ctr"/>
          <a:lstStyle/>
          <a:p>
            <a:pPr algn="ctr" indent="0" marL="0">
              <a:buNone/>
            </a:pPr>
            <a:r>
              <a:rPr lang="en-US" sz="1800" b="1" dirty="0">
                <a:solidFill>
                  <a:srgbClr val="FFFFFF"/>
                </a:solidFill>
              </a:rPr>
              <a:t>Revenue Share</a:t>
            </a:r>
            <a:endParaRPr lang="en-US" sz="1800" dirty="0"/>
          </a:p>
        </p:txBody>
      </p:sp>
      <p:sp>
        <p:nvSpPr>
          <p:cNvPr id="30" name="Text 28"/>
          <p:cNvSpPr/>
          <p:nvPr/>
        </p:nvSpPr>
        <p:spPr>
          <a:xfrm>
            <a:off x="6172200" y="2395728"/>
            <a:ext cx="2651760" cy="256032"/>
          </a:xfrm>
          <a:prstGeom prst="rect">
            <a:avLst/>
          </a:prstGeom>
          <a:noFill/>
          <a:ln/>
        </p:spPr>
        <p:txBody>
          <a:bodyPr wrap="square" rtlCol="0" anchor="ctr"/>
          <a:lstStyle/>
          <a:p>
            <a:pPr algn="ctr" indent="0" marL="0">
              <a:buNone/>
            </a:pPr>
            <a:r>
              <a:rPr lang="en-US" sz="950" dirty="0">
                <a:solidFill>
                  <a:srgbClr val="64748B"/>
                </a:solidFill>
              </a:rPr>
              <a:t>Setup: Custom</a:t>
            </a:r>
            <a:endParaRPr lang="en-US" sz="950" dirty="0"/>
          </a:p>
        </p:txBody>
      </p:sp>
      <p:sp>
        <p:nvSpPr>
          <p:cNvPr id="31" name="Text 29"/>
          <p:cNvSpPr/>
          <p:nvPr/>
        </p:nvSpPr>
        <p:spPr>
          <a:xfrm>
            <a:off x="6309360" y="2670048"/>
            <a:ext cx="2377440" cy="329184"/>
          </a:xfrm>
          <a:prstGeom prst="rect">
            <a:avLst/>
          </a:prstGeom>
          <a:noFill/>
          <a:ln/>
        </p:spPr>
        <p:txBody>
          <a:bodyPr wrap="square" rtlCol="0" anchor="ctr"/>
          <a:lstStyle/>
          <a:p>
            <a:pPr indent="0" marL="0">
              <a:buNone/>
            </a:pPr>
            <a:r>
              <a:rPr lang="en-US" sz="850" dirty="0">
                <a:solidFill>
                  <a:srgbClr val="CBD5E1"/>
                </a:solidFill>
              </a:rPr>
              <a:t>✓  Everything in Growth</a:t>
            </a:r>
            <a:endParaRPr lang="en-US" sz="850" dirty="0"/>
          </a:p>
        </p:txBody>
      </p:sp>
      <p:sp>
        <p:nvSpPr>
          <p:cNvPr id="32" name="Text 30"/>
          <p:cNvSpPr/>
          <p:nvPr/>
        </p:nvSpPr>
        <p:spPr>
          <a:xfrm>
            <a:off x="6309360" y="3054096"/>
            <a:ext cx="2377440" cy="329184"/>
          </a:xfrm>
          <a:prstGeom prst="rect">
            <a:avLst/>
          </a:prstGeom>
          <a:noFill/>
          <a:ln/>
        </p:spPr>
        <p:txBody>
          <a:bodyPr wrap="square" rtlCol="0" anchor="ctr"/>
          <a:lstStyle/>
          <a:p>
            <a:pPr indent="0" marL="0">
              <a:buNone/>
            </a:pPr>
            <a:r>
              <a:rPr lang="en-US" sz="850" dirty="0">
                <a:solidFill>
                  <a:srgbClr val="CBD5E1"/>
                </a:solidFill>
              </a:rPr>
              <a:t>✓  Performance-based pricing model</a:t>
            </a:r>
            <a:endParaRPr lang="en-US" sz="850" dirty="0"/>
          </a:p>
        </p:txBody>
      </p:sp>
      <p:sp>
        <p:nvSpPr>
          <p:cNvPr id="33" name="Text 31"/>
          <p:cNvSpPr/>
          <p:nvPr/>
        </p:nvSpPr>
        <p:spPr>
          <a:xfrm>
            <a:off x="6309360" y="3438144"/>
            <a:ext cx="2377440" cy="329184"/>
          </a:xfrm>
          <a:prstGeom prst="rect">
            <a:avLst/>
          </a:prstGeom>
          <a:noFill/>
          <a:ln/>
        </p:spPr>
        <p:txBody>
          <a:bodyPr wrap="square" rtlCol="0" anchor="ctr"/>
          <a:lstStyle/>
          <a:p>
            <a:pPr indent="0" marL="0">
              <a:buNone/>
            </a:pPr>
            <a:r>
              <a:rPr lang="en-US" sz="850" dirty="0">
                <a:solidFill>
                  <a:srgbClr val="CBD5E1"/>
                </a:solidFill>
              </a:rPr>
              <a:t>✓  Multi-location support</a:t>
            </a:r>
            <a:endParaRPr lang="en-US" sz="850" dirty="0"/>
          </a:p>
        </p:txBody>
      </p:sp>
      <p:sp>
        <p:nvSpPr>
          <p:cNvPr id="34" name="Text 32"/>
          <p:cNvSpPr/>
          <p:nvPr/>
        </p:nvSpPr>
        <p:spPr>
          <a:xfrm>
            <a:off x="6309360" y="3822192"/>
            <a:ext cx="2377440" cy="329184"/>
          </a:xfrm>
          <a:prstGeom prst="rect">
            <a:avLst/>
          </a:prstGeom>
          <a:noFill/>
          <a:ln/>
        </p:spPr>
        <p:txBody>
          <a:bodyPr wrap="square" rtlCol="0" anchor="ctr"/>
          <a:lstStyle/>
          <a:p>
            <a:pPr indent="0" marL="0">
              <a:buNone/>
            </a:pPr>
            <a:r>
              <a:rPr lang="en-US" sz="850" dirty="0">
                <a:solidFill>
                  <a:srgbClr val="CBD5E1"/>
                </a:solidFill>
              </a:rPr>
              <a:t>✓  Dedicated account manager</a:t>
            </a:r>
            <a:endParaRPr lang="en-US" sz="850" dirty="0"/>
          </a:p>
        </p:txBody>
      </p:sp>
      <p:sp>
        <p:nvSpPr>
          <p:cNvPr id="35" name="Text 33"/>
          <p:cNvSpPr/>
          <p:nvPr/>
        </p:nvSpPr>
        <p:spPr>
          <a:xfrm>
            <a:off x="6309360" y="4206240"/>
            <a:ext cx="2377440" cy="329184"/>
          </a:xfrm>
          <a:prstGeom prst="rect">
            <a:avLst/>
          </a:prstGeom>
          <a:noFill/>
          <a:ln/>
        </p:spPr>
        <p:txBody>
          <a:bodyPr wrap="square" rtlCol="0" anchor="ctr"/>
          <a:lstStyle/>
          <a:p>
            <a:pPr indent="0" marL="0">
              <a:buNone/>
            </a:pPr>
            <a:r>
              <a:rPr lang="en-US" sz="850" dirty="0">
                <a:solidFill>
                  <a:srgbClr val="CBD5E1"/>
                </a:solidFill>
              </a:rPr>
              <a:t>✓  Custom campaign development</a:t>
            </a:r>
            <a:endParaRPr lang="en-US" sz="850" dirty="0"/>
          </a:p>
        </p:txBody>
      </p:sp>
      <p:sp>
        <p:nvSpPr>
          <p:cNvPr id="36" name="Text 34"/>
          <p:cNvSpPr/>
          <p:nvPr/>
        </p:nvSpPr>
        <p:spPr>
          <a:xfrm>
            <a:off x="6309360" y="4590288"/>
            <a:ext cx="2377440" cy="329184"/>
          </a:xfrm>
          <a:prstGeom prst="rect">
            <a:avLst/>
          </a:prstGeom>
          <a:noFill/>
          <a:ln/>
        </p:spPr>
        <p:txBody>
          <a:bodyPr wrap="square" rtlCol="0" anchor="ctr"/>
          <a:lstStyle/>
          <a:p>
            <a:pPr indent="0" marL="0">
              <a:buNone/>
            </a:pPr>
            <a:r>
              <a:rPr lang="en-US" sz="850" dirty="0">
                <a:solidFill>
                  <a:srgbClr val="CBD5E1"/>
                </a:solidFill>
              </a:rPr>
              <a:t>✓  Quarterly strategy sessions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77B6">
              <a:alpha val="8000"/>
            </a:srgbClr>
          </a:solidFill>
          <a:ln w="12700">
            <a:solidFill>
              <a:srgbClr val="000000"/>
            </a:solidFill>
            <a:prstDash val="solid"/>
          </a:ln>
        </p:spPr>
      </p:sp>
      <p:sp>
        <p:nvSpPr>
          <p:cNvPr id="3" name="Shape 1"/>
          <p:cNvSpPr/>
          <p:nvPr/>
        </p:nvSpPr>
        <p:spPr>
          <a:xfrm>
            <a:off x="0" y="4389120"/>
            <a:ext cx="9144000" cy="754380"/>
          </a:xfrm>
          <a:prstGeom prst="rect">
            <a:avLst/>
          </a:prstGeom>
          <a:solidFill>
            <a:srgbClr val="112240"/>
          </a:solidFill>
          <a:ln w="12700">
            <a:solidFill>
              <a:srgbClr val="000000"/>
            </a:solidFill>
            <a:prstDash val="solid"/>
          </a:ln>
        </p:spPr>
      </p:sp>
      <p:sp>
        <p:nvSpPr>
          <p:cNvPr id="4" name="Shape 2"/>
          <p:cNvSpPr/>
          <p:nvPr/>
        </p:nvSpPr>
        <p:spPr>
          <a:xfrm>
            <a:off x="0" y="4370832"/>
            <a:ext cx="9144000" cy="36576"/>
          </a:xfrm>
          <a:prstGeom prst="rect">
            <a:avLst/>
          </a:prstGeom>
          <a:solidFill>
            <a:srgbClr val="00B4D8"/>
          </a:solidFill>
          <a:ln w="12700">
            <a:solidFill>
              <a:srgbClr val="000000"/>
            </a:solidFill>
            <a:prstDash val="solid"/>
          </a:ln>
        </p:spPr>
      </p:sp>
      <p:sp>
        <p:nvSpPr>
          <p:cNvPr id="5" name="Text 3"/>
          <p:cNvSpPr/>
          <p:nvPr/>
        </p:nvSpPr>
        <p:spPr>
          <a:xfrm>
            <a:off x="548640" y="640080"/>
            <a:ext cx="8046720" cy="1645920"/>
          </a:xfrm>
          <a:prstGeom prst="rect">
            <a:avLst/>
          </a:prstGeom>
          <a:noFill/>
          <a:ln/>
        </p:spPr>
        <p:txBody>
          <a:bodyPr wrap="square" rtlCol="0" anchor="ctr"/>
          <a:lstStyle/>
          <a:p>
            <a:pPr algn="ctr" indent="0" marL="0">
              <a:buNone/>
            </a:pPr>
            <a:r>
              <a:rPr lang="en-US" sz="3600" b="1" dirty="0">
                <a:solidFill>
                  <a:srgbClr val="FFFFFF"/>
                </a:solidFill>
              </a:rPr>
              <a:t>Every Day You Wait Is Revenue</a:t>
            </a:r>
            <a:endParaRPr lang="en-US" sz="3600" dirty="0"/>
          </a:p>
          <a:p>
            <a:pPr algn="ctr" indent="0" marL="0">
              <a:buNone/>
            </a:pPr>
            <a:r>
              <a:rPr lang="en-US" sz="3600" b="1" dirty="0">
                <a:solidFill>
                  <a:srgbClr val="FFFFFF"/>
                </a:solidFill>
              </a:rPr>
              <a:t>You've Already Decided Not to Recover.</a:t>
            </a:r>
            <a:endParaRPr lang="en-US" sz="3600" dirty="0"/>
          </a:p>
        </p:txBody>
      </p:sp>
      <p:sp>
        <p:nvSpPr>
          <p:cNvPr id="6" name="Shape 4"/>
          <p:cNvSpPr/>
          <p:nvPr/>
        </p:nvSpPr>
        <p:spPr>
          <a:xfrm>
            <a:off x="3291840" y="2331720"/>
            <a:ext cx="2560320" cy="36576"/>
          </a:xfrm>
          <a:prstGeom prst="rect">
            <a:avLst/>
          </a:prstGeom>
          <a:solidFill>
            <a:srgbClr val="00B4D8"/>
          </a:solidFill>
          <a:ln w="12700">
            <a:solidFill>
              <a:srgbClr val="000000"/>
            </a:solidFill>
            <a:prstDash val="solid"/>
          </a:ln>
        </p:spPr>
      </p:sp>
      <p:sp>
        <p:nvSpPr>
          <p:cNvPr id="7" name="Text 5"/>
          <p:cNvSpPr/>
          <p:nvPr/>
        </p:nvSpPr>
        <p:spPr>
          <a:xfrm>
            <a:off x="731520" y="2468880"/>
            <a:ext cx="7680960" cy="731520"/>
          </a:xfrm>
          <a:prstGeom prst="rect">
            <a:avLst/>
          </a:prstGeom>
          <a:noFill/>
          <a:ln/>
        </p:spPr>
        <p:txBody>
          <a:bodyPr wrap="square" rtlCol="0" anchor="ctr"/>
          <a:lstStyle/>
          <a:p>
            <a:pPr algn="ctr" indent="0" marL="0">
              <a:buNone/>
            </a:pPr>
            <a:r>
              <a:rPr lang="en-US" sz="1300" dirty="0">
                <a:solidFill>
                  <a:srgbClr val="CBD5E1"/>
                </a:solidFill>
              </a:rPr>
              <a:t>Your competitors are still manually following up with leads — or not at all.</a:t>
            </a:r>
            <a:endParaRPr lang="en-US" sz="1300" dirty="0"/>
          </a:p>
          <a:p>
            <a:pPr algn="ctr" indent="0" marL="0">
              <a:buNone/>
            </a:pPr>
            <a:r>
              <a:rPr lang="en-US" sz="1300" dirty="0">
                <a:solidFill>
                  <a:srgbClr val="CBD5E1"/>
                </a:solidFill>
              </a:rPr>
              <a:t>The companies that build revenue infrastructure now will own the market in 3 years.</a:t>
            </a:r>
            <a:endParaRPr lang="en-US" sz="1300" dirty="0"/>
          </a:p>
        </p:txBody>
      </p:sp>
      <p:sp>
        <p:nvSpPr>
          <p:cNvPr id="8" name="Shape 6"/>
          <p:cNvSpPr/>
          <p:nvPr/>
        </p:nvSpPr>
        <p:spPr>
          <a:xfrm>
            <a:off x="777240" y="3383280"/>
            <a:ext cx="2286000" cy="530352"/>
          </a:xfrm>
          <a:prstGeom prst="rect">
            <a:avLst/>
          </a:prstGeom>
          <a:solidFill>
            <a:srgbClr val="00B4D8"/>
          </a:solidFill>
          <a:ln w="12700">
            <a:solidFill>
              <a:srgbClr val="00B4D8"/>
            </a:solidFill>
            <a:prstDash val="solid"/>
          </a:ln>
        </p:spPr>
      </p:sp>
      <p:sp>
        <p:nvSpPr>
          <p:cNvPr id="9" name="Text 7"/>
          <p:cNvSpPr/>
          <p:nvPr/>
        </p:nvSpPr>
        <p:spPr>
          <a:xfrm>
            <a:off x="777240" y="3383280"/>
            <a:ext cx="2286000" cy="530352"/>
          </a:xfrm>
          <a:prstGeom prst="rect">
            <a:avLst/>
          </a:prstGeom>
          <a:noFill/>
          <a:ln/>
        </p:spPr>
        <p:txBody>
          <a:bodyPr wrap="square" rtlCol="0" anchor="ctr"/>
          <a:lstStyle/>
          <a:p>
            <a:pPr algn="ctr" indent="0" marL="0">
              <a:buNone/>
            </a:pPr>
            <a:r>
              <a:rPr lang="en-US" sz="1100" b="1" dirty="0">
                <a:solidFill>
                  <a:srgbClr val="0A0F1E"/>
                </a:solidFill>
              </a:rPr>
              <a:t>Schedule Discovery Call</a:t>
            </a:r>
            <a:endParaRPr lang="en-US" sz="1100" dirty="0"/>
          </a:p>
        </p:txBody>
      </p:sp>
      <p:sp>
        <p:nvSpPr>
          <p:cNvPr id="10" name="Shape 8"/>
          <p:cNvSpPr/>
          <p:nvPr/>
        </p:nvSpPr>
        <p:spPr>
          <a:xfrm>
            <a:off x="3474720" y="3383280"/>
            <a:ext cx="2286000" cy="530352"/>
          </a:xfrm>
          <a:prstGeom prst="rect">
            <a:avLst/>
          </a:prstGeom>
          <a:solidFill>
            <a:srgbClr val="0A0F1E"/>
          </a:solidFill>
          <a:ln w="12700">
            <a:solidFill>
              <a:srgbClr val="00B4D8"/>
            </a:solidFill>
            <a:prstDash val="solid"/>
          </a:ln>
        </p:spPr>
      </p:sp>
      <p:sp>
        <p:nvSpPr>
          <p:cNvPr id="11" name="Text 9"/>
          <p:cNvSpPr/>
          <p:nvPr/>
        </p:nvSpPr>
        <p:spPr>
          <a:xfrm>
            <a:off x="3474720" y="3383280"/>
            <a:ext cx="2286000" cy="530352"/>
          </a:xfrm>
          <a:prstGeom prst="rect">
            <a:avLst/>
          </a:prstGeom>
          <a:noFill/>
          <a:ln/>
        </p:spPr>
        <p:txBody>
          <a:bodyPr wrap="square" rtlCol="0" anchor="ctr"/>
          <a:lstStyle/>
          <a:p>
            <a:pPr algn="ctr" indent="0" marL="0">
              <a:buNone/>
            </a:pPr>
            <a:r>
              <a:rPr lang="en-US" sz="1100" b="1" dirty="0">
                <a:solidFill>
                  <a:srgbClr val="00B4D8"/>
                </a:solidFill>
              </a:rPr>
              <a:t>Start Free Database Audit</a:t>
            </a:r>
            <a:endParaRPr lang="en-US" sz="1100" dirty="0"/>
          </a:p>
        </p:txBody>
      </p:sp>
      <p:sp>
        <p:nvSpPr>
          <p:cNvPr id="12" name="Shape 10"/>
          <p:cNvSpPr/>
          <p:nvPr/>
        </p:nvSpPr>
        <p:spPr>
          <a:xfrm>
            <a:off x="6172200" y="3383280"/>
            <a:ext cx="2286000" cy="530352"/>
          </a:xfrm>
          <a:prstGeom prst="rect">
            <a:avLst/>
          </a:prstGeom>
          <a:solidFill>
            <a:srgbClr val="0A0F1E"/>
          </a:solidFill>
          <a:ln w="12700">
            <a:solidFill>
              <a:srgbClr val="00B4D8"/>
            </a:solidFill>
            <a:prstDash val="solid"/>
          </a:ln>
        </p:spPr>
      </p:sp>
      <p:sp>
        <p:nvSpPr>
          <p:cNvPr id="13" name="Text 11"/>
          <p:cNvSpPr/>
          <p:nvPr/>
        </p:nvSpPr>
        <p:spPr>
          <a:xfrm>
            <a:off x="6172200" y="3383280"/>
            <a:ext cx="2286000" cy="530352"/>
          </a:xfrm>
          <a:prstGeom prst="rect">
            <a:avLst/>
          </a:prstGeom>
          <a:noFill/>
          <a:ln/>
        </p:spPr>
        <p:txBody>
          <a:bodyPr wrap="square" rtlCol="0" anchor="ctr"/>
          <a:lstStyle/>
          <a:p>
            <a:pPr algn="ctr" indent="0" marL="0">
              <a:buNone/>
            </a:pPr>
            <a:r>
              <a:rPr lang="en-US" sz="1100" b="1" dirty="0">
                <a:solidFill>
                  <a:srgbClr val="00B4D8"/>
                </a:solidFill>
              </a:rPr>
              <a:t>View Live Demo</a:t>
            </a:r>
            <a:endParaRPr lang="en-US" sz="1100" dirty="0"/>
          </a:p>
        </p:txBody>
      </p:sp>
      <p:sp>
        <p:nvSpPr>
          <p:cNvPr id="14" name="Text 12"/>
          <p:cNvSpPr/>
          <p:nvPr/>
        </p:nvSpPr>
        <p:spPr>
          <a:xfrm>
            <a:off x="457200" y="4480560"/>
            <a:ext cx="8229600" cy="274320"/>
          </a:xfrm>
          <a:prstGeom prst="rect">
            <a:avLst/>
          </a:prstGeom>
          <a:noFill/>
          <a:ln/>
        </p:spPr>
        <p:txBody>
          <a:bodyPr wrap="square" rtlCol="0" anchor="ctr"/>
          <a:lstStyle/>
          <a:p>
            <a:pPr algn="ctr" indent="0" marL="0">
              <a:buNone/>
            </a:pPr>
            <a:r>
              <a:rPr lang="en-US" sz="900" dirty="0">
                <a:solidFill>
                  <a:srgbClr val="64748B"/>
                </a:solidFill>
              </a:rPr>
              <a:t>Revenue Recovery Systems  |  [yourwebsite.com]  |  [yourphone]  |  [youremail]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Revenue Recovery &amp; Customer Lifecycle System</dc:title>
  <dc:subject>PptxGenJS Presentation</dc:subject>
  <dc:creator>Revenue Recovery Systems</dc:creator>
  <cp:lastModifiedBy>Revenue Recovery Systems</cp:lastModifiedBy>
  <cp:revision>1</cp:revision>
  <dcterms:created xsi:type="dcterms:W3CDTF">2026-05-23T09:10:37Z</dcterms:created>
  <dcterms:modified xsi:type="dcterms:W3CDTF">2026-05-23T09:10:37Z</dcterms:modified>
</cp:coreProperties>
</file>